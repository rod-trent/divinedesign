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Created to Create. Open by welcoming the group and reading the key scripture, Genesis 1:26–28 (ESV), aloud together. Set the theme for this session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quick map of the session. You don't need to read every item — just show the arc from opening idea to reflection, prayer,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slowly, perhaps twice. Ask: what stands out to you here? Let a few people respond before you begin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First Programmer. We write logic that machines obey millions of times a second — but the deeper question is not how we create, but why.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Creator Before Creation. Scripture opens not with an argument but an announcement: before matter, energy, or time, God was already creating.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Made in the Image of a Creator. Humanity is the climax of Genesis 1. Alone among creatures, we reflect a Maker — which is why we build.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Humanity's First Assignment. The first command was not worship or a rule, but to steward and cultivate creation — the cultural mandate behind all work.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Technology Hidden in Scripture. Technology is simply applying knowledge to solve problems. Noah, Joseph, the Tabernacle craftsmen, and Solomon were all innovators.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Innovation as Worship. 'Whatever you do, work heartily, as for the Lord.' The sacred/secular divide is false — good code can glorify God.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Danger of Forgetting the Source. Every gift hides a temptation. Success clouds memory until we credit ourselves for abilities we were given.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Technology and the Character of God. Our tools faintly echo God's nature — networks recall a God who speaks, backups a God who redeems and restores.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Why This Matters in an AI-Driven World. AI revives the anxiety of human uniqueness. But human worth never rested on productivity — no algorithm bears the image of God.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Living as Faithful Creators. We are called to engage, not retreat — creating and building freely, while never confusing the gift with the Giver.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or three of these to discuss rather than rushing all of them. Leave silence after each — the best answers often come after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teaching portion by praying this together, or invite someone to read it aloud. Feel free to add the group's own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everyone to commit to this challenge before the next session. You might ask people to share how it went when you gather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restating the one idea you most want people to remember, then point ahead to the next chapter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0" y="5257800"/>
            <a:ext cx="12161520" cy="1600200"/>
          </a:xfrm>
          <a:prstGeom prst="rect">
            <a:avLst/>
          </a:prstGeom>
          <a:solidFill>
            <a:srgbClr val="8F3B30"/>
          </a:solidFill>
          <a:ln/>
        </p:spPr>
      </p:sp>
      <p:sp>
        <p:nvSpPr>
          <p:cNvPr id="4" name="Shape 2"/>
          <p:cNvSpPr/>
          <p:nvPr/>
        </p:nvSpPr>
        <p:spPr>
          <a:xfrm>
            <a:off x="9326880" y="640080"/>
            <a:ext cx="1965960" cy="1965960"/>
          </a:xfrm>
          <a:prstGeom prst="ellipse">
            <a:avLst/>
          </a:prstGeom>
          <a:solidFill>
            <a:srgbClr val="8F3B30"/>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65792" y="1078992"/>
            <a:ext cx="1097280" cy="109728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A Talk &amp; Discussion Series</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Chapter 1</a:t>
            </a:r>
            <a:endParaRPr lang="en-US" sz="3000" dirty="0"/>
          </a:p>
        </p:txBody>
      </p:sp>
      <p:sp>
        <p:nvSpPr>
          <p:cNvPr id="9" name="Text 6"/>
          <p:cNvSpPr/>
          <p:nvPr/>
        </p:nvSpPr>
        <p:spPr>
          <a:xfrm>
            <a:off x="777240" y="2880360"/>
            <a:ext cx="10424160" cy="1828800"/>
          </a:xfrm>
          <a:prstGeom prst="rect">
            <a:avLst/>
          </a:prstGeom>
          <a:noFill/>
          <a:ln/>
        </p:spPr>
        <p:txBody>
          <a:bodyPr wrap="square" rtlCol="0" anchor="t"/>
          <a:lstStyle/>
          <a:p>
            <a:pPr indent="0" marL="0">
              <a:lnSpc>
                <a:spcPct val="95000"/>
              </a:lnSpc>
              <a:buNone/>
            </a:pPr>
            <a:r>
              <a:rPr lang="en-US" sz="5200" b="1" dirty="0">
                <a:solidFill>
                  <a:srgbClr val="FBF7F0"/>
                </a:solidFill>
                <a:latin typeface="Bookman Old Style" pitchFamily="34" charset="0"/>
                <a:ea typeface="Bookman Old Style" pitchFamily="34" charset="-122"/>
                <a:cs typeface="Bookman Old Style" pitchFamily="34" charset="-120"/>
              </a:rPr>
              <a:t>Created to Create</a:t>
            </a:r>
            <a:endParaRPr lang="en-US" sz="5200" dirty="0"/>
          </a:p>
        </p:txBody>
      </p:sp>
      <p:pic>
        <p:nvPicPr>
          <p:cNvPr id="10" name="Image 1" descr="preencoded.png">    </p:cNvPr>
          <p:cNvPicPr>
            <a:picLocks noChangeAspect="1"/>
          </p:cNvPicPr>
          <p:nvPr/>
        </p:nvPicPr>
        <p:blipFill>
          <a:blip r:embed="rId2"/>
          <a:stretch>
            <a:fillRect/>
          </a:stretch>
        </p:blipFill>
        <p:spPr>
          <a:xfrm>
            <a:off x="868680" y="5623560"/>
            <a:ext cx="457200" cy="457200"/>
          </a:xfrm>
          <a:prstGeom prst="rect">
            <a:avLst/>
          </a:prstGeom>
        </p:spPr>
      </p:pic>
      <p:sp>
        <p:nvSpPr>
          <p:cNvPr id="11" name="Text 7"/>
          <p:cNvSpPr/>
          <p:nvPr/>
        </p:nvSpPr>
        <p:spPr>
          <a:xfrm>
            <a:off x="1463040" y="5623560"/>
            <a:ext cx="10058400" cy="457200"/>
          </a:xfrm>
          <a:prstGeom prst="rect">
            <a:avLst/>
          </a:prstGeom>
          <a:noFill/>
          <a:ln/>
        </p:spPr>
        <p:txBody>
          <a:bodyPr wrap="square" rtlCol="0" anchor="ctr"/>
          <a:lstStyle/>
          <a:p>
            <a:pPr indent="0" marL="0">
              <a:buNone/>
            </a:pPr>
            <a:r>
              <a:rPr lang="en-US" sz="1600" b="1" dirty="0">
                <a:solidFill>
                  <a:srgbClr val="E7E8D1"/>
                </a:solidFill>
                <a:latin typeface="Calibri" pitchFamily="34" charset="0"/>
                <a:ea typeface="Calibri" pitchFamily="34" charset="-122"/>
                <a:cs typeface="Calibri" pitchFamily="34" charset="-120"/>
              </a:rPr>
              <a:t>Key Scripture   </a:t>
            </a:r>
            <a:pPr indent="0" marL="0">
              <a:buNone/>
            </a:pPr>
            <a:r>
              <a:rPr lang="en-US" sz="1600" i="1" dirty="0">
                <a:solidFill>
                  <a:srgbClr val="FBF7F0"/>
                </a:solidFill>
                <a:latin typeface="Calibri" pitchFamily="34" charset="0"/>
                <a:ea typeface="Calibri" pitchFamily="34" charset="-122"/>
                <a:cs typeface="Calibri" pitchFamily="34" charset="-120"/>
              </a:rPr>
              <a:t>Genesis 1:26–28 (ESV)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In This Session</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What we'll walk through together</a:t>
            </a:r>
            <a:endParaRPr lang="en-US" sz="1500" dirty="0"/>
          </a:p>
        </p:txBody>
      </p:sp>
      <p:sp>
        <p:nvSpPr>
          <p:cNvPr id="6" name="Shape 3"/>
          <p:cNvSpPr/>
          <p:nvPr/>
        </p:nvSpPr>
        <p:spPr>
          <a:xfrm>
            <a:off x="868680" y="1783080"/>
            <a:ext cx="457200" cy="457200"/>
          </a:xfrm>
          <a:prstGeom prst="ellipse">
            <a:avLst/>
          </a:prstGeom>
          <a:solidFill>
            <a:srgbClr val="6B7A5E"/>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270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First Programmer</a:t>
            </a:r>
            <a:endParaRPr lang="en-US" sz="1500" dirty="0"/>
          </a:p>
        </p:txBody>
      </p:sp>
      <p:sp>
        <p:nvSpPr>
          <p:cNvPr id="9" name="Shape 6"/>
          <p:cNvSpPr/>
          <p:nvPr/>
        </p:nvSpPr>
        <p:spPr>
          <a:xfrm>
            <a:off x="868680" y="2441448"/>
            <a:ext cx="457200" cy="457200"/>
          </a:xfrm>
          <a:prstGeom prst="ellipse">
            <a:avLst/>
          </a:prstGeom>
          <a:solidFill>
            <a:srgbClr val="6B7A5E"/>
          </a:solidFill>
          <a:ln/>
        </p:spPr>
      </p:sp>
      <p:sp>
        <p:nvSpPr>
          <p:cNvPr id="10" name="Text 7"/>
          <p:cNvSpPr/>
          <p:nvPr/>
        </p:nvSpPr>
        <p:spPr>
          <a:xfrm>
            <a:off x="8686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270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Creator Before Creation</a:t>
            </a:r>
            <a:endParaRPr lang="en-US" sz="1500" dirty="0"/>
          </a:p>
        </p:txBody>
      </p:sp>
      <p:sp>
        <p:nvSpPr>
          <p:cNvPr id="12" name="Shape 9"/>
          <p:cNvSpPr/>
          <p:nvPr/>
        </p:nvSpPr>
        <p:spPr>
          <a:xfrm>
            <a:off x="868680" y="3099816"/>
            <a:ext cx="457200" cy="457200"/>
          </a:xfrm>
          <a:prstGeom prst="ellipse">
            <a:avLst/>
          </a:prstGeom>
          <a:solidFill>
            <a:srgbClr val="6B7A5E"/>
          </a:solidFill>
          <a:ln/>
        </p:spPr>
      </p:sp>
      <p:sp>
        <p:nvSpPr>
          <p:cNvPr id="13" name="Text 10"/>
          <p:cNvSpPr/>
          <p:nvPr/>
        </p:nvSpPr>
        <p:spPr>
          <a:xfrm>
            <a:off x="8686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5270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Made in the Image of a Creator</a:t>
            </a:r>
            <a:endParaRPr lang="en-US" sz="1500" dirty="0"/>
          </a:p>
        </p:txBody>
      </p:sp>
      <p:sp>
        <p:nvSpPr>
          <p:cNvPr id="15" name="Shape 12"/>
          <p:cNvSpPr/>
          <p:nvPr/>
        </p:nvSpPr>
        <p:spPr>
          <a:xfrm>
            <a:off x="868680" y="3758184"/>
            <a:ext cx="457200" cy="457200"/>
          </a:xfrm>
          <a:prstGeom prst="ellipse">
            <a:avLst/>
          </a:prstGeom>
          <a:solidFill>
            <a:srgbClr val="6B7A5E"/>
          </a:solidFill>
          <a:ln/>
        </p:spPr>
      </p:sp>
      <p:sp>
        <p:nvSpPr>
          <p:cNvPr id="16" name="Text 13"/>
          <p:cNvSpPr/>
          <p:nvPr/>
        </p:nvSpPr>
        <p:spPr>
          <a:xfrm>
            <a:off x="8686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5270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Humanity's First Assignment</a:t>
            </a:r>
            <a:endParaRPr lang="en-US" sz="1500" dirty="0"/>
          </a:p>
        </p:txBody>
      </p:sp>
      <p:sp>
        <p:nvSpPr>
          <p:cNvPr id="18" name="Shape 15"/>
          <p:cNvSpPr/>
          <p:nvPr/>
        </p:nvSpPr>
        <p:spPr>
          <a:xfrm>
            <a:off x="868680" y="4416552"/>
            <a:ext cx="457200" cy="457200"/>
          </a:xfrm>
          <a:prstGeom prst="ellipse">
            <a:avLst/>
          </a:prstGeom>
          <a:solidFill>
            <a:srgbClr val="6B7A5E"/>
          </a:solidFill>
          <a:ln/>
        </p:spPr>
      </p:sp>
      <p:sp>
        <p:nvSpPr>
          <p:cNvPr id="19" name="Text 16"/>
          <p:cNvSpPr/>
          <p:nvPr/>
        </p:nvSpPr>
        <p:spPr>
          <a:xfrm>
            <a:off x="8686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5</a:t>
            </a:r>
            <a:endParaRPr lang="en-US" sz="1500" dirty="0"/>
          </a:p>
        </p:txBody>
      </p:sp>
      <p:sp>
        <p:nvSpPr>
          <p:cNvPr id="20" name="Text 17"/>
          <p:cNvSpPr/>
          <p:nvPr/>
        </p:nvSpPr>
        <p:spPr>
          <a:xfrm>
            <a:off x="15270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Technology Hidden in Scripture</a:t>
            </a:r>
            <a:endParaRPr lang="en-US" sz="1500" dirty="0"/>
          </a:p>
        </p:txBody>
      </p:sp>
      <p:sp>
        <p:nvSpPr>
          <p:cNvPr id="21" name="Shape 18"/>
          <p:cNvSpPr/>
          <p:nvPr/>
        </p:nvSpPr>
        <p:spPr>
          <a:xfrm>
            <a:off x="6355080" y="1783080"/>
            <a:ext cx="457200" cy="457200"/>
          </a:xfrm>
          <a:prstGeom prst="ellipse">
            <a:avLst/>
          </a:prstGeom>
          <a:solidFill>
            <a:srgbClr val="6B7A5E"/>
          </a:solidFill>
          <a:ln/>
        </p:spPr>
      </p:sp>
      <p:sp>
        <p:nvSpPr>
          <p:cNvPr id="22" name="Text 19"/>
          <p:cNvSpPr/>
          <p:nvPr/>
        </p:nvSpPr>
        <p:spPr>
          <a:xfrm>
            <a:off x="63550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6</a:t>
            </a:r>
            <a:endParaRPr lang="en-US" sz="1500" dirty="0"/>
          </a:p>
        </p:txBody>
      </p:sp>
      <p:sp>
        <p:nvSpPr>
          <p:cNvPr id="23" name="Text 20"/>
          <p:cNvSpPr/>
          <p:nvPr/>
        </p:nvSpPr>
        <p:spPr>
          <a:xfrm>
            <a:off x="70134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Innovation as Worship</a:t>
            </a:r>
            <a:endParaRPr lang="en-US" sz="1500" dirty="0"/>
          </a:p>
        </p:txBody>
      </p:sp>
      <p:sp>
        <p:nvSpPr>
          <p:cNvPr id="24" name="Shape 21"/>
          <p:cNvSpPr/>
          <p:nvPr/>
        </p:nvSpPr>
        <p:spPr>
          <a:xfrm>
            <a:off x="6355080" y="2441448"/>
            <a:ext cx="457200" cy="457200"/>
          </a:xfrm>
          <a:prstGeom prst="ellipse">
            <a:avLst/>
          </a:prstGeom>
          <a:solidFill>
            <a:srgbClr val="6B7A5E"/>
          </a:solidFill>
          <a:ln/>
        </p:spPr>
      </p:sp>
      <p:sp>
        <p:nvSpPr>
          <p:cNvPr id="25" name="Text 22"/>
          <p:cNvSpPr/>
          <p:nvPr/>
        </p:nvSpPr>
        <p:spPr>
          <a:xfrm>
            <a:off x="63550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7</a:t>
            </a:r>
            <a:endParaRPr lang="en-US" sz="1500" dirty="0"/>
          </a:p>
        </p:txBody>
      </p:sp>
      <p:sp>
        <p:nvSpPr>
          <p:cNvPr id="26" name="Text 23"/>
          <p:cNvSpPr/>
          <p:nvPr/>
        </p:nvSpPr>
        <p:spPr>
          <a:xfrm>
            <a:off x="70134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Danger of Forgetting the Source</a:t>
            </a:r>
            <a:endParaRPr lang="en-US" sz="1500" dirty="0"/>
          </a:p>
        </p:txBody>
      </p:sp>
      <p:sp>
        <p:nvSpPr>
          <p:cNvPr id="27" name="Shape 24"/>
          <p:cNvSpPr/>
          <p:nvPr/>
        </p:nvSpPr>
        <p:spPr>
          <a:xfrm>
            <a:off x="6355080" y="3099816"/>
            <a:ext cx="457200" cy="457200"/>
          </a:xfrm>
          <a:prstGeom prst="ellipse">
            <a:avLst/>
          </a:prstGeom>
          <a:solidFill>
            <a:srgbClr val="6B7A5E"/>
          </a:solidFill>
          <a:ln/>
        </p:spPr>
      </p:sp>
      <p:sp>
        <p:nvSpPr>
          <p:cNvPr id="28" name="Text 25"/>
          <p:cNvSpPr/>
          <p:nvPr/>
        </p:nvSpPr>
        <p:spPr>
          <a:xfrm>
            <a:off x="63550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8</a:t>
            </a:r>
            <a:endParaRPr lang="en-US" sz="1500" dirty="0"/>
          </a:p>
        </p:txBody>
      </p:sp>
      <p:sp>
        <p:nvSpPr>
          <p:cNvPr id="29" name="Text 26"/>
          <p:cNvSpPr/>
          <p:nvPr/>
        </p:nvSpPr>
        <p:spPr>
          <a:xfrm>
            <a:off x="70134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Technology and the Character of God</a:t>
            </a:r>
            <a:endParaRPr lang="en-US" sz="1500" dirty="0"/>
          </a:p>
        </p:txBody>
      </p:sp>
      <p:sp>
        <p:nvSpPr>
          <p:cNvPr id="30" name="Shape 27"/>
          <p:cNvSpPr/>
          <p:nvPr/>
        </p:nvSpPr>
        <p:spPr>
          <a:xfrm>
            <a:off x="6355080" y="3758184"/>
            <a:ext cx="457200" cy="457200"/>
          </a:xfrm>
          <a:prstGeom prst="ellipse">
            <a:avLst/>
          </a:prstGeom>
          <a:solidFill>
            <a:srgbClr val="6B7A5E"/>
          </a:solidFill>
          <a:ln/>
        </p:spPr>
      </p:sp>
      <p:sp>
        <p:nvSpPr>
          <p:cNvPr id="31" name="Text 28"/>
          <p:cNvSpPr/>
          <p:nvPr/>
        </p:nvSpPr>
        <p:spPr>
          <a:xfrm>
            <a:off x="63550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9</a:t>
            </a:r>
            <a:endParaRPr lang="en-US" sz="1500" dirty="0"/>
          </a:p>
        </p:txBody>
      </p:sp>
      <p:sp>
        <p:nvSpPr>
          <p:cNvPr id="32" name="Text 29"/>
          <p:cNvSpPr/>
          <p:nvPr/>
        </p:nvSpPr>
        <p:spPr>
          <a:xfrm>
            <a:off x="70134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Why This Matters in an AI-Driven World</a:t>
            </a:r>
            <a:endParaRPr lang="en-US" sz="1500" dirty="0"/>
          </a:p>
        </p:txBody>
      </p:sp>
      <p:sp>
        <p:nvSpPr>
          <p:cNvPr id="33" name="Shape 30"/>
          <p:cNvSpPr/>
          <p:nvPr/>
        </p:nvSpPr>
        <p:spPr>
          <a:xfrm>
            <a:off x="6355080" y="4416552"/>
            <a:ext cx="457200" cy="457200"/>
          </a:xfrm>
          <a:prstGeom prst="ellipse">
            <a:avLst/>
          </a:prstGeom>
          <a:solidFill>
            <a:srgbClr val="6B7A5E"/>
          </a:solidFill>
          <a:ln/>
        </p:spPr>
      </p:sp>
      <p:sp>
        <p:nvSpPr>
          <p:cNvPr id="34" name="Text 31"/>
          <p:cNvSpPr/>
          <p:nvPr/>
        </p:nvSpPr>
        <p:spPr>
          <a:xfrm>
            <a:off x="63550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10</a:t>
            </a:r>
            <a:endParaRPr lang="en-US" sz="1500" dirty="0"/>
          </a:p>
        </p:txBody>
      </p:sp>
      <p:sp>
        <p:nvSpPr>
          <p:cNvPr id="35" name="Text 32"/>
          <p:cNvSpPr/>
          <p:nvPr/>
        </p:nvSpPr>
        <p:spPr>
          <a:xfrm>
            <a:off x="70134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Living as Faithful Creators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822960" y="731520"/>
            <a:ext cx="914400" cy="914400"/>
          </a:xfrm>
          <a:prstGeom prst="rect">
            <a:avLst/>
          </a:prstGeom>
        </p:spPr>
      </p:pic>
      <p:sp>
        <p:nvSpPr>
          <p:cNvPr id="4" name="Text 1"/>
          <p:cNvSpPr/>
          <p:nvPr/>
        </p:nvSpPr>
        <p:spPr>
          <a:xfrm>
            <a:off x="1874520" y="868680"/>
            <a:ext cx="7315200" cy="365760"/>
          </a:xfrm>
          <a:prstGeom prst="rect">
            <a:avLst/>
          </a:prstGeom>
          <a:noFill/>
          <a:ln/>
        </p:spPr>
        <p:txBody>
          <a:bodyPr wrap="square" rtlCol="0" anchor="ctr"/>
          <a:lstStyle/>
          <a:p>
            <a:pPr indent="0" marL="0">
              <a:buNone/>
            </a:pPr>
            <a:r>
              <a:rPr lang="en-US" sz="1500" b="1" spc="300" kern="0" dirty="0">
                <a:solidFill>
                  <a:srgbClr val="E7E8D1"/>
                </a:solidFill>
                <a:latin typeface="Calibri" pitchFamily="34" charset="0"/>
                <a:ea typeface="Calibri" pitchFamily="34" charset="-122"/>
                <a:cs typeface="Calibri" pitchFamily="34" charset="-120"/>
              </a:rPr>
              <a:t>KEY SCRIPTURE</a:t>
            </a:r>
            <a:endParaRPr lang="en-US" sz="1500" dirty="0"/>
          </a:p>
        </p:txBody>
      </p:sp>
      <p:sp>
        <p:nvSpPr>
          <p:cNvPr id="5" name="Text 2"/>
          <p:cNvSpPr/>
          <p:nvPr/>
        </p:nvSpPr>
        <p:spPr>
          <a:xfrm>
            <a:off x="1874520" y="1234440"/>
            <a:ext cx="9144000" cy="457200"/>
          </a:xfrm>
          <a:prstGeom prst="rect">
            <a:avLst/>
          </a:prstGeom>
          <a:noFill/>
          <a:ln/>
        </p:spPr>
        <p:txBody>
          <a:bodyPr wrap="square" rtlCol="0" anchor="ctr"/>
          <a:lstStyle/>
          <a:p>
            <a:pPr indent="0" marL="0">
              <a:buNone/>
            </a:pPr>
            <a:r>
              <a:rPr lang="en-US" sz="2200" b="1" dirty="0">
                <a:solidFill>
                  <a:srgbClr val="C9A15A"/>
                </a:solidFill>
                <a:latin typeface="Bookman Old Style" pitchFamily="34" charset="0"/>
                <a:ea typeface="Bookman Old Style" pitchFamily="34" charset="-122"/>
                <a:cs typeface="Bookman Old Style" pitchFamily="34" charset="-120"/>
              </a:rPr>
              <a:t>Genesis 1:26–28 (ESV)</a:t>
            </a:r>
            <a:endParaRPr lang="en-US" sz="2200" dirty="0"/>
          </a:p>
        </p:txBody>
      </p:sp>
      <p:sp>
        <p:nvSpPr>
          <p:cNvPr id="6" name="Text 3"/>
          <p:cNvSpPr/>
          <p:nvPr/>
        </p:nvSpPr>
        <p:spPr>
          <a:xfrm>
            <a:off x="1280160" y="2194560"/>
            <a:ext cx="9601200" cy="4023360"/>
          </a:xfrm>
          <a:prstGeom prst="rect">
            <a:avLst/>
          </a:prstGeom>
          <a:noFill/>
          <a:ln/>
        </p:spPr>
        <p:txBody>
          <a:bodyPr wrap="square" rtlCol="0" anchor="t"/>
          <a:lstStyle/>
          <a:p>
            <a:pPr indent="0" marL="0">
              <a:lnSpc>
                <a:spcPct val="112000"/>
              </a:lnSpc>
              <a:buNone/>
            </a:pPr>
            <a:r>
              <a:rPr lang="en-US" sz="1800" i="1" dirty="0">
                <a:solidFill>
                  <a:srgbClr val="FBF7F0"/>
                </a:solidFill>
                <a:latin typeface="Bookman Old Style" pitchFamily="34" charset="0"/>
                <a:ea typeface="Bookman Old Style" pitchFamily="34" charset="-122"/>
                <a:cs typeface="Bookman Old Style" pitchFamily="34" charset="-120"/>
              </a:rPr>
              <a:t>"Then God said, 'Let us make man in our image, after our likeness. And let them have dominion over the fish of the sea and over the birds of the heavens and over the livestock and over all the earth and over every creeping thing that creeps on the earth.' So God created man in his own image, in the image of God he created him; male and female he created them. And God blessed them. And God said to them, 'Be fruitful and multiply and fill the earth and subdue it, and have dominion...'"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01 / 10</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First Programmer</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We write logic that machines obey millions of times a second — but the deeper question is not how we create, but why.</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02 / 10</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Creator Before Creation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Scripture opens not with an argument but an announcement: before matter, energy, or time, God was already creating.</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03 / 10</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Made in the Image of a Creator</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Humanity is the climax of Genesis 1. Alone among creatures, we reflect a Maker — which is why we build.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04 / 10</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Humanity's First Assignment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The first command was not worship or a rule, but to steward and cultivate creation — the cultural mandate behind all work.</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05 / 10</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Technology Hidden in Scripture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Technology is simply applying knowledge to solve problems. Noah, Joseph, the Tabernacle craftsmen, and Solomon were all innovators.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06 / 10</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Innovation as Worship</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'Whatever you do, work heartily, as for the Lord.' The sacred/secular divide is false — good code can glorify God.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07 / 10</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Danger of Forgetting the Source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Every gift hides a temptation. Success clouds memory until we credit ourselves for abilities we were given.</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08 / 10</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Technology and the Character of God</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Our tools faintly echo God's nature — networks recall a God who speaks, backups a God who redeems and restores.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09 / 10</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Why This Matters in an AI-Driven World</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AI revives the anxiety of human uniqueness. But human worth never rested on productivity — no algorithm bears the image of God.</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10 / 10</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Living as Faithful Creators</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We are called to engage, not retreat — creating and building freely, while never confusing the gift with the Giver.</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Reflection Questions</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For personal thought or group discussion</a:t>
            </a:r>
            <a:endParaRPr lang="en-US" sz="1500" dirty="0"/>
          </a:p>
        </p:txBody>
      </p:sp>
      <p:sp>
        <p:nvSpPr>
          <p:cNvPr id="6" name="Shape 3"/>
          <p:cNvSpPr/>
          <p:nvPr/>
        </p:nvSpPr>
        <p:spPr>
          <a:xfrm>
            <a:off x="868680" y="1737360"/>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0515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1</a:t>
            </a:r>
            <a:endParaRPr lang="en-US" sz="2000" dirty="0"/>
          </a:p>
        </p:txBody>
      </p:sp>
      <p:sp>
        <p:nvSpPr>
          <p:cNvPr id="8" name="Text 5"/>
          <p:cNvSpPr/>
          <p:nvPr/>
        </p:nvSpPr>
        <p:spPr>
          <a:xfrm>
            <a:off x="1581912" y="1828800"/>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does being created in God's image shape the way you understand your own creativity and innovation?</a:t>
            </a:r>
            <a:endParaRPr lang="en-US" sz="1300" dirty="0"/>
          </a:p>
        </p:txBody>
      </p:sp>
      <p:sp>
        <p:nvSpPr>
          <p:cNvPr id="9" name="Shape 6"/>
          <p:cNvSpPr/>
          <p:nvPr/>
        </p:nvSpPr>
        <p:spPr>
          <a:xfrm>
            <a:off x="868680" y="3081528"/>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1051560" y="32461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2</a:t>
            </a:r>
            <a:endParaRPr lang="en-US" sz="2000" dirty="0"/>
          </a:p>
        </p:txBody>
      </p:sp>
      <p:sp>
        <p:nvSpPr>
          <p:cNvPr id="11" name="Text 8"/>
          <p:cNvSpPr/>
          <p:nvPr/>
        </p:nvSpPr>
        <p:spPr>
          <a:xfrm>
            <a:off x="1581912" y="3172968"/>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In what specific ways does your profession allow you to participate in God's stewardship of creation?</a:t>
            </a:r>
            <a:endParaRPr lang="en-US" sz="1300" dirty="0"/>
          </a:p>
        </p:txBody>
      </p:sp>
      <p:sp>
        <p:nvSpPr>
          <p:cNvPr id="12" name="Shape 9"/>
          <p:cNvSpPr/>
          <p:nvPr/>
        </p:nvSpPr>
        <p:spPr>
          <a:xfrm>
            <a:off x="868680" y="4425696"/>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Text 10"/>
          <p:cNvSpPr/>
          <p:nvPr/>
        </p:nvSpPr>
        <p:spPr>
          <a:xfrm>
            <a:off x="1051560" y="45902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3</a:t>
            </a:r>
            <a:endParaRPr lang="en-US" sz="2000" dirty="0"/>
          </a:p>
        </p:txBody>
      </p:sp>
      <p:sp>
        <p:nvSpPr>
          <p:cNvPr id="14" name="Text 11"/>
          <p:cNvSpPr/>
          <p:nvPr/>
        </p:nvSpPr>
        <p:spPr>
          <a:xfrm>
            <a:off x="1581912" y="4517136"/>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Have you ever quietly viewed your work as something separate from worship? Why do you think that is?</a:t>
            </a:r>
            <a:endParaRPr lang="en-US" sz="1300" dirty="0"/>
          </a:p>
        </p:txBody>
      </p:sp>
      <p:sp>
        <p:nvSpPr>
          <p:cNvPr id="15" name="Shape 12"/>
          <p:cNvSpPr/>
          <p:nvPr/>
        </p:nvSpPr>
        <p:spPr>
          <a:xfrm>
            <a:off x="868680" y="5769864"/>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6" name="Text 13"/>
          <p:cNvSpPr/>
          <p:nvPr/>
        </p:nvSpPr>
        <p:spPr>
          <a:xfrm>
            <a:off x="1051560" y="593445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4</a:t>
            </a:r>
            <a:endParaRPr lang="en-US" sz="2000" dirty="0"/>
          </a:p>
        </p:txBody>
      </p:sp>
      <p:sp>
        <p:nvSpPr>
          <p:cNvPr id="17" name="Text 14"/>
          <p:cNvSpPr/>
          <p:nvPr/>
        </p:nvSpPr>
        <p:spPr>
          <a:xfrm>
            <a:off x="1581912" y="5861304"/>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Which technological achievements most stir up awe in you toward God's creative design?</a:t>
            </a:r>
            <a:endParaRPr lang="en-US" sz="1300" dirty="0"/>
          </a:p>
        </p:txBody>
      </p:sp>
      <p:sp>
        <p:nvSpPr>
          <p:cNvPr id="18" name="Shape 15"/>
          <p:cNvSpPr/>
          <p:nvPr/>
        </p:nvSpPr>
        <p:spPr>
          <a:xfrm>
            <a:off x="6355080" y="1737360"/>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Text 16"/>
          <p:cNvSpPr/>
          <p:nvPr/>
        </p:nvSpPr>
        <p:spPr>
          <a:xfrm>
            <a:off x="65379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5</a:t>
            </a:r>
            <a:endParaRPr lang="en-US" sz="2000" dirty="0"/>
          </a:p>
        </p:txBody>
      </p:sp>
      <p:sp>
        <p:nvSpPr>
          <p:cNvPr id="20" name="Text 17"/>
          <p:cNvSpPr/>
          <p:nvPr/>
        </p:nvSpPr>
        <p:spPr>
          <a:xfrm>
            <a:off x="7068312" y="1828800"/>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Where are you most tempted to take personal credit for gifts that ultimately come from God?</a:t>
            </a:r>
            <a:endParaRPr lang="en-US" sz="1300" dirty="0"/>
          </a:p>
        </p:txBody>
      </p:sp>
      <p:sp>
        <p:nvSpPr>
          <p:cNvPr id="21" name="Shape 18"/>
          <p:cNvSpPr/>
          <p:nvPr/>
        </p:nvSpPr>
        <p:spPr>
          <a:xfrm>
            <a:off x="6355080" y="2852928"/>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2" name="Text 19"/>
          <p:cNvSpPr/>
          <p:nvPr/>
        </p:nvSpPr>
        <p:spPr>
          <a:xfrm>
            <a:off x="6537960" y="30175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6</a:t>
            </a:r>
            <a:endParaRPr lang="en-US" sz="2000" dirty="0"/>
          </a:p>
        </p:txBody>
      </p:sp>
      <p:sp>
        <p:nvSpPr>
          <p:cNvPr id="23" name="Text 20"/>
          <p:cNvSpPr/>
          <p:nvPr/>
        </p:nvSpPr>
        <p:spPr>
          <a:xfrm>
            <a:off x="7068312" y="2944368"/>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might your technical skills serve God's Kingdom more intentionally than they do today?</a:t>
            </a:r>
            <a:endParaRPr lang="en-US" sz="1300" dirty="0"/>
          </a:p>
        </p:txBody>
      </p:sp>
      <p:sp>
        <p:nvSpPr>
          <p:cNvPr id="24" name="Shape 21"/>
          <p:cNvSpPr/>
          <p:nvPr/>
        </p:nvSpPr>
        <p:spPr>
          <a:xfrm>
            <a:off x="6355080" y="3968496"/>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Text 22"/>
          <p:cNvSpPr/>
          <p:nvPr/>
        </p:nvSpPr>
        <p:spPr>
          <a:xfrm>
            <a:off x="6537960" y="41330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7</a:t>
            </a:r>
            <a:endParaRPr lang="en-US" sz="2000" dirty="0"/>
          </a:p>
        </p:txBody>
      </p:sp>
      <p:sp>
        <p:nvSpPr>
          <p:cNvPr id="26" name="Text 23"/>
          <p:cNvSpPr/>
          <p:nvPr/>
        </p:nvSpPr>
        <p:spPr>
          <a:xfrm>
            <a:off x="7068312" y="4059936"/>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Are there areas where innovation has quietly become a source of pride rather than gratitude?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8F3B30"/>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600" b="1" spc="200" kern="0" dirty="0">
                <a:solidFill>
                  <a:srgbClr val="C9A15A"/>
                </a:solidFill>
                <a:latin typeface="Bookman Old Style" pitchFamily="34" charset="0"/>
                <a:ea typeface="Bookman Old Style" pitchFamily="34" charset="-122"/>
                <a:cs typeface="Bookman Old Style" pitchFamily="34" charset="-120"/>
              </a:rPr>
              <a:t>PRAYER</a:t>
            </a:r>
            <a:endParaRPr lang="en-US" sz="2600" dirty="0"/>
          </a:p>
        </p:txBody>
      </p:sp>
      <p:sp>
        <p:nvSpPr>
          <p:cNvPr id="6" name="Shape 3"/>
          <p:cNvSpPr/>
          <p:nvPr/>
        </p:nvSpPr>
        <p:spPr>
          <a:xfrm>
            <a:off x="1554480" y="2697480"/>
            <a:ext cx="9052560" cy="3566160"/>
          </a:xfrm>
          <a:prstGeom prst="roundRect">
            <a:avLst>
              <a:gd name="adj" fmla="val 3590"/>
            </a:avLst>
          </a:prstGeom>
          <a:solidFill>
            <a:srgbClr val="8F3B30"/>
          </a:solidFill>
          <a:ln/>
        </p:spPr>
      </p:sp>
      <p:sp>
        <p:nvSpPr>
          <p:cNvPr id="7" name="Text 4"/>
          <p:cNvSpPr/>
          <p:nvPr/>
        </p:nvSpPr>
        <p:spPr>
          <a:xfrm>
            <a:off x="2057400" y="2926080"/>
            <a:ext cx="8046720" cy="3108960"/>
          </a:xfrm>
          <a:prstGeom prst="rect">
            <a:avLst/>
          </a:prstGeom>
          <a:noFill/>
          <a:ln/>
        </p:spPr>
        <p:txBody>
          <a:bodyPr wrap="square" rtlCol="0" anchor="ctr"/>
          <a:lstStyle/>
          <a:p>
            <a:pPr algn="ctr" indent="0" marL="0">
              <a:lnSpc>
                <a:spcPct val="112000"/>
              </a:lnSpc>
              <a:buNone/>
            </a:pPr>
            <a:r>
              <a:rPr lang="en-US" sz="1900" i="1" dirty="0">
                <a:solidFill>
                  <a:srgbClr val="FBF7F0"/>
                </a:solidFill>
                <a:latin typeface="Bookman Old Style" pitchFamily="34" charset="0"/>
                <a:ea typeface="Bookman Old Style" pitchFamily="34" charset="-122"/>
                <a:cs typeface="Bookman Old Style" pitchFamily="34" charset="-120"/>
              </a:rPr>
              <a:t>"Father, thank You for creating me in Your image and for entrusting me with gifts, abilities, and opportunities to serve You. Help me to use my creativity as an act of worship rather than a means of self-promotion. Guard my heart against pride, and remind me again and again that every good gift comes from Your hand. Teach me to steward technology wisely, to use my skills for the genuine good of others and for the glory of Your name. May everything I build, create, and accomplish point the people around me toward You. I ask this through Jesus Christ, my Lord and my Savior. Amen."</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Action Challenge</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One step to carry into the week</a:t>
            </a:r>
            <a:endParaRPr lang="en-US" sz="1500" dirty="0"/>
          </a:p>
        </p:txBody>
      </p:sp>
      <p:sp>
        <p:nvSpPr>
          <p:cNvPr id="6" name="Shape 3"/>
          <p:cNvSpPr/>
          <p:nvPr/>
        </p:nvSpPr>
        <p:spPr>
          <a:xfrm>
            <a:off x="868680" y="1920240"/>
            <a:ext cx="10424160" cy="3566160"/>
          </a:xfrm>
          <a:prstGeom prst="roundRect">
            <a:avLst>
              <a:gd name="adj" fmla="val 359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371600" y="2514600"/>
            <a:ext cx="1371600" cy="1371600"/>
          </a:xfrm>
          <a:prstGeom prst="ellipse">
            <a:avLst/>
          </a:prstGeom>
          <a:solidFill>
            <a:srgbClr val="6B7A5E"/>
          </a:solidFill>
          <a:ln/>
          <a:effectLst>
            <a:outerShdw sx="100000" sy="100000" kx="0" ky="0" algn="bl" rotWithShape="0" blurRad="114300" dist="38100" dir="54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1737360" y="2880360"/>
            <a:ext cx="640080" cy="640080"/>
          </a:xfrm>
          <a:prstGeom prst="rect">
            <a:avLst/>
          </a:prstGeom>
        </p:spPr>
      </p:pic>
      <p:sp>
        <p:nvSpPr>
          <p:cNvPr id="9" name="Text 5"/>
          <p:cNvSpPr/>
          <p:nvPr/>
        </p:nvSpPr>
        <p:spPr>
          <a:xfrm>
            <a:off x="3108960" y="2286000"/>
            <a:ext cx="7772400" cy="2834640"/>
          </a:xfrm>
          <a:prstGeom prst="rect">
            <a:avLst/>
          </a:prstGeom>
          <a:noFill/>
          <a:ln/>
        </p:spPr>
        <p:txBody>
          <a:bodyPr wrap="square" rtlCol="0" anchor="ctr"/>
          <a:lstStyle/>
          <a:p>
            <a:pPr indent="0" marL="0">
              <a:lnSpc>
                <a:spcPct val="112000"/>
              </a:lnSpc>
              <a:buNone/>
            </a:pPr>
            <a:r>
              <a:rPr lang="en-US" sz="2000" dirty="0">
                <a:solidFill>
                  <a:srgbClr val="3A342E"/>
                </a:solidFill>
                <a:latin typeface="Calibri" pitchFamily="34" charset="0"/>
                <a:ea typeface="Calibri" pitchFamily="34" charset="-122"/>
                <a:cs typeface="Calibri" pitchFamily="34" charset="-120"/>
              </a:rPr>
              <a:t>This week, take time to write down five technical skills, talents, or opportunities that God has entrusted to you. Beside each one, name a concrete, practical way you could use that gift to serve another person, strengthen your church, help your community, or advance God's Kingdom. Then keep the list somewhere you will see it, and pray over it daily, asking God to take your ordinary work and transform it, day by day, into worship.</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5440680" y="1737360"/>
            <a:ext cx="1280160" cy="1280160"/>
          </a:xfrm>
          <a:prstGeom prst="rect">
            <a:avLst/>
          </a:prstGeom>
        </p:spPr>
      </p:pic>
      <p:sp>
        <p:nvSpPr>
          <p:cNvPr id="4" name="Text 1"/>
          <p:cNvSpPr/>
          <p:nvPr/>
        </p:nvSpPr>
        <p:spPr>
          <a:xfrm>
            <a:off x="0" y="324612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Chapter 1</a:t>
            </a:r>
            <a:endParaRPr lang="en-US" sz="1600" dirty="0"/>
          </a:p>
        </p:txBody>
      </p:sp>
      <p:sp>
        <p:nvSpPr>
          <p:cNvPr id="5" name="Text 2"/>
          <p:cNvSpPr/>
          <p:nvPr/>
        </p:nvSpPr>
        <p:spPr>
          <a:xfrm>
            <a:off x="914400" y="3657600"/>
            <a:ext cx="10332720" cy="1005840"/>
          </a:xfrm>
          <a:prstGeom prst="rect">
            <a:avLst/>
          </a:prstGeom>
          <a:noFill/>
          <a:ln/>
        </p:spPr>
        <p:txBody>
          <a:bodyPr wrap="square" rtlCol="0" anchor="t"/>
          <a:lstStyle/>
          <a:p>
            <a:pPr algn="ctr" indent="0" marL="0">
              <a:lnSpc>
                <a:spcPct val="98000"/>
              </a:lnSpc>
              <a:buNone/>
            </a:pPr>
            <a:r>
              <a:rPr lang="en-US" sz="4000" b="1" dirty="0">
                <a:solidFill>
                  <a:srgbClr val="FBF7F0"/>
                </a:solidFill>
                <a:latin typeface="Bookman Old Style" pitchFamily="34" charset="0"/>
                <a:ea typeface="Bookman Old Style" pitchFamily="34" charset="-122"/>
                <a:cs typeface="Bookman Old Style" pitchFamily="34" charset="-120"/>
              </a:rPr>
              <a:t>Created to Create</a:t>
            </a:r>
            <a:endParaRPr lang="en-US" sz="4000" dirty="0"/>
          </a:p>
        </p:txBody>
      </p:sp>
      <p:sp>
        <p:nvSpPr>
          <p:cNvPr id="6" name="Text 3"/>
          <p:cNvSpPr/>
          <p:nvPr/>
        </p:nvSpPr>
        <p:spPr>
          <a:xfrm>
            <a:off x="1371600" y="4892040"/>
            <a:ext cx="9418320" cy="822960"/>
          </a:xfrm>
          <a:prstGeom prst="rect">
            <a:avLst/>
          </a:prstGeom>
          <a:noFill/>
          <a:ln/>
        </p:spPr>
        <p:txBody>
          <a:bodyPr wrap="square" rtlCol="0" anchor="ctr"/>
          <a:lstStyle/>
          <a:p>
            <a:pPr algn="ctr" indent="0" marL="0">
              <a:buNone/>
            </a:pPr>
            <a:r>
              <a:rPr lang="en-US" sz="18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for the Digital Age — Chapter 1</dc:title>
  <dc:subject>PptxGenJS Presentation</dc:subject>
  <dc:creator>Rod Trent</dc:creator>
  <cp:lastModifiedBy>Rod Trent</cp:lastModifiedBy>
  <cp:revision>1</cp:revision>
  <dcterms:created xsi:type="dcterms:W3CDTF">2026-07-03T18:17:18Z</dcterms:created>
  <dcterms:modified xsi:type="dcterms:W3CDTF">2026-07-03T18:17:18Z</dcterms:modified>
</cp:coreProperties>
</file>