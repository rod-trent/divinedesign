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12: Stewarding Powerful Tools. Open by welcoming the group and reading the key scripture, Genesis 1:28 (ESV), aloud together. Set the theme for this session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group a quick map of the session. You don't need to read every item — just show the arc from opening idea to reflection, prayer, and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slowly, perhaps twice. Ask: what stands out to you here? Let a few people respond before you begin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Weight of Responsibility. Every gift carries responsibility, and the greater the gift, the greater the weight. Powerful tools demand proportionate character.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Dominion Is Not Ownership. Genesis gives humanity real dominion over creation — but dominion is stewardship under God, never outright ownership.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Garden Mandate. Before sin entered, humanity received a mandate to cultivate and keep the garden. Technology belongs inside God's purposes, not outside them.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When Power Outpaces Character. History repeats one pattern: capability grows faster than character. Every advance arrives carrying both promise and peril.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Myth of Technological Salvation. Every generation locates its hope somewhere — government, science, technology. But no tool can save what only God can redeem.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Building for Human Flourishing. The engineer asks, 'Can this be built?' The steward presses further: 'Will this help people flourish?'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Artificial Intelligence and Human Dignity. As machines grow capable, an old question sharpens: what makes a person valuable? Not output — the image of God.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Stewarding Information. Information is now among the world's most valuable resources. Data shapes billions of choices — and must be handled as a trust.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Stewarding Influence. Technology hands ordinary people extraordinary reach. A single post can move millions — influence to be stewarded, not spent carelessly.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Stewardship of Innovation. Christians tend to fear innovation or embrace it uncritically. Faithful stewardship refuses both — engaging with discernment.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To Whom Much Is Given. 'To whom much was given, much will be required.' Few generations have been given more than ours.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Faithfulness in an Age of Power. Power whispers flattering lies — that because we can, we should. Faithfulness resists the confusion of possibility with permission.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Steward We Hope to Be. One day every steward gives an account. That sobering truth clarifies how we handle the powerful tools entrusted to us.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two or three of these to discuss rather than rushing all of them. Leave silence after each — the best answers often come after a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teaching portion by praying this together, or invite someone to read it aloud. Feel free to add the group's own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everyone to commit to this challenge before the next session. You might ask people to share how it went when you gather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by restating the one idea you most want people to remember, then point ahead to the next chapter in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0" y="5257800"/>
            <a:ext cx="12161520" cy="1600200"/>
          </a:xfrm>
          <a:prstGeom prst="rect">
            <a:avLst/>
          </a:prstGeom>
          <a:solidFill>
            <a:srgbClr val="8F3B30"/>
          </a:solidFill>
          <a:ln/>
        </p:spPr>
      </p:sp>
      <p:sp>
        <p:nvSpPr>
          <p:cNvPr id="4" name="Shape 2"/>
          <p:cNvSpPr/>
          <p:nvPr/>
        </p:nvSpPr>
        <p:spPr>
          <a:xfrm>
            <a:off x="9326880" y="640080"/>
            <a:ext cx="1965960" cy="1965960"/>
          </a:xfrm>
          <a:prstGeom prst="ellipse">
            <a:avLst/>
          </a:prstGeom>
          <a:solidFill>
            <a:srgbClr val="8F3B30"/>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65792" y="1078992"/>
            <a:ext cx="1097280" cy="109728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A Talk &amp; Discussion Series</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Chapter 12</a:t>
            </a:r>
            <a:endParaRPr lang="en-US" sz="3000" dirty="0"/>
          </a:p>
        </p:txBody>
      </p:sp>
      <p:sp>
        <p:nvSpPr>
          <p:cNvPr id="9" name="Text 6"/>
          <p:cNvSpPr/>
          <p:nvPr/>
        </p:nvSpPr>
        <p:spPr>
          <a:xfrm>
            <a:off x="777240" y="2880360"/>
            <a:ext cx="10424160" cy="1828800"/>
          </a:xfrm>
          <a:prstGeom prst="rect">
            <a:avLst/>
          </a:prstGeom>
          <a:noFill/>
          <a:ln/>
        </p:spPr>
        <p:txBody>
          <a:bodyPr wrap="square" rtlCol="0" anchor="t"/>
          <a:lstStyle/>
          <a:p>
            <a:pPr indent="0" marL="0">
              <a:lnSpc>
                <a:spcPct val="95000"/>
              </a:lnSpc>
              <a:buNone/>
            </a:pPr>
            <a:r>
              <a:rPr lang="en-US" sz="5200" b="1" dirty="0">
                <a:solidFill>
                  <a:srgbClr val="FBF7F0"/>
                </a:solidFill>
                <a:latin typeface="Bookman Old Style" pitchFamily="34" charset="0"/>
                <a:ea typeface="Bookman Old Style" pitchFamily="34" charset="-122"/>
                <a:cs typeface="Bookman Old Style" pitchFamily="34" charset="-120"/>
              </a:rPr>
              <a:t>Stewarding Powerful Tools</a:t>
            </a:r>
            <a:endParaRPr lang="en-US" sz="5200" dirty="0"/>
          </a:p>
        </p:txBody>
      </p:sp>
      <p:pic>
        <p:nvPicPr>
          <p:cNvPr id="10" name="Image 1" descr="preencoded.png">    </p:cNvPr>
          <p:cNvPicPr>
            <a:picLocks noChangeAspect="1"/>
          </p:cNvPicPr>
          <p:nvPr/>
        </p:nvPicPr>
        <p:blipFill>
          <a:blip r:embed="rId2"/>
          <a:stretch>
            <a:fillRect/>
          </a:stretch>
        </p:blipFill>
        <p:spPr>
          <a:xfrm>
            <a:off x="868680" y="5623560"/>
            <a:ext cx="457200" cy="457200"/>
          </a:xfrm>
          <a:prstGeom prst="rect">
            <a:avLst/>
          </a:prstGeom>
        </p:spPr>
      </p:pic>
      <p:sp>
        <p:nvSpPr>
          <p:cNvPr id="11" name="Text 7"/>
          <p:cNvSpPr/>
          <p:nvPr/>
        </p:nvSpPr>
        <p:spPr>
          <a:xfrm>
            <a:off x="1463040" y="5623560"/>
            <a:ext cx="10058400" cy="457200"/>
          </a:xfrm>
          <a:prstGeom prst="rect">
            <a:avLst/>
          </a:prstGeom>
          <a:noFill/>
          <a:ln/>
        </p:spPr>
        <p:txBody>
          <a:bodyPr wrap="square" rtlCol="0" anchor="ctr"/>
          <a:lstStyle/>
          <a:p>
            <a:pPr indent="0" marL="0">
              <a:buNone/>
            </a:pPr>
            <a:r>
              <a:rPr lang="en-US" sz="1600" b="1" dirty="0">
                <a:solidFill>
                  <a:srgbClr val="E7E8D1"/>
                </a:solidFill>
                <a:latin typeface="Calibri" pitchFamily="34" charset="0"/>
                <a:ea typeface="Calibri" pitchFamily="34" charset="-122"/>
                <a:cs typeface="Calibri" pitchFamily="34" charset="-120"/>
              </a:rPr>
              <a:t>Key Scripture   </a:t>
            </a:r>
            <a:pPr indent="0" marL="0">
              <a:buNone/>
            </a:pPr>
            <a:r>
              <a:rPr lang="en-US" sz="1600" i="1" dirty="0">
                <a:solidFill>
                  <a:srgbClr val="FBF7F0"/>
                </a:solidFill>
                <a:latin typeface="Calibri" pitchFamily="34" charset="0"/>
                <a:ea typeface="Calibri" pitchFamily="34" charset="-122"/>
                <a:cs typeface="Calibri" pitchFamily="34" charset="-120"/>
              </a:rPr>
              <a:t>Genesis 1:28 (ESV)</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In This Session</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What we'll walk through together</a:t>
            </a:r>
            <a:endParaRPr lang="en-US" sz="1500" dirty="0"/>
          </a:p>
        </p:txBody>
      </p:sp>
      <p:sp>
        <p:nvSpPr>
          <p:cNvPr id="6" name="Shape 3"/>
          <p:cNvSpPr/>
          <p:nvPr/>
        </p:nvSpPr>
        <p:spPr>
          <a:xfrm>
            <a:off x="868680" y="1783080"/>
            <a:ext cx="457200" cy="457200"/>
          </a:xfrm>
          <a:prstGeom prst="ellipse">
            <a:avLst/>
          </a:prstGeom>
          <a:solidFill>
            <a:srgbClr val="6B7A5E"/>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5270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Weight of Responsibility</a:t>
            </a:r>
            <a:endParaRPr lang="en-US" sz="1500" dirty="0"/>
          </a:p>
        </p:txBody>
      </p:sp>
      <p:sp>
        <p:nvSpPr>
          <p:cNvPr id="9" name="Shape 6"/>
          <p:cNvSpPr/>
          <p:nvPr/>
        </p:nvSpPr>
        <p:spPr>
          <a:xfrm>
            <a:off x="868680" y="2441448"/>
            <a:ext cx="457200" cy="457200"/>
          </a:xfrm>
          <a:prstGeom prst="ellipse">
            <a:avLst/>
          </a:prstGeom>
          <a:solidFill>
            <a:srgbClr val="6B7A5E"/>
          </a:solidFill>
          <a:ln/>
        </p:spPr>
      </p:sp>
      <p:sp>
        <p:nvSpPr>
          <p:cNvPr id="10" name="Text 7"/>
          <p:cNvSpPr/>
          <p:nvPr/>
        </p:nvSpPr>
        <p:spPr>
          <a:xfrm>
            <a:off x="8686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15270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Dominion Is Not Ownership</a:t>
            </a:r>
            <a:endParaRPr lang="en-US" sz="1500" dirty="0"/>
          </a:p>
        </p:txBody>
      </p:sp>
      <p:sp>
        <p:nvSpPr>
          <p:cNvPr id="12" name="Shape 9"/>
          <p:cNvSpPr/>
          <p:nvPr/>
        </p:nvSpPr>
        <p:spPr>
          <a:xfrm>
            <a:off x="868680" y="3099816"/>
            <a:ext cx="457200" cy="457200"/>
          </a:xfrm>
          <a:prstGeom prst="ellipse">
            <a:avLst/>
          </a:prstGeom>
          <a:solidFill>
            <a:srgbClr val="6B7A5E"/>
          </a:solidFill>
          <a:ln/>
        </p:spPr>
      </p:sp>
      <p:sp>
        <p:nvSpPr>
          <p:cNvPr id="13" name="Text 10"/>
          <p:cNvSpPr/>
          <p:nvPr/>
        </p:nvSpPr>
        <p:spPr>
          <a:xfrm>
            <a:off x="8686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3</a:t>
            </a:r>
            <a:endParaRPr lang="en-US" sz="1500" dirty="0"/>
          </a:p>
        </p:txBody>
      </p:sp>
      <p:sp>
        <p:nvSpPr>
          <p:cNvPr id="14" name="Text 11"/>
          <p:cNvSpPr/>
          <p:nvPr/>
        </p:nvSpPr>
        <p:spPr>
          <a:xfrm>
            <a:off x="15270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Garden Mandate</a:t>
            </a:r>
            <a:endParaRPr lang="en-US" sz="1500" dirty="0"/>
          </a:p>
        </p:txBody>
      </p:sp>
      <p:sp>
        <p:nvSpPr>
          <p:cNvPr id="15" name="Shape 12"/>
          <p:cNvSpPr/>
          <p:nvPr/>
        </p:nvSpPr>
        <p:spPr>
          <a:xfrm>
            <a:off x="868680" y="3758184"/>
            <a:ext cx="457200" cy="457200"/>
          </a:xfrm>
          <a:prstGeom prst="ellipse">
            <a:avLst/>
          </a:prstGeom>
          <a:solidFill>
            <a:srgbClr val="6B7A5E"/>
          </a:solidFill>
          <a:ln/>
        </p:spPr>
      </p:sp>
      <p:sp>
        <p:nvSpPr>
          <p:cNvPr id="16" name="Text 13"/>
          <p:cNvSpPr/>
          <p:nvPr/>
        </p:nvSpPr>
        <p:spPr>
          <a:xfrm>
            <a:off x="8686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4</a:t>
            </a:r>
            <a:endParaRPr lang="en-US" sz="1500" dirty="0"/>
          </a:p>
        </p:txBody>
      </p:sp>
      <p:sp>
        <p:nvSpPr>
          <p:cNvPr id="17" name="Text 14"/>
          <p:cNvSpPr/>
          <p:nvPr/>
        </p:nvSpPr>
        <p:spPr>
          <a:xfrm>
            <a:off x="15270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When Power Outpaces Character</a:t>
            </a:r>
            <a:endParaRPr lang="en-US" sz="1500" dirty="0"/>
          </a:p>
        </p:txBody>
      </p:sp>
      <p:sp>
        <p:nvSpPr>
          <p:cNvPr id="18" name="Shape 15"/>
          <p:cNvSpPr/>
          <p:nvPr/>
        </p:nvSpPr>
        <p:spPr>
          <a:xfrm>
            <a:off x="868680" y="4416552"/>
            <a:ext cx="457200" cy="457200"/>
          </a:xfrm>
          <a:prstGeom prst="ellipse">
            <a:avLst/>
          </a:prstGeom>
          <a:solidFill>
            <a:srgbClr val="6B7A5E"/>
          </a:solidFill>
          <a:ln/>
        </p:spPr>
      </p:sp>
      <p:sp>
        <p:nvSpPr>
          <p:cNvPr id="19" name="Text 16"/>
          <p:cNvSpPr/>
          <p:nvPr/>
        </p:nvSpPr>
        <p:spPr>
          <a:xfrm>
            <a:off x="8686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5</a:t>
            </a:r>
            <a:endParaRPr lang="en-US" sz="1500" dirty="0"/>
          </a:p>
        </p:txBody>
      </p:sp>
      <p:sp>
        <p:nvSpPr>
          <p:cNvPr id="20" name="Text 17"/>
          <p:cNvSpPr/>
          <p:nvPr/>
        </p:nvSpPr>
        <p:spPr>
          <a:xfrm>
            <a:off x="15270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Myth of Technological Salvation</a:t>
            </a:r>
            <a:endParaRPr lang="en-US" sz="1500" dirty="0"/>
          </a:p>
        </p:txBody>
      </p:sp>
      <p:sp>
        <p:nvSpPr>
          <p:cNvPr id="21" name="Shape 18"/>
          <p:cNvSpPr/>
          <p:nvPr/>
        </p:nvSpPr>
        <p:spPr>
          <a:xfrm>
            <a:off x="868680" y="5074920"/>
            <a:ext cx="457200" cy="457200"/>
          </a:xfrm>
          <a:prstGeom prst="ellipse">
            <a:avLst/>
          </a:prstGeom>
          <a:solidFill>
            <a:srgbClr val="6B7A5E"/>
          </a:solidFill>
          <a:ln/>
        </p:spPr>
      </p:sp>
      <p:sp>
        <p:nvSpPr>
          <p:cNvPr id="22" name="Text 19"/>
          <p:cNvSpPr/>
          <p:nvPr/>
        </p:nvSpPr>
        <p:spPr>
          <a:xfrm>
            <a:off x="8686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6</a:t>
            </a:r>
            <a:endParaRPr lang="en-US" sz="1500" dirty="0"/>
          </a:p>
        </p:txBody>
      </p:sp>
      <p:sp>
        <p:nvSpPr>
          <p:cNvPr id="23" name="Text 20"/>
          <p:cNvSpPr/>
          <p:nvPr/>
        </p:nvSpPr>
        <p:spPr>
          <a:xfrm>
            <a:off x="15270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Building for Human Flourishing</a:t>
            </a:r>
            <a:endParaRPr lang="en-US" sz="1500" dirty="0"/>
          </a:p>
        </p:txBody>
      </p:sp>
      <p:sp>
        <p:nvSpPr>
          <p:cNvPr id="24" name="Shape 21"/>
          <p:cNvSpPr/>
          <p:nvPr/>
        </p:nvSpPr>
        <p:spPr>
          <a:xfrm>
            <a:off x="868680" y="5733288"/>
            <a:ext cx="457200" cy="457200"/>
          </a:xfrm>
          <a:prstGeom prst="ellipse">
            <a:avLst/>
          </a:prstGeom>
          <a:solidFill>
            <a:srgbClr val="6B7A5E"/>
          </a:solidFill>
          <a:ln/>
        </p:spPr>
      </p:sp>
      <p:sp>
        <p:nvSpPr>
          <p:cNvPr id="25" name="Text 22"/>
          <p:cNvSpPr/>
          <p:nvPr/>
        </p:nvSpPr>
        <p:spPr>
          <a:xfrm>
            <a:off x="868680" y="573328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7</a:t>
            </a:r>
            <a:endParaRPr lang="en-US" sz="1500" dirty="0"/>
          </a:p>
        </p:txBody>
      </p:sp>
      <p:sp>
        <p:nvSpPr>
          <p:cNvPr id="26" name="Text 23"/>
          <p:cNvSpPr/>
          <p:nvPr/>
        </p:nvSpPr>
        <p:spPr>
          <a:xfrm>
            <a:off x="1527048" y="570585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Artificial Intelligence and Human Dignity</a:t>
            </a:r>
            <a:endParaRPr lang="en-US" sz="1500" dirty="0"/>
          </a:p>
        </p:txBody>
      </p:sp>
      <p:sp>
        <p:nvSpPr>
          <p:cNvPr id="27" name="Shape 24"/>
          <p:cNvSpPr/>
          <p:nvPr/>
        </p:nvSpPr>
        <p:spPr>
          <a:xfrm>
            <a:off x="6355080" y="1783080"/>
            <a:ext cx="457200" cy="457200"/>
          </a:xfrm>
          <a:prstGeom prst="ellipse">
            <a:avLst/>
          </a:prstGeom>
          <a:solidFill>
            <a:srgbClr val="6B7A5E"/>
          </a:solidFill>
          <a:ln/>
        </p:spPr>
      </p:sp>
      <p:sp>
        <p:nvSpPr>
          <p:cNvPr id="28" name="Text 25"/>
          <p:cNvSpPr/>
          <p:nvPr/>
        </p:nvSpPr>
        <p:spPr>
          <a:xfrm>
            <a:off x="63550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8</a:t>
            </a:r>
            <a:endParaRPr lang="en-US" sz="1500" dirty="0"/>
          </a:p>
        </p:txBody>
      </p:sp>
      <p:sp>
        <p:nvSpPr>
          <p:cNvPr id="29" name="Text 26"/>
          <p:cNvSpPr/>
          <p:nvPr/>
        </p:nvSpPr>
        <p:spPr>
          <a:xfrm>
            <a:off x="70134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Stewarding Information</a:t>
            </a:r>
            <a:endParaRPr lang="en-US" sz="1500" dirty="0"/>
          </a:p>
        </p:txBody>
      </p:sp>
      <p:sp>
        <p:nvSpPr>
          <p:cNvPr id="30" name="Shape 27"/>
          <p:cNvSpPr/>
          <p:nvPr/>
        </p:nvSpPr>
        <p:spPr>
          <a:xfrm>
            <a:off x="6355080" y="2441448"/>
            <a:ext cx="457200" cy="457200"/>
          </a:xfrm>
          <a:prstGeom prst="ellipse">
            <a:avLst/>
          </a:prstGeom>
          <a:solidFill>
            <a:srgbClr val="6B7A5E"/>
          </a:solidFill>
          <a:ln/>
        </p:spPr>
      </p:sp>
      <p:sp>
        <p:nvSpPr>
          <p:cNvPr id="31" name="Text 28"/>
          <p:cNvSpPr/>
          <p:nvPr/>
        </p:nvSpPr>
        <p:spPr>
          <a:xfrm>
            <a:off x="63550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9</a:t>
            </a:r>
            <a:endParaRPr lang="en-US" sz="1500" dirty="0"/>
          </a:p>
        </p:txBody>
      </p:sp>
      <p:sp>
        <p:nvSpPr>
          <p:cNvPr id="32" name="Text 29"/>
          <p:cNvSpPr/>
          <p:nvPr/>
        </p:nvSpPr>
        <p:spPr>
          <a:xfrm>
            <a:off x="70134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Stewarding Influence</a:t>
            </a:r>
            <a:endParaRPr lang="en-US" sz="1500" dirty="0"/>
          </a:p>
        </p:txBody>
      </p:sp>
      <p:sp>
        <p:nvSpPr>
          <p:cNvPr id="33" name="Shape 30"/>
          <p:cNvSpPr/>
          <p:nvPr/>
        </p:nvSpPr>
        <p:spPr>
          <a:xfrm>
            <a:off x="6355080" y="3099816"/>
            <a:ext cx="457200" cy="457200"/>
          </a:xfrm>
          <a:prstGeom prst="ellipse">
            <a:avLst/>
          </a:prstGeom>
          <a:solidFill>
            <a:srgbClr val="6B7A5E"/>
          </a:solidFill>
          <a:ln/>
        </p:spPr>
      </p:sp>
      <p:sp>
        <p:nvSpPr>
          <p:cNvPr id="34" name="Text 31"/>
          <p:cNvSpPr/>
          <p:nvPr/>
        </p:nvSpPr>
        <p:spPr>
          <a:xfrm>
            <a:off x="63550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10</a:t>
            </a:r>
            <a:endParaRPr lang="en-US" sz="1500" dirty="0"/>
          </a:p>
        </p:txBody>
      </p:sp>
      <p:sp>
        <p:nvSpPr>
          <p:cNvPr id="35" name="Text 32"/>
          <p:cNvSpPr/>
          <p:nvPr/>
        </p:nvSpPr>
        <p:spPr>
          <a:xfrm>
            <a:off x="70134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Stewardship of Innovation</a:t>
            </a:r>
            <a:endParaRPr lang="en-US" sz="1500" dirty="0"/>
          </a:p>
        </p:txBody>
      </p:sp>
      <p:sp>
        <p:nvSpPr>
          <p:cNvPr id="36" name="Shape 33"/>
          <p:cNvSpPr/>
          <p:nvPr/>
        </p:nvSpPr>
        <p:spPr>
          <a:xfrm>
            <a:off x="6355080" y="3758184"/>
            <a:ext cx="457200" cy="457200"/>
          </a:xfrm>
          <a:prstGeom prst="ellipse">
            <a:avLst/>
          </a:prstGeom>
          <a:solidFill>
            <a:srgbClr val="6B7A5E"/>
          </a:solidFill>
          <a:ln/>
        </p:spPr>
      </p:sp>
      <p:sp>
        <p:nvSpPr>
          <p:cNvPr id="37" name="Text 34"/>
          <p:cNvSpPr/>
          <p:nvPr/>
        </p:nvSpPr>
        <p:spPr>
          <a:xfrm>
            <a:off x="63550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11</a:t>
            </a:r>
            <a:endParaRPr lang="en-US" sz="1500" dirty="0"/>
          </a:p>
        </p:txBody>
      </p:sp>
      <p:sp>
        <p:nvSpPr>
          <p:cNvPr id="38" name="Text 35"/>
          <p:cNvSpPr/>
          <p:nvPr/>
        </p:nvSpPr>
        <p:spPr>
          <a:xfrm>
            <a:off x="70134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To Whom Much Is Given</a:t>
            </a:r>
            <a:endParaRPr lang="en-US" sz="1500" dirty="0"/>
          </a:p>
        </p:txBody>
      </p:sp>
      <p:sp>
        <p:nvSpPr>
          <p:cNvPr id="39" name="Shape 36"/>
          <p:cNvSpPr/>
          <p:nvPr/>
        </p:nvSpPr>
        <p:spPr>
          <a:xfrm>
            <a:off x="6355080" y="4416552"/>
            <a:ext cx="457200" cy="457200"/>
          </a:xfrm>
          <a:prstGeom prst="ellipse">
            <a:avLst/>
          </a:prstGeom>
          <a:solidFill>
            <a:srgbClr val="6B7A5E"/>
          </a:solidFill>
          <a:ln/>
        </p:spPr>
      </p:sp>
      <p:sp>
        <p:nvSpPr>
          <p:cNvPr id="40" name="Text 37"/>
          <p:cNvSpPr/>
          <p:nvPr/>
        </p:nvSpPr>
        <p:spPr>
          <a:xfrm>
            <a:off x="63550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12</a:t>
            </a:r>
            <a:endParaRPr lang="en-US" sz="1500" dirty="0"/>
          </a:p>
        </p:txBody>
      </p:sp>
      <p:sp>
        <p:nvSpPr>
          <p:cNvPr id="41" name="Text 38"/>
          <p:cNvSpPr/>
          <p:nvPr/>
        </p:nvSpPr>
        <p:spPr>
          <a:xfrm>
            <a:off x="70134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Faithfulness in an Age of Power</a:t>
            </a:r>
            <a:endParaRPr lang="en-US" sz="1500" dirty="0"/>
          </a:p>
        </p:txBody>
      </p:sp>
      <p:sp>
        <p:nvSpPr>
          <p:cNvPr id="42" name="Shape 39"/>
          <p:cNvSpPr/>
          <p:nvPr/>
        </p:nvSpPr>
        <p:spPr>
          <a:xfrm>
            <a:off x="6355080" y="5074920"/>
            <a:ext cx="457200" cy="457200"/>
          </a:xfrm>
          <a:prstGeom prst="ellipse">
            <a:avLst/>
          </a:prstGeom>
          <a:solidFill>
            <a:srgbClr val="6B7A5E"/>
          </a:solidFill>
          <a:ln/>
        </p:spPr>
      </p:sp>
      <p:sp>
        <p:nvSpPr>
          <p:cNvPr id="43" name="Text 40"/>
          <p:cNvSpPr/>
          <p:nvPr/>
        </p:nvSpPr>
        <p:spPr>
          <a:xfrm>
            <a:off x="63550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13</a:t>
            </a:r>
            <a:endParaRPr lang="en-US" sz="1500" dirty="0"/>
          </a:p>
        </p:txBody>
      </p:sp>
      <p:sp>
        <p:nvSpPr>
          <p:cNvPr id="44" name="Text 41"/>
          <p:cNvSpPr/>
          <p:nvPr/>
        </p:nvSpPr>
        <p:spPr>
          <a:xfrm>
            <a:off x="70134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Steward We Hope to Be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822960" y="731520"/>
            <a:ext cx="914400" cy="914400"/>
          </a:xfrm>
          <a:prstGeom prst="rect">
            <a:avLst/>
          </a:prstGeom>
        </p:spPr>
      </p:pic>
      <p:sp>
        <p:nvSpPr>
          <p:cNvPr id="4" name="Text 1"/>
          <p:cNvSpPr/>
          <p:nvPr/>
        </p:nvSpPr>
        <p:spPr>
          <a:xfrm>
            <a:off x="1874520" y="868680"/>
            <a:ext cx="7315200" cy="365760"/>
          </a:xfrm>
          <a:prstGeom prst="rect">
            <a:avLst/>
          </a:prstGeom>
          <a:noFill/>
          <a:ln/>
        </p:spPr>
        <p:txBody>
          <a:bodyPr wrap="square" rtlCol="0" anchor="ctr"/>
          <a:lstStyle/>
          <a:p>
            <a:pPr indent="0" marL="0">
              <a:buNone/>
            </a:pPr>
            <a:r>
              <a:rPr lang="en-US" sz="1500" b="1" spc="300" kern="0" dirty="0">
                <a:solidFill>
                  <a:srgbClr val="E7E8D1"/>
                </a:solidFill>
                <a:latin typeface="Calibri" pitchFamily="34" charset="0"/>
                <a:ea typeface="Calibri" pitchFamily="34" charset="-122"/>
                <a:cs typeface="Calibri" pitchFamily="34" charset="-120"/>
              </a:rPr>
              <a:t>KEY SCRIPTURE</a:t>
            </a:r>
            <a:endParaRPr lang="en-US" sz="1500" dirty="0"/>
          </a:p>
        </p:txBody>
      </p:sp>
      <p:sp>
        <p:nvSpPr>
          <p:cNvPr id="5" name="Text 2"/>
          <p:cNvSpPr/>
          <p:nvPr/>
        </p:nvSpPr>
        <p:spPr>
          <a:xfrm>
            <a:off x="1874520" y="1234440"/>
            <a:ext cx="9144000" cy="457200"/>
          </a:xfrm>
          <a:prstGeom prst="rect">
            <a:avLst/>
          </a:prstGeom>
          <a:noFill/>
          <a:ln/>
        </p:spPr>
        <p:txBody>
          <a:bodyPr wrap="square" rtlCol="0" anchor="ctr"/>
          <a:lstStyle/>
          <a:p>
            <a:pPr indent="0" marL="0">
              <a:buNone/>
            </a:pPr>
            <a:r>
              <a:rPr lang="en-US" sz="2200" b="1" dirty="0">
                <a:solidFill>
                  <a:srgbClr val="C9A15A"/>
                </a:solidFill>
                <a:latin typeface="Bookman Old Style" pitchFamily="34" charset="0"/>
                <a:ea typeface="Bookman Old Style" pitchFamily="34" charset="-122"/>
                <a:cs typeface="Bookman Old Style" pitchFamily="34" charset="-120"/>
              </a:rPr>
              <a:t>Genesis 1:28 (ESV)</a:t>
            </a:r>
            <a:endParaRPr lang="en-US" sz="2200" dirty="0"/>
          </a:p>
        </p:txBody>
      </p:sp>
      <p:sp>
        <p:nvSpPr>
          <p:cNvPr id="6" name="Text 3"/>
          <p:cNvSpPr/>
          <p:nvPr/>
        </p:nvSpPr>
        <p:spPr>
          <a:xfrm>
            <a:off x="1280160" y="2194560"/>
            <a:ext cx="9601200" cy="4023360"/>
          </a:xfrm>
          <a:prstGeom prst="rect">
            <a:avLst/>
          </a:prstGeom>
          <a:noFill/>
          <a:ln/>
        </p:spPr>
        <p:txBody>
          <a:bodyPr wrap="square" rtlCol="0" anchor="t"/>
          <a:lstStyle/>
          <a:p>
            <a:pPr indent="0" marL="0">
              <a:lnSpc>
                <a:spcPct val="112000"/>
              </a:lnSpc>
              <a:buNone/>
            </a:pPr>
            <a:r>
              <a:rPr lang="en-US" sz="2400" i="1" dirty="0">
                <a:solidFill>
                  <a:srgbClr val="FBF7F0"/>
                </a:solidFill>
                <a:latin typeface="Bookman Old Style" pitchFamily="34" charset="0"/>
                <a:ea typeface="Bookman Old Style" pitchFamily="34" charset="-122"/>
                <a:cs typeface="Bookman Old Style" pitchFamily="34" charset="-120"/>
              </a:rPr>
              <a:t>"Moreover, it is required of stewards that they be found faithful."</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01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Weight of Responsibility</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Every gift carries responsibility, and the greater the gift, the greater the weight. Powerful tools demand proportionate character.</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02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Dominion Is Not Ownership</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Genesis gives humanity real dominion over creation — but dominion is stewardship under God, never outright ownership.</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03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Garden Mandate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Before sin entered, humanity received a mandate to cultivate and keep the garden. Technology belongs inside God's purposes, not outside them.</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04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When Power Outpaces Character</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History repeats one pattern: capability grows faster than character. Every advance arrives carrying both promise and peril.</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05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Myth of Technological Salvation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Every generation locates its hope somewhere — government, science, technology. But no tool can save what only God can redeem.</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06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Building for Human Flourishing</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The engineer asks, 'Can this be built?' The steward presses further: 'Will this help people flourish?'</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07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Artificial Intelligence and Human Dignity</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As machines grow capable, an old question sharpens: what makes a person valuable? Not output — the image of God.</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08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Stewarding Information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Information is now among the world's most valuable resources. Data shapes billions of choices — and must be handled as a trust.</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09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Stewarding Influence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Technology hands ordinary people extraordinary reach. A single post can move millions — influence to be stewarded, not spent carelessly.</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10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Stewardship of Innovation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Christians tend to fear innovation or embrace it uncritically. Faithful stewardship refuses both — engaging with discernment.</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11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To Whom Much Is Given</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'To whom much was given, much will be required.' Few generations have been given more than ours.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12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Faithfulness in an Age of Power</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Power whispers flattering lies — that because we can, we should. Faithfulness resists the confusion of possibility with permission.</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13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Steward We Hope to Be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One day every steward gives an account. That sobering truth clarifies how we handle the powerful tools entrusted to us.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Reflection Questions</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For personal thought or group discussion</a:t>
            </a:r>
            <a:endParaRPr lang="en-US" sz="1500" dirty="0"/>
          </a:p>
        </p:txBody>
      </p:sp>
      <p:sp>
        <p:nvSpPr>
          <p:cNvPr id="6" name="Shape 3"/>
          <p:cNvSpPr/>
          <p:nvPr/>
        </p:nvSpPr>
        <p:spPr>
          <a:xfrm>
            <a:off x="868680" y="1737360"/>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0515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1</a:t>
            </a:r>
            <a:endParaRPr lang="en-US" sz="2000" dirty="0"/>
          </a:p>
        </p:txBody>
      </p:sp>
      <p:sp>
        <p:nvSpPr>
          <p:cNvPr id="8" name="Text 5"/>
          <p:cNvSpPr/>
          <p:nvPr/>
        </p:nvSpPr>
        <p:spPr>
          <a:xfrm>
            <a:off x="1581912" y="1828800"/>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powerful tools has God entrusted to you personally?</a:t>
            </a:r>
            <a:endParaRPr lang="en-US" sz="1300" dirty="0"/>
          </a:p>
        </p:txBody>
      </p:sp>
      <p:sp>
        <p:nvSpPr>
          <p:cNvPr id="9" name="Shape 6"/>
          <p:cNvSpPr/>
          <p:nvPr/>
        </p:nvSpPr>
        <p:spPr>
          <a:xfrm>
            <a:off x="868680" y="2688336"/>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1051560" y="285292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2</a:t>
            </a:r>
            <a:endParaRPr lang="en-US" sz="2000" dirty="0"/>
          </a:p>
        </p:txBody>
      </p:sp>
      <p:sp>
        <p:nvSpPr>
          <p:cNvPr id="11" name="Text 8"/>
          <p:cNvSpPr/>
          <p:nvPr/>
        </p:nvSpPr>
        <p:spPr>
          <a:xfrm>
            <a:off x="1581912" y="2779776"/>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do you define stewardship in your own words?</a:t>
            </a:r>
            <a:endParaRPr lang="en-US" sz="1300" dirty="0"/>
          </a:p>
        </p:txBody>
      </p:sp>
      <p:sp>
        <p:nvSpPr>
          <p:cNvPr id="12" name="Shape 9"/>
          <p:cNvSpPr/>
          <p:nvPr/>
        </p:nvSpPr>
        <p:spPr>
          <a:xfrm>
            <a:off x="868680" y="3639312"/>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Text 10"/>
          <p:cNvSpPr/>
          <p:nvPr/>
        </p:nvSpPr>
        <p:spPr>
          <a:xfrm>
            <a:off x="1051560" y="3803904"/>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3</a:t>
            </a:r>
            <a:endParaRPr lang="en-US" sz="2000" dirty="0"/>
          </a:p>
        </p:txBody>
      </p:sp>
      <p:sp>
        <p:nvSpPr>
          <p:cNvPr id="14" name="Text 11"/>
          <p:cNvSpPr/>
          <p:nvPr/>
        </p:nvSpPr>
        <p:spPr>
          <a:xfrm>
            <a:off x="1581912" y="3730752"/>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responsibilities accompany technological power?</a:t>
            </a:r>
            <a:endParaRPr lang="en-US" sz="1300" dirty="0"/>
          </a:p>
        </p:txBody>
      </p:sp>
      <p:sp>
        <p:nvSpPr>
          <p:cNvPr id="15" name="Shape 12"/>
          <p:cNvSpPr/>
          <p:nvPr/>
        </p:nvSpPr>
        <p:spPr>
          <a:xfrm>
            <a:off x="868680" y="4590288"/>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6" name="Text 13"/>
          <p:cNvSpPr/>
          <p:nvPr/>
        </p:nvSpPr>
        <p:spPr>
          <a:xfrm>
            <a:off x="1051560" y="475488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4</a:t>
            </a:r>
            <a:endParaRPr lang="en-US" sz="2000" dirty="0"/>
          </a:p>
        </p:txBody>
      </p:sp>
      <p:sp>
        <p:nvSpPr>
          <p:cNvPr id="17" name="Text 14"/>
          <p:cNvSpPr/>
          <p:nvPr/>
        </p:nvSpPr>
        <p:spPr>
          <a:xfrm>
            <a:off x="1581912" y="4681728"/>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Where do you see technology helping human flourishing?</a:t>
            </a:r>
            <a:endParaRPr lang="en-US" sz="1300" dirty="0"/>
          </a:p>
        </p:txBody>
      </p:sp>
      <p:sp>
        <p:nvSpPr>
          <p:cNvPr id="18" name="Shape 15"/>
          <p:cNvSpPr/>
          <p:nvPr/>
        </p:nvSpPr>
        <p:spPr>
          <a:xfrm>
            <a:off x="6355080" y="1737360"/>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Text 16"/>
          <p:cNvSpPr/>
          <p:nvPr/>
        </p:nvSpPr>
        <p:spPr>
          <a:xfrm>
            <a:off x="65379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5</a:t>
            </a:r>
            <a:endParaRPr lang="en-US" sz="2000" dirty="0"/>
          </a:p>
        </p:txBody>
      </p:sp>
      <p:sp>
        <p:nvSpPr>
          <p:cNvPr id="20" name="Text 17"/>
          <p:cNvSpPr/>
          <p:nvPr/>
        </p:nvSpPr>
        <p:spPr>
          <a:xfrm>
            <a:off x="7068312" y="1828800"/>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Where do you see technology threatening human dignity?</a:t>
            </a:r>
            <a:endParaRPr lang="en-US" sz="1300" dirty="0"/>
          </a:p>
        </p:txBody>
      </p:sp>
      <p:sp>
        <p:nvSpPr>
          <p:cNvPr id="21" name="Shape 18"/>
          <p:cNvSpPr/>
          <p:nvPr/>
        </p:nvSpPr>
        <p:spPr>
          <a:xfrm>
            <a:off x="6355080" y="2688336"/>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2" name="Text 19"/>
          <p:cNvSpPr/>
          <p:nvPr/>
        </p:nvSpPr>
        <p:spPr>
          <a:xfrm>
            <a:off x="6537960" y="285292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6</a:t>
            </a:r>
            <a:endParaRPr lang="en-US" sz="2000" dirty="0"/>
          </a:p>
        </p:txBody>
      </p:sp>
      <p:sp>
        <p:nvSpPr>
          <p:cNvPr id="23" name="Text 20"/>
          <p:cNvSpPr/>
          <p:nvPr/>
        </p:nvSpPr>
        <p:spPr>
          <a:xfrm>
            <a:off x="7068312" y="2779776"/>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can Christians influence the ethical development of future technologies?</a:t>
            </a:r>
            <a:endParaRPr lang="en-US" sz="1300" dirty="0"/>
          </a:p>
        </p:txBody>
      </p:sp>
      <p:sp>
        <p:nvSpPr>
          <p:cNvPr id="24" name="Shape 21"/>
          <p:cNvSpPr/>
          <p:nvPr/>
        </p:nvSpPr>
        <p:spPr>
          <a:xfrm>
            <a:off x="6355080" y="3803904"/>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5" name="Text 22"/>
          <p:cNvSpPr/>
          <p:nvPr/>
        </p:nvSpPr>
        <p:spPr>
          <a:xfrm>
            <a:off x="6537960" y="3968496"/>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7</a:t>
            </a:r>
            <a:endParaRPr lang="en-US" sz="2000" dirty="0"/>
          </a:p>
        </p:txBody>
      </p:sp>
      <p:sp>
        <p:nvSpPr>
          <p:cNvPr id="26" name="Text 23"/>
          <p:cNvSpPr/>
          <p:nvPr/>
        </p:nvSpPr>
        <p:spPr>
          <a:xfrm>
            <a:off x="7068312" y="3895344"/>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would faithful stewardship look like in your daily life?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8F3B30"/>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600" b="1" spc="200" kern="0" dirty="0">
                <a:solidFill>
                  <a:srgbClr val="C9A15A"/>
                </a:solidFill>
                <a:latin typeface="Bookman Old Style" pitchFamily="34" charset="0"/>
                <a:ea typeface="Bookman Old Style" pitchFamily="34" charset="-122"/>
                <a:cs typeface="Bookman Old Style" pitchFamily="34" charset="-120"/>
              </a:rPr>
              <a:t>PRAYER</a:t>
            </a:r>
            <a:endParaRPr lang="en-US" sz="2600" dirty="0"/>
          </a:p>
        </p:txBody>
      </p:sp>
      <p:sp>
        <p:nvSpPr>
          <p:cNvPr id="6" name="Shape 3"/>
          <p:cNvSpPr/>
          <p:nvPr/>
        </p:nvSpPr>
        <p:spPr>
          <a:xfrm>
            <a:off x="1554480" y="2697480"/>
            <a:ext cx="9052560" cy="3566160"/>
          </a:xfrm>
          <a:prstGeom prst="roundRect">
            <a:avLst>
              <a:gd name="adj" fmla="val 3590"/>
            </a:avLst>
          </a:prstGeom>
          <a:solidFill>
            <a:srgbClr val="8F3B30"/>
          </a:solidFill>
          <a:ln/>
        </p:spPr>
      </p:sp>
      <p:sp>
        <p:nvSpPr>
          <p:cNvPr id="7" name="Text 4"/>
          <p:cNvSpPr/>
          <p:nvPr/>
        </p:nvSpPr>
        <p:spPr>
          <a:xfrm>
            <a:off x="2057400" y="2926080"/>
            <a:ext cx="8046720" cy="3108960"/>
          </a:xfrm>
          <a:prstGeom prst="rect">
            <a:avLst/>
          </a:prstGeom>
          <a:noFill/>
          <a:ln/>
        </p:spPr>
        <p:txBody>
          <a:bodyPr wrap="square" rtlCol="0" anchor="ctr"/>
          <a:lstStyle/>
          <a:p>
            <a:pPr algn="ctr" indent="0" marL="0">
              <a:lnSpc>
                <a:spcPct val="112000"/>
              </a:lnSpc>
              <a:buNone/>
            </a:pPr>
            <a:r>
              <a:rPr lang="en-US" sz="1900" i="1" dirty="0">
                <a:solidFill>
                  <a:srgbClr val="FBF7F0"/>
                </a:solidFill>
                <a:latin typeface="Bookman Old Style" pitchFamily="34" charset="0"/>
                <a:ea typeface="Bookman Old Style" pitchFamily="34" charset="-122"/>
                <a:cs typeface="Bookman Old Style" pitchFamily="34" charset="-120"/>
              </a:rPr>
              <a:t>"Father, thank You for the gifts, opportunities, and technologies You have entrusted to humanity, and to me. Help me to steward them wisely and faithfully, never forgetting that they are Yours and not my own. Protect me from pride, from carelessness, and from the misplaced trust that looks to human capability for what only You can provide. Give me wisdom to use technology for the good of others, for the advancement of truth, and for the glory of Your name. May every resource, skill, measure of influence, and opportunity You have placed in my hands be managed as a faithful steward of Your Kingdom. Through Jesus Christ, my Lord and Savior. Amen."</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Action Challenge</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One step to carry into the week</a:t>
            </a:r>
            <a:endParaRPr lang="en-US" sz="1500" dirty="0"/>
          </a:p>
        </p:txBody>
      </p:sp>
      <p:sp>
        <p:nvSpPr>
          <p:cNvPr id="6" name="Shape 3"/>
          <p:cNvSpPr/>
          <p:nvPr/>
        </p:nvSpPr>
        <p:spPr>
          <a:xfrm>
            <a:off x="868680" y="1920240"/>
            <a:ext cx="10424160" cy="3566160"/>
          </a:xfrm>
          <a:prstGeom prst="roundRect">
            <a:avLst>
              <a:gd name="adj" fmla="val 359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371600" y="2514600"/>
            <a:ext cx="1371600" cy="1371600"/>
          </a:xfrm>
          <a:prstGeom prst="ellipse">
            <a:avLst/>
          </a:prstGeom>
          <a:solidFill>
            <a:srgbClr val="6B7A5E"/>
          </a:solidFill>
          <a:ln/>
          <a:effectLst>
            <a:outerShdw sx="100000" sy="100000" kx="0" ky="0" algn="bl" rotWithShape="0" blurRad="114300" dist="38100" dir="54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1737360" y="2880360"/>
            <a:ext cx="640080" cy="640080"/>
          </a:xfrm>
          <a:prstGeom prst="rect">
            <a:avLst/>
          </a:prstGeom>
        </p:spPr>
      </p:pic>
      <p:sp>
        <p:nvSpPr>
          <p:cNvPr id="9" name="Text 5"/>
          <p:cNvSpPr/>
          <p:nvPr/>
        </p:nvSpPr>
        <p:spPr>
          <a:xfrm>
            <a:off x="3108960" y="2286000"/>
            <a:ext cx="7772400" cy="2834640"/>
          </a:xfrm>
          <a:prstGeom prst="rect">
            <a:avLst/>
          </a:prstGeom>
          <a:noFill/>
          <a:ln/>
        </p:spPr>
        <p:txBody>
          <a:bodyPr wrap="square" rtlCol="0" anchor="ctr"/>
          <a:lstStyle/>
          <a:p>
            <a:pPr indent="0" marL="0">
              <a:lnSpc>
                <a:spcPct val="112000"/>
              </a:lnSpc>
              <a:buNone/>
            </a:pPr>
            <a:r>
              <a:rPr lang="en-US" sz="1800" dirty="0">
                <a:solidFill>
                  <a:srgbClr val="3A342E"/>
                </a:solidFill>
                <a:latin typeface="Calibri" pitchFamily="34" charset="0"/>
                <a:ea typeface="Calibri" pitchFamily="34" charset="-122"/>
                <a:cs typeface="Calibri" pitchFamily="34" charset="-120"/>
              </a:rPr>
              <a:t>This week, conduct a "Stewardship Inventory." The aim is to move the ideas of this chapter out of the abstract and into the concrete realities of your own life. Begin by listing, honestly and specifically, what has actually been entrusted to you: The technologies you use daily The influence you possess The information you manage The resources you control The opportunities available to you Then, for each item on your list, ask a series of searching questions: When you have worked through your inventory, choose one area where you will intentionally practice better stewardship over the next month. Resist the urge to fix everything at once; faithfulness usually begins with a single, deliberate step. Finally, write a personal commitment statement. Begin it with these words: "Because God has entrusted me with much, I will..." Complete the sentence with a practical action you can begin to implement immediately, something concrete enough to do this week, and meaningful enough to matter.</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5440680" y="1737360"/>
            <a:ext cx="1280160" cy="1280160"/>
          </a:xfrm>
          <a:prstGeom prst="rect">
            <a:avLst/>
          </a:prstGeom>
        </p:spPr>
      </p:pic>
      <p:sp>
        <p:nvSpPr>
          <p:cNvPr id="4" name="Text 1"/>
          <p:cNvSpPr/>
          <p:nvPr/>
        </p:nvSpPr>
        <p:spPr>
          <a:xfrm>
            <a:off x="0" y="324612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Chapter 12</a:t>
            </a:r>
            <a:endParaRPr lang="en-US" sz="1600" dirty="0"/>
          </a:p>
        </p:txBody>
      </p:sp>
      <p:sp>
        <p:nvSpPr>
          <p:cNvPr id="5" name="Text 2"/>
          <p:cNvSpPr/>
          <p:nvPr/>
        </p:nvSpPr>
        <p:spPr>
          <a:xfrm>
            <a:off x="914400" y="3657600"/>
            <a:ext cx="10332720" cy="1005840"/>
          </a:xfrm>
          <a:prstGeom prst="rect">
            <a:avLst/>
          </a:prstGeom>
          <a:noFill/>
          <a:ln/>
        </p:spPr>
        <p:txBody>
          <a:bodyPr wrap="square" rtlCol="0" anchor="t"/>
          <a:lstStyle/>
          <a:p>
            <a:pPr algn="ctr" indent="0" marL="0">
              <a:lnSpc>
                <a:spcPct val="98000"/>
              </a:lnSpc>
              <a:buNone/>
            </a:pPr>
            <a:r>
              <a:rPr lang="en-US" sz="4000" b="1" dirty="0">
                <a:solidFill>
                  <a:srgbClr val="FBF7F0"/>
                </a:solidFill>
                <a:latin typeface="Bookman Old Style" pitchFamily="34" charset="0"/>
                <a:ea typeface="Bookman Old Style" pitchFamily="34" charset="-122"/>
                <a:cs typeface="Bookman Old Style" pitchFamily="34" charset="-120"/>
              </a:rPr>
              <a:t>Stewarding Powerful Tools</a:t>
            </a:r>
            <a:endParaRPr lang="en-US" sz="4000" dirty="0"/>
          </a:p>
        </p:txBody>
      </p:sp>
      <p:sp>
        <p:nvSpPr>
          <p:cNvPr id="6" name="Text 3"/>
          <p:cNvSpPr/>
          <p:nvPr/>
        </p:nvSpPr>
        <p:spPr>
          <a:xfrm>
            <a:off x="1371600" y="4892040"/>
            <a:ext cx="9418320" cy="822960"/>
          </a:xfrm>
          <a:prstGeom prst="rect">
            <a:avLst/>
          </a:prstGeom>
          <a:noFill/>
          <a:ln/>
        </p:spPr>
        <p:txBody>
          <a:bodyPr wrap="square" rtlCol="0" anchor="ctr"/>
          <a:lstStyle/>
          <a:p>
            <a:pPr algn="ctr" indent="0" marL="0">
              <a:buNone/>
            </a:pPr>
            <a:r>
              <a:rPr lang="en-US" sz="18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for the Digital Age — Chapter 12</dc:title>
  <dc:subject>PptxGenJS Presentation</dc:subject>
  <dc:creator>Rod Trent</dc:creator>
  <cp:lastModifiedBy>Rod Trent</cp:lastModifiedBy>
  <cp:revision>1</cp:revision>
  <dcterms:created xsi:type="dcterms:W3CDTF">2026-07-03T18:17:19Z</dcterms:created>
  <dcterms:modified xsi:type="dcterms:W3CDTF">2026-07-03T18:17:19Z</dcterms:modified>
</cp:coreProperties>
</file>