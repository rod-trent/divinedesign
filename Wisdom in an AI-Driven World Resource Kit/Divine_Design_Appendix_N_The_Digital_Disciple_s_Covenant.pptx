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N</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The Digital Disciple's Covenant</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A Personal Commitment for Faithful Living in the Digital 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Introduction</a:t>
            </a:r>
            <a:endParaRPr lang="en-US" sz="3300" dirty="0"/>
          </a:p>
        </p:txBody>
      </p:sp>
      <p:sp>
        <p:nvSpPr>
          <p:cNvPr id="5" name="Shape 2"/>
          <p:cNvSpPr/>
          <p:nvPr/>
        </p:nvSpPr>
        <p:spPr>
          <a:xfrm>
            <a:off x="868680" y="2011680"/>
            <a:ext cx="10424160" cy="3566160"/>
          </a:xfrm>
          <a:prstGeom prst="roundRect">
            <a:avLst>
              <a:gd name="adj" fmla="val 359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6" name="Text 3"/>
          <p:cNvSpPr/>
          <p:nvPr/>
        </p:nvSpPr>
        <p:spPr>
          <a:xfrm>
            <a:off x="1417320" y="2331720"/>
            <a:ext cx="9326880" cy="2926080"/>
          </a:xfrm>
          <a:prstGeom prst="rect">
            <a:avLst/>
          </a:prstGeom>
          <a:noFill/>
          <a:ln/>
        </p:spPr>
        <p:txBody>
          <a:bodyPr wrap="square" rtlCol="0" anchor="ctr"/>
          <a:lstStyle/>
          <a:p>
            <a:pPr indent="0" marL="0">
              <a:lnSpc>
                <a:spcPct val="114000"/>
              </a:lnSpc>
              <a:buNone/>
            </a:pPr>
            <a:r>
              <a:rPr lang="en-US" sz="1800" dirty="0">
                <a:solidFill>
                  <a:srgbClr val="37352E"/>
                </a:solidFill>
                <a:latin typeface="Calibri" pitchFamily="34" charset="0"/>
                <a:ea typeface="Calibri" pitchFamily="34" charset="-122"/>
                <a:cs typeface="Calibri" pitchFamily="34" charset="-120"/>
              </a:rPr>
              <a:t>Every generation faces unique challenges, and every generation must decide whom it will serve. The tools may change, the technologies may evolve, the cultural pressures may shift, but the central question remains the same: who will rule my heart? The purpose of this covenant is not legalism. It is not a checklist or a contract for earning God's favor, God's grace cannot be earned, and salvation cannot be achieved through better behavior. This covenant is simply a declaration, a statement of intention, a commitment to steward technology faithfully under the lordship of Jesus Christ. Read it slowly. Pray through it carefully. Discuss it with family, friends, mentors, or your small group. Then sign it as an act of dedication. This is the book's complete covenant document. Other appendices, the 30-day journey in Appendix C, the family guide in Appendix D, and the manifesto in Appendix F, each touch on personal commitment in their own way, but all of them point back here for the full text.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The Covenant</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A shared declaration</a:t>
            </a:r>
            <a:endParaRPr lang="en-US" sz="1500" dirty="0"/>
          </a:p>
        </p:txBody>
      </p:sp>
      <p:sp>
        <p:nvSpPr>
          <p:cNvPr id="6" name="Shape 3"/>
          <p:cNvSpPr/>
          <p:nvPr/>
        </p:nvSpPr>
        <p:spPr>
          <a:xfrm>
            <a:off x="1188720" y="2103120"/>
            <a:ext cx="9784080" cy="3383280"/>
          </a:xfrm>
          <a:prstGeom prst="roundRect">
            <a:avLst>
              <a:gd name="adj" fmla="val 378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pic>
        <p:nvPicPr>
          <p:cNvPr id="7" name="Image 1" descr="preencoded.png">    </p:cNvPr>
          <p:cNvPicPr>
            <a:picLocks noChangeAspect="1"/>
          </p:cNvPicPr>
          <p:nvPr/>
        </p:nvPicPr>
        <p:blipFill>
          <a:blip r:embed="rId2"/>
          <a:stretch>
            <a:fillRect/>
          </a:stretch>
        </p:blipFill>
        <p:spPr>
          <a:xfrm>
            <a:off x="1508760" y="2286000"/>
            <a:ext cx="640080" cy="640080"/>
          </a:xfrm>
          <a:prstGeom prst="rect">
            <a:avLst/>
          </a:prstGeom>
        </p:spPr>
      </p:pic>
      <p:sp>
        <p:nvSpPr>
          <p:cNvPr id="8" name="Text 4"/>
          <p:cNvSpPr/>
          <p:nvPr/>
        </p:nvSpPr>
        <p:spPr>
          <a:xfrm>
            <a:off x="2286000" y="2331720"/>
            <a:ext cx="8229600" cy="2926080"/>
          </a:xfrm>
          <a:prstGeom prst="rect">
            <a:avLst/>
          </a:prstGeom>
          <a:noFill/>
          <a:ln/>
        </p:spPr>
        <p:txBody>
          <a:bodyPr wrap="square" rtlCol="0" anchor="t"/>
          <a:lstStyle/>
          <a:p>
            <a:pPr indent="0" marL="0">
              <a:lnSpc>
                <a:spcPct val="114000"/>
              </a:lnSpc>
              <a:buNone/>
            </a:pPr>
            <a:r>
              <a:rPr lang="en-US" sz="2000" i="1" dirty="0">
                <a:solidFill>
                  <a:srgbClr val="37352E"/>
                </a:solidFill>
                <a:latin typeface="Bookman Old Style" pitchFamily="34" charset="0"/>
                <a:ea typeface="Bookman Old Style" pitchFamily="34" charset="-122"/>
                <a:cs typeface="Bookman Old Style" pitchFamily="34" charset="-120"/>
              </a:rPr>
              <a:t>Because Jesus Christ is Lord, because all wisdom belongs to God, because every good gift comes from Him, and because technology is a powerful tool entrusted to my stewardship,</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1–6</a:t>
            </a:r>
            <a:endParaRPr lang="en-US" sz="1500" dirty="0"/>
          </a:p>
        </p:txBody>
      </p:sp>
      <p:sp>
        <p:nvSpPr>
          <p:cNvPr id="6" name="Shape 3"/>
          <p:cNvSpPr/>
          <p:nvPr/>
        </p:nvSpPr>
        <p:spPr>
          <a:xfrm>
            <a:off x="868680" y="1965960"/>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48840"/>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249424"/>
            <a:ext cx="182880" cy="182880"/>
          </a:xfrm>
          <a:prstGeom prst="rect">
            <a:avLst/>
          </a:prstGeom>
        </p:spPr>
      </p:pic>
      <p:sp>
        <p:nvSpPr>
          <p:cNvPr id="9" name="Text 5"/>
          <p:cNvSpPr/>
          <p:nvPr/>
        </p:nvSpPr>
        <p:spPr>
          <a:xfrm>
            <a:off x="1645920" y="1965960"/>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not place my hope in innovation, platforms, devices, algorithms, artificial intelligence, productivity systems, or digital influence. My ultimate trust belongs to God alone</a:t>
            </a:r>
            <a:endParaRPr lang="en-US" sz="1300" dirty="0"/>
          </a:p>
        </p:txBody>
      </p:sp>
      <p:sp>
        <p:nvSpPr>
          <p:cNvPr id="10" name="Shape 6"/>
          <p:cNvSpPr/>
          <p:nvPr/>
        </p:nvSpPr>
        <p:spPr>
          <a:xfrm>
            <a:off x="868680" y="2825496"/>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3008376"/>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3108960"/>
            <a:ext cx="182880" cy="182880"/>
          </a:xfrm>
          <a:prstGeom prst="rect">
            <a:avLst/>
          </a:prstGeom>
        </p:spPr>
      </p:pic>
      <p:sp>
        <p:nvSpPr>
          <p:cNvPr id="13" name="Text 8"/>
          <p:cNvSpPr/>
          <p:nvPr/>
        </p:nvSpPr>
        <p:spPr>
          <a:xfrm>
            <a:off x="1645920" y="2825496"/>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seek first His kingdom and His righteousness. When technology competes for my devotion,</a:t>
            </a:r>
            <a:endParaRPr lang="en-US" sz="1300" dirty="0"/>
          </a:p>
        </p:txBody>
      </p:sp>
      <p:sp>
        <p:nvSpPr>
          <p:cNvPr id="14" name="Shape 9"/>
          <p:cNvSpPr/>
          <p:nvPr/>
        </p:nvSpPr>
        <p:spPr>
          <a:xfrm>
            <a:off x="868680" y="368503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794760"/>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895344"/>
            <a:ext cx="182880" cy="182880"/>
          </a:xfrm>
          <a:prstGeom prst="rect">
            <a:avLst/>
          </a:prstGeom>
        </p:spPr>
      </p:pic>
      <p:sp>
        <p:nvSpPr>
          <p:cNvPr id="17" name="Text 11"/>
          <p:cNvSpPr/>
          <p:nvPr/>
        </p:nvSpPr>
        <p:spPr>
          <a:xfrm>
            <a:off x="1645920" y="368503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choose Christ. I Will Pursue Wisdom Above Information:</a:t>
            </a:r>
            <a:endParaRPr lang="en-US" sz="1300" dirty="0"/>
          </a:p>
        </p:txBody>
      </p:sp>
      <p:sp>
        <p:nvSpPr>
          <p:cNvPr id="18" name="Shape 12"/>
          <p:cNvSpPr/>
          <p:nvPr/>
        </p:nvSpPr>
        <p:spPr>
          <a:xfrm>
            <a:off x="868680" y="439826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507992"/>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608576"/>
            <a:ext cx="182880" cy="182880"/>
          </a:xfrm>
          <a:prstGeom prst="rect">
            <a:avLst/>
          </a:prstGeom>
        </p:spPr>
      </p:pic>
      <p:sp>
        <p:nvSpPr>
          <p:cNvPr id="21" name="Text 14"/>
          <p:cNvSpPr/>
          <p:nvPr/>
        </p:nvSpPr>
        <p:spPr>
          <a:xfrm>
            <a:off x="1645920" y="439826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not mistake knowledge for maturity</a:t>
            </a:r>
            <a:endParaRPr lang="en-US" sz="1300" dirty="0"/>
          </a:p>
        </p:txBody>
      </p:sp>
      <p:sp>
        <p:nvSpPr>
          <p:cNvPr id="22" name="Shape 15"/>
          <p:cNvSpPr/>
          <p:nvPr/>
        </p:nvSpPr>
        <p:spPr>
          <a:xfrm>
            <a:off x="868680" y="5111496"/>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5221224"/>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321808"/>
            <a:ext cx="182880" cy="182880"/>
          </a:xfrm>
          <a:prstGeom prst="rect">
            <a:avLst/>
          </a:prstGeom>
        </p:spPr>
      </p:pic>
      <p:sp>
        <p:nvSpPr>
          <p:cNvPr id="25" name="Text 17"/>
          <p:cNvSpPr/>
          <p:nvPr/>
        </p:nvSpPr>
        <p:spPr>
          <a:xfrm>
            <a:off x="1645920" y="5111496"/>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seek God's guidance before making important decisions</a:t>
            </a:r>
            <a:endParaRPr lang="en-US" sz="1300" dirty="0"/>
          </a:p>
        </p:txBody>
      </p:sp>
      <p:sp>
        <p:nvSpPr>
          <p:cNvPr id="26" name="Shape 18"/>
          <p:cNvSpPr/>
          <p:nvPr/>
        </p:nvSpPr>
        <p:spPr>
          <a:xfrm>
            <a:off x="868680" y="5824728"/>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934456"/>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6035040"/>
            <a:ext cx="182880" cy="182880"/>
          </a:xfrm>
          <a:prstGeom prst="rect">
            <a:avLst/>
          </a:prstGeom>
        </p:spPr>
      </p:pic>
      <p:sp>
        <p:nvSpPr>
          <p:cNvPr id="29" name="Text 20"/>
          <p:cNvSpPr/>
          <p:nvPr/>
        </p:nvSpPr>
        <p:spPr>
          <a:xfrm>
            <a:off x="1645920" y="5824728"/>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evaluate ideas through Scripture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7–12</a:t>
            </a:r>
            <a:endParaRPr lang="en-US" sz="1500" dirty="0"/>
          </a:p>
        </p:txBody>
      </p:sp>
      <p:sp>
        <p:nvSpPr>
          <p:cNvPr id="6" name="Shape 3"/>
          <p:cNvSpPr/>
          <p:nvPr/>
        </p:nvSpPr>
        <p:spPr>
          <a:xfrm>
            <a:off x="868680" y="1965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075688"/>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176272"/>
            <a:ext cx="182880" cy="182880"/>
          </a:xfrm>
          <a:prstGeom prst="rect">
            <a:avLst/>
          </a:prstGeom>
        </p:spPr>
      </p:pic>
      <p:sp>
        <p:nvSpPr>
          <p:cNvPr id="9" name="Text 5"/>
          <p:cNvSpPr/>
          <p:nvPr/>
        </p:nvSpPr>
        <p:spPr>
          <a:xfrm>
            <a:off x="1645920" y="1965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pursue wisdom above convenience, speed, or efficiency. I Will Guard My Heart:</a:t>
            </a:r>
            <a:endParaRPr lang="en-US" sz="1300" dirty="0"/>
          </a:p>
        </p:txBody>
      </p:sp>
      <p:sp>
        <p:nvSpPr>
          <p:cNvPr id="10" name="Shape 6"/>
          <p:cNvSpPr/>
          <p:nvPr/>
        </p:nvSpPr>
        <p:spPr>
          <a:xfrm>
            <a:off x="868680" y="2679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788920"/>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2889504"/>
            <a:ext cx="182880" cy="182880"/>
          </a:xfrm>
          <a:prstGeom prst="rect">
            <a:avLst/>
          </a:prstGeom>
        </p:spPr>
      </p:pic>
      <p:sp>
        <p:nvSpPr>
          <p:cNvPr id="13" name="Text 8"/>
          <p:cNvSpPr/>
          <p:nvPr/>
        </p:nvSpPr>
        <p:spPr>
          <a:xfrm>
            <a:off x="1645920" y="2679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carefully consider the content I consume</a:t>
            </a:r>
            <a:endParaRPr lang="en-US" sz="1300" dirty="0"/>
          </a:p>
        </p:txBody>
      </p:sp>
      <p:sp>
        <p:nvSpPr>
          <p:cNvPr id="14" name="Shape 9"/>
          <p:cNvSpPr/>
          <p:nvPr/>
        </p:nvSpPr>
        <p:spPr>
          <a:xfrm>
            <a:off x="868680" y="339242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502152"/>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602736"/>
            <a:ext cx="182880" cy="182880"/>
          </a:xfrm>
          <a:prstGeom prst="rect">
            <a:avLst/>
          </a:prstGeom>
        </p:spPr>
      </p:pic>
      <p:sp>
        <p:nvSpPr>
          <p:cNvPr id="17" name="Text 11"/>
          <p:cNvSpPr/>
          <p:nvPr/>
        </p:nvSpPr>
        <p:spPr>
          <a:xfrm>
            <a:off x="1645920" y="339242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establish healthy boundaries around technology</a:t>
            </a:r>
            <a:endParaRPr lang="en-US" sz="1300" dirty="0"/>
          </a:p>
        </p:txBody>
      </p:sp>
      <p:sp>
        <p:nvSpPr>
          <p:cNvPr id="18" name="Shape 12"/>
          <p:cNvSpPr/>
          <p:nvPr/>
        </p:nvSpPr>
        <p:spPr>
          <a:xfrm>
            <a:off x="868680" y="4105656"/>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215384"/>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315968"/>
            <a:ext cx="182880" cy="182880"/>
          </a:xfrm>
          <a:prstGeom prst="rect">
            <a:avLst/>
          </a:prstGeom>
        </p:spPr>
      </p:pic>
      <p:sp>
        <p:nvSpPr>
          <p:cNvPr id="21" name="Text 14"/>
          <p:cNvSpPr/>
          <p:nvPr/>
        </p:nvSpPr>
        <p:spPr>
          <a:xfrm>
            <a:off x="1645920" y="4105656"/>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protect my mind from influences that weaken my relationship with Christ</a:t>
            </a:r>
            <a:endParaRPr lang="en-US" sz="1300" dirty="0"/>
          </a:p>
        </p:txBody>
      </p:sp>
      <p:sp>
        <p:nvSpPr>
          <p:cNvPr id="22" name="Shape 15"/>
          <p:cNvSpPr/>
          <p:nvPr/>
        </p:nvSpPr>
        <p:spPr>
          <a:xfrm>
            <a:off x="868680" y="4818888"/>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4928616"/>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029200"/>
            <a:ext cx="182880" cy="182880"/>
          </a:xfrm>
          <a:prstGeom prst="rect">
            <a:avLst/>
          </a:prstGeom>
        </p:spPr>
      </p:pic>
      <p:sp>
        <p:nvSpPr>
          <p:cNvPr id="25" name="Text 17"/>
          <p:cNvSpPr/>
          <p:nvPr/>
        </p:nvSpPr>
        <p:spPr>
          <a:xfrm>
            <a:off x="1645920" y="4818888"/>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regularly examine my habits and motives before God. I Will Protect Truth:</a:t>
            </a:r>
            <a:endParaRPr lang="en-US" sz="1300" dirty="0"/>
          </a:p>
        </p:txBody>
      </p:sp>
      <p:sp>
        <p:nvSpPr>
          <p:cNvPr id="26" name="Shape 18"/>
          <p:cNvSpPr/>
          <p:nvPr/>
        </p:nvSpPr>
        <p:spPr>
          <a:xfrm>
            <a:off x="868680" y="553212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641848"/>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5742432"/>
            <a:ext cx="182880" cy="182880"/>
          </a:xfrm>
          <a:prstGeom prst="rect">
            <a:avLst/>
          </a:prstGeom>
        </p:spPr>
      </p:pic>
      <p:sp>
        <p:nvSpPr>
          <p:cNvPr id="29" name="Text 20"/>
          <p:cNvSpPr/>
          <p:nvPr/>
        </p:nvSpPr>
        <p:spPr>
          <a:xfrm>
            <a:off x="1645920" y="553212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value truth more than popularity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13–18</a:t>
            </a:r>
            <a:endParaRPr lang="en-US" sz="1500" dirty="0"/>
          </a:p>
        </p:txBody>
      </p:sp>
      <p:sp>
        <p:nvSpPr>
          <p:cNvPr id="6" name="Shape 3"/>
          <p:cNvSpPr/>
          <p:nvPr/>
        </p:nvSpPr>
        <p:spPr>
          <a:xfrm>
            <a:off x="868680" y="1965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075688"/>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176272"/>
            <a:ext cx="182880" cy="182880"/>
          </a:xfrm>
          <a:prstGeom prst="rect">
            <a:avLst/>
          </a:prstGeom>
        </p:spPr>
      </p:pic>
      <p:sp>
        <p:nvSpPr>
          <p:cNvPr id="9" name="Text 5"/>
          <p:cNvSpPr/>
          <p:nvPr/>
        </p:nvSpPr>
        <p:spPr>
          <a:xfrm>
            <a:off x="1645920" y="1965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verify information before sharing it</a:t>
            </a:r>
            <a:endParaRPr lang="en-US" sz="1300" dirty="0"/>
          </a:p>
        </p:txBody>
      </p:sp>
      <p:sp>
        <p:nvSpPr>
          <p:cNvPr id="10" name="Shape 6"/>
          <p:cNvSpPr/>
          <p:nvPr/>
        </p:nvSpPr>
        <p:spPr>
          <a:xfrm>
            <a:off x="868680" y="2679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788920"/>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2889504"/>
            <a:ext cx="182880" cy="182880"/>
          </a:xfrm>
          <a:prstGeom prst="rect">
            <a:avLst/>
          </a:prstGeom>
        </p:spPr>
      </p:pic>
      <p:sp>
        <p:nvSpPr>
          <p:cNvPr id="13" name="Text 8"/>
          <p:cNvSpPr/>
          <p:nvPr/>
        </p:nvSpPr>
        <p:spPr>
          <a:xfrm>
            <a:off x="1645920" y="2679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reject deception, manipulation, and dishonesty</a:t>
            </a:r>
            <a:endParaRPr lang="en-US" sz="1300" dirty="0"/>
          </a:p>
        </p:txBody>
      </p:sp>
      <p:sp>
        <p:nvSpPr>
          <p:cNvPr id="14" name="Shape 9"/>
          <p:cNvSpPr/>
          <p:nvPr/>
        </p:nvSpPr>
        <p:spPr>
          <a:xfrm>
            <a:off x="868680" y="339242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502152"/>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602736"/>
            <a:ext cx="182880" cy="182880"/>
          </a:xfrm>
          <a:prstGeom prst="rect">
            <a:avLst/>
          </a:prstGeom>
        </p:spPr>
      </p:pic>
      <p:sp>
        <p:nvSpPr>
          <p:cNvPr id="17" name="Text 11"/>
          <p:cNvSpPr/>
          <p:nvPr/>
        </p:nvSpPr>
        <p:spPr>
          <a:xfrm>
            <a:off x="1645920" y="339242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speak truthfully in every digital environment</a:t>
            </a:r>
            <a:endParaRPr lang="en-US" sz="1300" dirty="0"/>
          </a:p>
        </p:txBody>
      </p:sp>
      <p:sp>
        <p:nvSpPr>
          <p:cNvPr id="18" name="Shape 12"/>
          <p:cNvSpPr/>
          <p:nvPr/>
        </p:nvSpPr>
        <p:spPr>
          <a:xfrm>
            <a:off x="868680" y="4105656"/>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288536"/>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389120"/>
            <a:ext cx="182880" cy="182880"/>
          </a:xfrm>
          <a:prstGeom prst="rect">
            <a:avLst/>
          </a:prstGeom>
        </p:spPr>
      </p:pic>
      <p:sp>
        <p:nvSpPr>
          <p:cNvPr id="21" name="Text 14"/>
          <p:cNvSpPr/>
          <p:nvPr/>
        </p:nvSpPr>
        <p:spPr>
          <a:xfrm>
            <a:off x="1645920" y="4105656"/>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remember that every lie damages trust and every act of honesty honors God. I Will Honor Human Dignity: I believe every person is created in the image of God</a:t>
            </a:r>
            <a:endParaRPr lang="en-US" sz="1300" dirty="0"/>
          </a:p>
        </p:txBody>
      </p:sp>
      <p:sp>
        <p:nvSpPr>
          <p:cNvPr id="22" name="Shape 15"/>
          <p:cNvSpPr/>
          <p:nvPr/>
        </p:nvSpPr>
        <p:spPr>
          <a:xfrm>
            <a:off x="868680" y="4965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5074920"/>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175504"/>
            <a:ext cx="182880" cy="182880"/>
          </a:xfrm>
          <a:prstGeom prst="rect">
            <a:avLst/>
          </a:prstGeom>
        </p:spPr>
      </p:pic>
      <p:sp>
        <p:nvSpPr>
          <p:cNvPr id="25" name="Text 17"/>
          <p:cNvSpPr/>
          <p:nvPr/>
        </p:nvSpPr>
        <p:spPr>
          <a:xfrm>
            <a:off x="1645920" y="4965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treat others with respect, even when I disagree with them</a:t>
            </a:r>
            <a:endParaRPr lang="en-US" sz="1300" dirty="0"/>
          </a:p>
        </p:txBody>
      </p:sp>
      <p:sp>
        <p:nvSpPr>
          <p:cNvPr id="26" name="Shape 18"/>
          <p:cNvSpPr/>
          <p:nvPr/>
        </p:nvSpPr>
        <p:spPr>
          <a:xfrm>
            <a:off x="868680" y="567842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788152"/>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5888736"/>
            <a:ext cx="182880" cy="182880"/>
          </a:xfrm>
          <a:prstGeom prst="rect">
            <a:avLst/>
          </a:prstGeom>
        </p:spPr>
      </p:pic>
      <p:sp>
        <p:nvSpPr>
          <p:cNvPr id="29" name="Text 20"/>
          <p:cNvSpPr/>
          <p:nvPr/>
        </p:nvSpPr>
        <p:spPr>
          <a:xfrm>
            <a:off x="1645920" y="567842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refuse to dehumanize people online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19–24</a:t>
            </a:r>
            <a:endParaRPr lang="en-US" sz="1500" dirty="0"/>
          </a:p>
        </p:txBody>
      </p:sp>
      <p:sp>
        <p:nvSpPr>
          <p:cNvPr id="6" name="Shape 3"/>
          <p:cNvSpPr/>
          <p:nvPr/>
        </p:nvSpPr>
        <p:spPr>
          <a:xfrm>
            <a:off x="868680" y="1965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075688"/>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176272"/>
            <a:ext cx="182880" cy="182880"/>
          </a:xfrm>
          <a:prstGeom prst="rect">
            <a:avLst/>
          </a:prstGeom>
        </p:spPr>
      </p:pic>
      <p:sp>
        <p:nvSpPr>
          <p:cNvPr id="9" name="Text 5"/>
          <p:cNvSpPr/>
          <p:nvPr/>
        </p:nvSpPr>
        <p:spPr>
          <a:xfrm>
            <a:off x="1645920" y="1965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not use technology to exploit, manipulate, humiliate, or diminish others</a:t>
            </a:r>
            <a:endParaRPr lang="en-US" sz="1300" dirty="0"/>
          </a:p>
        </p:txBody>
      </p:sp>
      <p:sp>
        <p:nvSpPr>
          <p:cNvPr id="10" name="Shape 6"/>
          <p:cNvSpPr/>
          <p:nvPr/>
        </p:nvSpPr>
        <p:spPr>
          <a:xfrm>
            <a:off x="868680" y="2679192"/>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862072"/>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2962656"/>
            <a:ext cx="182880" cy="182880"/>
          </a:xfrm>
          <a:prstGeom prst="rect">
            <a:avLst/>
          </a:prstGeom>
        </p:spPr>
      </p:pic>
      <p:sp>
        <p:nvSpPr>
          <p:cNvPr id="13" name="Text 8"/>
          <p:cNvSpPr/>
          <p:nvPr/>
        </p:nvSpPr>
        <p:spPr>
          <a:xfrm>
            <a:off x="1645920" y="2679192"/>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remember that every username represents a real person loved by God. I Will Use Technology to Serve Others:</a:t>
            </a:r>
            <a:endParaRPr lang="en-US" sz="1300" dirty="0"/>
          </a:p>
        </p:txBody>
      </p:sp>
      <p:sp>
        <p:nvSpPr>
          <p:cNvPr id="14" name="Shape 9"/>
          <p:cNvSpPr/>
          <p:nvPr/>
        </p:nvSpPr>
        <p:spPr>
          <a:xfrm>
            <a:off x="868680" y="3538728"/>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648456"/>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749040"/>
            <a:ext cx="182880" cy="182880"/>
          </a:xfrm>
          <a:prstGeom prst="rect">
            <a:avLst/>
          </a:prstGeom>
        </p:spPr>
      </p:pic>
      <p:sp>
        <p:nvSpPr>
          <p:cNvPr id="17" name="Text 11"/>
          <p:cNvSpPr/>
          <p:nvPr/>
        </p:nvSpPr>
        <p:spPr>
          <a:xfrm>
            <a:off x="1645920" y="3538728"/>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view technology as a tool for stewardship and service</a:t>
            </a:r>
            <a:endParaRPr lang="en-US" sz="1300" dirty="0"/>
          </a:p>
        </p:txBody>
      </p:sp>
      <p:sp>
        <p:nvSpPr>
          <p:cNvPr id="18" name="Shape 12"/>
          <p:cNvSpPr/>
          <p:nvPr/>
        </p:nvSpPr>
        <p:spPr>
          <a:xfrm>
            <a:off x="868680" y="4251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361688"/>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462272"/>
            <a:ext cx="182880" cy="182880"/>
          </a:xfrm>
          <a:prstGeom prst="rect">
            <a:avLst/>
          </a:prstGeom>
        </p:spPr>
      </p:pic>
      <p:sp>
        <p:nvSpPr>
          <p:cNvPr id="21" name="Text 14"/>
          <p:cNvSpPr/>
          <p:nvPr/>
        </p:nvSpPr>
        <p:spPr>
          <a:xfrm>
            <a:off x="1645920" y="4251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seek opportunities to encourage, teach, protect, help, and bless others</a:t>
            </a:r>
            <a:endParaRPr lang="en-US" sz="1300" dirty="0"/>
          </a:p>
        </p:txBody>
      </p:sp>
      <p:sp>
        <p:nvSpPr>
          <p:cNvPr id="22" name="Shape 15"/>
          <p:cNvSpPr/>
          <p:nvPr/>
        </p:nvSpPr>
        <p:spPr>
          <a:xfrm>
            <a:off x="868680" y="4965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5074920"/>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175504"/>
            <a:ext cx="182880" cy="182880"/>
          </a:xfrm>
          <a:prstGeom prst="rect">
            <a:avLst/>
          </a:prstGeom>
        </p:spPr>
      </p:pic>
      <p:sp>
        <p:nvSpPr>
          <p:cNvPr id="25" name="Text 17"/>
          <p:cNvSpPr/>
          <p:nvPr/>
        </p:nvSpPr>
        <p:spPr>
          <a:xfrm>
            <a:off x="1645920" y="4965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use my skills and influence for the good of my neighbors</a:t>
            </a:r>
            <a:endParaRPr lang="en-US" sz="1300" dirty="0"/>
          </a:p>
        </p:txBody>
      </p:sp>
      <p:sp>
        <p:nvSpPr>
          <p:cNvPr id="26" name="Shape 18"/>
          <p:cNvSpPr/>
          <p:nvPr/>
        </p:nvSpPr>
        <p:spPr>
          <a:xfrm>
            <a:off x="868680" y="5678424"/>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861304"/>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5961888"/>
            <a:ext cx="182880" cy="182880"/>
          </a:xfrm>
          <a:prstGeom prst="rect">
            <a:avLst/>
          </a:prstGeom>
        </p:spPr>
      </p:pic>
      <p:sp>
        <p:nvSpPr>
          <p:cNvPr id="29" name="Text 20"/>
          <p:cNvSpPr/>
          <p:nvPr/>
        </p:nvSpPr>
        <p:spPr>
          <a:xfrm>
            <a:off x="1645920" y="5678424"/>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measure success not only by achievement but by service. I Will Practice Digital Integrity: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25–30</a:t>
            </a:r>
            <a:endParaRPr lang="en-US" sz="1500" dirty="0"/>
          </a:p>
        </p:txBody>
      </p:sp>
      <p:sp>
        <p:nvSpPr>
          <p:cNvPr id="6" name="Shape 3"/>
          <p:cNvSpPr/>
          <p:nvPr/>
        </p:nvSpPr>
        <p:spPr>
          <a:xfrm>
            <a:off x="868680" y="1965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075688"/>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176272"/>
            <a:ext cx="182880" cy="182880"/>
          </a:xfrm>
          <a:prstGeom prst="rect">
            <a:avLst/>
          </a:prstGeom>
        </p:spPr>
      </p:pic>
      <p:sp>
        <p:nvSpPr>
          <p:cNvPr id="9" name="Text 5"/>
          <p:cNvSpPr/>
          <p:nvPr/>
        </p:nvSpPr>
        <p:spPr>
          <a:xfrm>
            <a:off x="1645920" y="1965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be the same person online that I am offline</a:t>
            </a:r>
            <a:endParaRPr lang="en-US" sz="1300" dirty="0"/>
          </a:p>
        </p:txBody>
      </p:sp>
      <p:sp>
        <p:nvSpPr>
          <p:cNvPr id="10" name="Shape 6"/>
          <p:cNvSpPr/>
          <p:nvPr/>
        </p:nvSpPr>
        <p:spPr>
          <a:xfrm>
            <a:off x="868680" y="2679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788920"/>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2889504"/>
            <a:ext cx="182880" cy="182880"/>
          </a:xfrm>
          <a:prstGeom prst="rect">
            <a:avLst/>
          </a:prstGeom>
        </p:spPr>
      </p:pic>
      <p:sp>
        <p:nvSpPr>
          <p:cNvPr id="13" name="Text 8"/>
          <p:cNvSpPr/>
          <p:nvPr/>
        </p:nvSpPr>
        <p:spPr>
          <a:xfrm>
            <a:off x="1645920" y="2679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act with honesty when no one is watching</a:t>
            </a:r>
            <a:endParaRPr lang="en-US" sz="1300" dirty="0"/>
          </a:p>
        </p:txBody>
      </p:sp>
      <p:sp>
        <p:nvSpPr>
          <p:cNvPr id="14" name="Shape 9"/>
          <p:cNvSpPr/>
          <p:nvPr/>
        </p:nvSpPr>
        <p:spPr>
          <a:xfrm>
            <a:off x="868680" y="339242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502152"/>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602736"/>
            <a:ext cx="182880" cy="182880"/>
          </a:xfrm>
          <a:prstGeom prst="rect">
            <a:avLst/>
          </a:prstGeom>
        </p:spPr>
      </p:pic>
      <p:sp>
        <p:nvSpPr>
          <p:cNvPr id="17" name="Text 11"/>
          <p:cNvSpPr/>
          <p:nvPr/>
        </p:nvSpPr>
        <p:spPr>
          <a:xfrm>
            <a:off x="1645920" y="339242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not hide behind anonymity to excuse sinful behavior</a:t>
            </a:r>
            <a:endParaRPr lang="en-US" sz="1300" dirty="0"/>
          </a:p>
        </p:txBody>
      </p:sp>
      <p:sp>
        <p:nvSpPr>
          <p:cNvPr id="18" name="Shape 12"/>
          <p:cNvSpPr/>
          <p:nvPr/>
        </p:nvSpPr>
        <p:spPr>
          <a:xfrm>
            <a:off x="868680" y="4105656"/>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288536"/>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389120"/>
            <a:ext cx="182880" cy="182880"/>
          </a:xfrm>
          <a:prstGeom prst="rect">
            <a:avLst/>
          </a:prstGeom>
        </p:spPr>
      </p:pic>
      <p:sp>
        <p:nvSpPr>
          <p:cNvPr id="21" name="Text 14"/>
          <p:cNvSpPr/>
          <p:nvPr/>
        </p:nvSpPr>
        <p:spPr>
          <a:xfrm>
            <a:off x="1645920" y="4105656"/>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conduct myself in a manner worthy of Christ. My character will matter more than my reputation. I Will Exercise Discernment with Artificial Intelligence:</a:t>
            </a:r>
            <a:endParaRPr lang="en-US" sz="1300" dirty="0"/>
          </a:p>
        </p:txBody>
      </p:sp>
      <p:sp>
        <p:nvSpPr>
          <p:cNvPr id="22" name="Shape 15"/>
          <p:cNvSpPr/>
          <p:nvPr/>
        </p:nvSpPr>
        <p:spPr>
          <a:xfrm>
            <a:off x="868680" y="4965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5074920"/>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175504"/>
            <a:ext cx="182880" cy="182880"/>
          </a:xfrm>
          <a:prstGeom prst="rect">
            <a:avLst/>
          </a:prstGeom>
        </p:spPr>
      </p:pic>
      <p:sp>
        <p:nvSpPr>
          <p:cNvPr id="25" name="Text 17"/>
          <p:cNvSpPr/>
          <p:nvPr/>
        </p:nvSpPr>
        <p:spPr>
          <a:xfrm>
            <a:off x="1645920" y="4965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use AI thoughtfully and responsibly</a:t>
            </a:r>
            <a:endParaRPr lang="en-US" sz="1300" dirty="0"/>
          </a:p>
        </p:txBody>
      </p:sp>
      <p:sp>
        <p:nvSpPr>
          <p:cNvPr id="26" name="Shape 18"/>
          <p:cNvSpPr/>
          <p:nvPr/>
        </p:nvSpPr>
        <p:spPr>
          <a:xfrm>
            <a:off x="868680" y="567842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788152"/>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5888736"/>
            <a:ext cx="182880" cy="182880"/>
          </a:xfrm>
          <a:prstGeom prst="rect">
            <a:avLst/>
          </a:prstGeom>
        </p:spPr>
      </p:pic>
      <p:sp>
        <p:nvSpPr>
          <p:cNvPr id="29" name="Text 20"/>
          <p:cNvSpPr/>
          <p:nvPr/>
        </p:nvSpPr>
        <p:spPr>
          <a:xfrm>
            <a:off x="1645920" y="567842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remember that artificial intelligence is a tool, not a source of wisdom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31–36</a:t>
            </a:r>
            <a:endParaRPr lang="en-US" sz="1500" dirty="0"/>
          </a:p>
        </p:txBody>
      </p:sp>
      <p:sp>
        <p:nvSpPr>
          <p:cNvPr id="6" name="Shape 3"/>
          <p:cNvSpPr/>
          <p:nvPr/>
        </p:nvSpPr>
        <p:spPr>
          <a:xfrm>
            <a:off x="868680" y="1965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075688"/>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176272"/>
            <a:ext cx="182880" cy="182880"/>
          </a:xfrm>
          <a:prstGeom prst="rect">
            <a:avLst/>
          </a:prstGeom>
        </p:spPr>
      </p:pic>
      <p:sp>
        <p:nvSpPr>
          <p:cNvPr id="9" name="Text 5"/>
          <p:cNvSpPr/>
          <p:nvPr/>
        </p:nvSpPr>
        <p:spPr>
          <a:xfrm>
            <a:off x="1645920" y="1965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maintain human responsibility for my decisions</a:t>
            </a:r>
            <a:endParaRPr lang="en-US" sz="1300" dirty="0"/>
          </a:p>
        </p:txBody>
      </p:sp>
      <p:sp>
        <p:nvSpPr>
          <p:cNvPr id="10" name="Shape 6"/>
          <p:cNvSpPr/>
          <p:nvPr/>
        </p:nvSpPr>
        <p:spPr>
          <a:xfrm>
            <a:off x="868680" y="2679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788920"/>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2889504"/>
            <a:ext cx="182880" cy="182880"/>
          </a:xfrm>
          <a:prstGeom prst="rect">
            <a:avLst/>
          </a:prstGeom>
        </p:spPr>
      </p:pic>
      <p:sp>
        <p:nvSpPr>
          <p:cNvPr id="13" name="Text 8"/>
          <p:cNvSpPr/>
          <p:nvPr/>
        </p:nvSpPr>
        <p:spPr>
          <a:xfrm>
            <a:off x="1645920" y="2679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evaluate AI through biblical principles</a:t>
            </a:r>
            <a:endParaRPr lang="en-US" sz="1300" dirty="0"/>
          </a:p>
        </p:txBody>
      </p:sp>
      <p:sp>
        <p:nvSpPr>
          <p:cNvPr id="14" name="Shape 9"/>
          <p:cNvSpPr/>
          <p:nvPr/>
        </p:nvSpPr>
        <p:spPr>
          <a:xfrm>
            <a:off x="868680" y="339242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502152"/>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602736"/>
            <a:ext cx="182880" cy="182880"/>
          </a:xfrm>
          <a:prstGeom prst="rect">
            <a:avLst/>
          </a:prstGeom>
        </p:spPr>
      </p:pic>
      <p:sp>
        <p:nvSpPr>
          <p:cNvPr id="17" name="Text 11"/>
          <p:cNvSpPr/>
          <p:nvPr/>
        </p:nvSpPr>
        <p:spPr>
          <a:xfrm>
            <a:off x="1645920" y="339242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ensure that efficiency never replaces integrity. I Will Maintain Healthy Boundaries:</a:t>
            </a:r>
            <a:endParaRPr lang="en-US" sz="1300" dirty="0"/>
          </a:p>
        </p:txBody>
      </p:sp>
      <p:sp>
        <p:nvSpPr>
          <p:cNvPr id="18" name="Shape 12"/>
          <p:cNvSpPr/>
          <p:nvPr/>
        </p:nvSpPr>
        <p:spPr>
          <a:xfrm>
            <a:off x="868680" y="4105656"/>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215384"/>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315968"/>
            <a:ext cx="182880" cy="182880"/>
          </a:xfrm>
          <a:prstGeom prst="rect">
            <a:avLst/>
          </a:prstGeom>
        </p:spPr>
      </p:pic>
      <p:sp>
        <p:nvSpPr>
          <p:cNvPr id="21" name="Text 14"/>
          <p:cNvSpPr/>
          <p:nvPr/>
        </p:nvSpPr>
        <p:spPr>
          <a:xfrm>
            <a:off x="1645920" y="4105656"/>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create rhythms of rest</a:t>
            </a:r>
            <a:endParaRPr lang="en-US" sz="1300" dirty="0"/>
          </a:p>
        </p:txBody>
      </p:sp>
      <p:sp>
        <p:nvSpPr>
          <p:cNvPr id="22" name="Shape 15"/>
          <p:cNvSpPr/>
          <p:nvPr/>
        </p:nvSpPr>
        <p:spPr>
          <a:xfrm>
            <a:off x="868680" y="4818888"/>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4928616"/>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029200"/>
            <a:ext cx="182880" cy="182880"/>
          </a:xfrm>
          <a:prstGeom prst="rect">
            <a:avLst/>
          </a:prstGeom>
        </p:spPr>
      </p:pic>
      <p:sp>
        <p:nvSpPr>
          <p:cNvPr id="25" name="Text 17"/>
          <p:cNvSpPr/>
          <p:nvPr/>
        </p:nvSpPr>
        <p:spPr>
          <a:xfrm>
            <a:off x="1645920" y="4818888"/>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establish technology-free moments</a:t>
            </a:r>
            <a:endParaRPr lang="en-US" sz="1300" dirty="0"/>
          </a:p>
        </p:txBody>
      </p:sp>
      <p:sp>
        <p:nvSpPr>
          <p:cNvPr id="26" name="Shape 18"/>
          <p:cNvSpPr/>
          <p:nvPr/>
        </p:nvSpPr>
        <p:spPr>
          <a:xfrm>
            <a:off x="868680" y="553212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641848"/>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5742432"/>
            <a:ext cx="182880" cy="182880"/>
          </a:xfrm>
          <a:prstGeom prst="rect">
            <a:avLst/>
          </a:prstGeom>
        </p:spPr>
      </p:pic>
      <p:sp>
        <p:nvSpPr>
          <p:cNvPr id="29" name="Text 20"/>
          <p:cNvSpPr/>
          <p:nvPr/>
        </p:nvSpPr>
        <p:spPr>
          <a:xfrm>
            <a:off x="1645920" y="553212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prioritize relationships over devices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37–42</a:t>
            </a:r>
            <a:endParaRPr lang="en-US" sz="1500" dirty="0"/>
          </a:p>
        </p:txBody>
      </p:sp>
      <p:sp>
        <p:nvSpPr>
          <p:cNvPr id="6" name="Shape 3"/>
          <p:cNvSpPr/>
          <p:nvPr/>
        </p:nvSpPr>
        <p:spPr>
          <a:xfrm>
            <a:off x="868680" y="1965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075688"/>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176272"/>
            <a:ext cx="182880" cy="182880"/>
          </a:xfrm>
          <a:prstGeom prst="rect">
            <a:avLst/>
          </a:prstGeom>
        </p:spPr>
      </p:pic>
      <p:sp>
        <p:nvSpPr>
          <p:cNvPr id="9" name="Text 5"/>
          <p:cNvSpPr/>
          <p:nvPr/>
        </p:nvSpPr>
        <p:spPr>
          <a:xfrm>
            <a:off x="1645920" y="1965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protect time for worship, prayer, family, and community</a:t>
            </a:r>
            <a:endParaRPr lang="en-US" sz="1300" dirty="0"/>
          </a:p>
        </p:txBody>
      </p:sp>
      <p:sp>
        <p:nvSpPr>
          <p:cNvPr id="10" name="Shape 6"/>
          <p:cNvSpPr/>
          <p:nvPr/>
        </p:nvSpPr>
        <p:spPr>
          <a:xfrm>
            <a:off x="868680" y="2679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788920"/>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2889504"/>
            <a:ext cx="182880" cy="182880"/>
          </a:xfrm>
          <a:prstGeom prst="rect">
            <a:avLst/>
          </a:prstGeom>
        </p:spPr>
      </p:pic>
      <p:sp>
        <p:nvSpPr>
          <p:cNvPr id="13" name="Text 8"/>
          <p:cNvSpPr/>
          <p:nvPr/>
        </p:nvSpPr>
        <p:spPr>
          <a:xfrm>
            <a:off x="1645920" y="2679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remember that my value does not come from productivity. I Will Practice Sabbath:</a:t>
            </a:r>
            <a:endParaRPr lang="en-US" sz="1300" dirty="0"/>
          </a:p>
        </p:txBody>
      </p:sp>
      <p:sp>
        <p:nvSpPr>
          <p:cNvPr id="14" name="Shape 9"/>
          <p:cNvSpPr/>
          <p:nvPr/>
        </p:nvSpPr>
        <p:spPr>
          <a:xfrm>
            <a:off x="868680" y="3392424"/>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502152"/>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602736"/>
            <a:ext cx="182880" cy="182880"/>
          </a:xfrm>
          <a:prstGeom prst="rect">
            <a:avLst/>
          </a:prstGeom>
        </p:spPr>
      </p:pic>
      <p:sp>
        <p:nvSpPr>
          <p:cNvPr id="17" name="Text 11"/>
          <p:cNvSpPr/>
          <p:nvPr/>
        </p:nvSpPr>
        <p:spPr>
          <a:xfrm>
            <a:off x="1645920" y="3392424"/>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intentionally disconnect</a:t>
            </a:r>
            <a:endParaRPr lang="en-US" sz="1300" dirty="0"/>
          </a:p>
        </p:txBody>
      </p:sp>
      <p:sp>
        <p:nvSpPr>
          <p:cNvPr id="18" name="Shape 12"/>
          <p:cNvSpPr/>
          <p:nvPr/>
        </p:nvSpPr>
        <p:spPr>
          <a:xfrm>
            <a:off x="868680" y="4105656"/>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215384"/>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315968"/>
            <a:ext cx="182880" cy="182880"/>
          </a:xfrm>
          <a:prstGeom prst="rect">
            <a:avLst/>
          </a:prstGeom>
        </p:spPr>
      </p:pic>
      <p:sp>
        <p:nvSpPr>
          <p:cNvPr id="21" name="Text 14"/>
          <p:cNvSpPr/>
          <p:nvPr/>
        </p:nvSpPr>
        <p:spPr>
          <a:xfrm>
            <a:off x="1645920" y="4105656"/>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trust God enough to rest</a:t>
            </a:r>
            <a:endParaRPr lang="en-US" sz="1300" dirty="0"/>
          </a:p>
        </p:txBody>
      </p:sp>
      <p:sp>
        <p:nvSpPr>
          <p:cNvPr id="22" name="Shape 15"/>
          <p:cNvSpPr/>
          <p:nvPr/>
        </p:nvSpPr>
        <p:spPr>
          <a:xfrm>
            <a:off x="868680" y="4818888"/>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4928616"/>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029200"/>
            <a:ext cx="182880" cy="182880"/>
          </a:xfrm>
          <a:prstGeom prst="rect">
            <a:avLst/>
          </a:prstGeom>
        </p:spPr>
      </p:pic>
      <p:sp>
        <p:nvSpPr>
          <p:cNvPr id="25" name="Text 17"/>
          <p:cNvSpPr/>
          <p:nvPr/>
        </p:nvSpPr>
        <p:spPr>
          <a:xfrm>
            <a:off x="1645920" y="4818888"/>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resist the pressure to remain constantly available</a:t>
            </a:r>
            <a:endParaRPr lang="en-US" sz="1300" dirty="0"/>
          </a:p>
        </p:txBody>
      </p:sp>
      <p:sp>
        <p:nvSpPr>
          <p:cNvPr id="26" name="Shape 18"/>
          <p:cNvSpPr/>
          <p:nvPr/>
        </p:nvSpPr>
        <p:spPr>
          <a:xfrm>
            <a:off x="868680" y="553212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641848"/>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5742432"/>
            <a:ext cx="182880" cy="182880"/>
          </a:xfrm>
          <a:prstGeom prst="rect">
            <a:avLst/>
          </a:prstGeom>
        </p:spPr>
      </p:pic>
      <p:sp>
        <p:nvSpPr>
          <p:cNvPr id="29" name="Text 20"/>
          <p:cNvSpPr/>
          <p:nvPr/>
        </p:nvSpPr>
        <p:spPr>
          <a:xfrm>
            <a:off x="1645920" y="553212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receive God's gift of renewal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43–48</a:t>
            </a:r>
            <a:endParaRPr lang="en-US" sz="1500" dirty="0"/>
          </a:p>
        </p:txBody>
      </p:sp>
      <p:sp>
        <p:nvSpPr>
          <p:cNvPr id="6" name="Shape 3"/>
          <p:cNvSpPr/>
          <p:nvPr/>
        </p:nvSpPr>
        <p:spPr>
          <a:xfrm>
            <a:off x="868680" y="1965960"/>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48840"/>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249424"/>
            <a:ext cx="182880" cy="182880"/>
          </a:xfrm>
          <a:prstGeom prst="rect">
            <a:avLst/>
          </a:prstGeom>
        </p:spPr>
      </p:pic>
      <p:sp>
        <p:nvSpPr>
          <p:cNvPr id="9" name="Text 5"/>
          <p:cNvSpPr/>
          <p:nvPr/>
        </p:nvSpPr>
        <p:spPr>
          <a:xfrm>
            <a:off x="1645920" y="1965960"/>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remember that the world is sustained by God, not by my activity. I Will Be a Faithful Digital Witness:</a:t>
            </a:r>
            <a:endParaRPr lang="en-US" sz="1300" dirty="0"/>
          </a:p>
        </p:txBody>
      </p:sp>
      <p:sp>
        <p:nvSpPr>
          <p:cNvPr id="10" name="Shape 6"/>
          <p:cNvSpPr/>
          <p:nvPr/>
        </p:nvSpPr>
        <p:spPr>
          <a:xfrm>
            <a:off x="868680" y="2825496"/>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935224"/>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3035808"/>
            <a:ext cx="182880" cy="182880"/>
          </a:xfrm>
          <a:prstGeom prst="rect">
            <a:avLst/>
          </a:prstGeom>
        </p:spPr>
      </p:pic>
      <p:sp>
        <p:nvSpPr>
          <p:cNvPr id="13" name="Text 8"/>
          <p:cNvSpPr/>
          <p:nvPr/>
        </p:nvSpPr>
        <p:spPr>
          <a:xfrm>
            <a:off x="1645920" y="2825496"/>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speak with grace and truth</a:t>
            </a:r>
            <a:endParaRPr lang="en-US" sz="1300" dirty="0"/>
          </a:p>
        </p:txBody>
      </p:sp>
      <p:sp>
        <p:nvSpPr>
          <p:cNvPr id="14" name="Shape 9"/>
          <p:cNvSpPr/>
          <p:nvPr/>
        </p:nvSpPr>
        <p:spPr>
          <a:xfrm>
            <a:off x="868680" y="3538728"/>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5" name="Shape 10"/>
          <p:cNvSpPr/>
          <p:nvPr/>
        </p:nvSpPr>
        <p:spPr>
          <a:xfrm>
            <a:off x="1097280" y="3648456"/>
            <a:ext cx="384048" cy="384048"/>
          </a:xfrm>
          <a:prstGeom prst="ellipse">
            <a:avLst/>
          </a:prstGeom>
          <a:solidFill>
            <a:srgbClr val="5A6B4D"/>
          </a:solidFill>
          <a:ln/>
        </p:spPr>
      </p:sp>
      <p:pic>
        <p:nvPicPr>
          <p:cNvPr id="16" name="Image 3" descr="preencoded.png">    </p:cNvPr>
          <p:cNvPicPr>
            <a:picLocks noChangeAspect="1"/>
          </p:cNvPicPr>
          <p:nvPr/>
        </p:nvPicPr>
        <p:blipFill>
          <a:blip r:embed="rId4"/>
          <a:stretch>
            <a:fillRect/>
          </a:stretch>
        </p:blipFill>
        <p:spPr>
          <a:xfrm>
            <a:off x="1197864" y="3749040"/>
            <a:ext cx="182880" cy="182880"/>
          </a:xfrm>
          <a:prstGeom prst="rect">
            <a:avLst/>
          </a:prstGeom>
        </p:spPr>
      </p:pic>
      <p:sp>
        <p:nvSpPr>
          <p:cNvPr id="17" name="Text 11"/>
          <p:cNvSpPr/>
          <p:nvPr/>
        </p:nvSpPr>
        <p:spPr>
          <a:xfrm>
            <a:off x="1645920" y="3538728"/>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seek peace when possible</a:t>
            </a:r>
            <a:endParaRPr lang="en-US" sz="1300" dirty="0"/>
          </a:p>
        </p:txBody>
      </p:sp>
      <p:sp>
        <p:nvSpPr>
          <p:cNvPr id="18" name="Shape 12"/>
          <p:cNvSpPr/>
          <p:nvPr/>
        </p:nvSpPr>
        <p:spPr>
          <a:xfrm>
            <a:off x="868680" y="4251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3"/>
          <p:cNvSpPr/>
          <p:nvPr/>
        </p:nvSpPr>
        <p:spPr>
          <a:xfrm>
            <a:off x="1097280" y="4361688"/>
            <a:ext cx="384048" cy="384048"/>
          </a:xfrm>
          <a:prstGeom prst="ellipse">
            <a:avLst/>
          </a:prstGeom>
          <a:solidFill>
            <a:srgbClr val="5A6B4D"/>
          </a:solidFill>
          <a:ln/>
        </p:spPr>
      </p:sp>
      <p:pic>
        <p:nvPicPr>
          <p:cNvPr id="20" name="Image 4" descr="preencoded.png">    </p:cNvPr>
          <p:cNvPicPr>
            <a:picLocks noChangeAspect="1"/>
          </p:cNvPicPr>
          <p:nvPr/>
        </p:nvPicPr>
        <p:blipFill>
          <a:blip r:embed="rId5"/>
          <a:stretch>
            <a:fillRect/>
          </a:stretch>
        </p:blipFill>
        <p:spPr>
          <a:xfrm>
            <a:off x="1197864" y="4462272"/>
            <a:ext cx="182880" cy="182880"/>
          </a:xfrm>
          <a:prstGeom prst="rect">
            <a:avLst/>
          </a:prstGeom>
        </p:spPr>
      </p:pic>
      <p:sp>
        <p:nvSpPr>
          <p:cNvPr id="21" name="Text 14"/>
          <p:cNvSpPr/>
          <p:nvPr/>
        </p:nvSpPr>
        <p:spPr>
          <a:xfrm>
            <a:off x="1645920" y="4251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demonstrate humility</a:t>
            </a:r>
            <a:endParaRPr lang="en-US" sz="1300" dirty="0"/>
          </a:p>
        </p:txBody>
      </p:sp>
      <p:sp>
        <p:nvSpPr>
          <p:cNvPr id="22" name="Shape 15"/>
          <p:cNvSpPr/>
          <p:nvPr/>
        </p:nvSpPr>
        <p:spPr>
          <a:xfrm>
            <a:off x="868680" y="4965192"/>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3" name="Shape 16"/>
          <p:cNvSpPr/>
          <p:nvPr/>
        </p:nvSpPr>
        <p:spPr>
          <a:xfrm>
            <a:off x="1097280" y="5074920"/>
            <a:ext cx="384048" cy="384048"/>
          </a:xfrm>
          <a:prstGeom prst="ellipse">
            <a:avLst/>
          </a:prstGeom>
          <a:solidFill>
            <a:srgbClr val="5A6B4D"/>
          </a:solidFill>
          <a:ln/>
        </p:spPr>
      </p:sp>
      <p:pic>
        <p:nvPicPr>
          <p:cNvPr id="24" name="Image 5" descr="preencoded.png">    </p:cNvPr>
          <p:cNvPicPr>
            <a:picLocks noChangeAspect="1"/>
          </p:cNvPicPr>
          <p:nvPr/>
        </p:nvPicPr>
        <p:blipFill>
          <a:blip r:embed="rId6"/>
          <a:stretch>
            <a:fillRect/>
          </a:stretch>
        </p:blipFill>
        <p:spPr>
          <a:xfrm>
            <a:off x="1197864" y="5175504"/>
            <a:ext cx="182880" cy="182880"/>
          </a:xfrm>
          <a:prstGeom prst="rect">
            <a:avLst/>
          </a:prstGeom>
        </p:spPr>
      </p:pic>
      <p:sp>
        <p:nvSpPr>
          <p:cNvPr id="25" name="Text 17"/>
          <p:cNvSpPr/>
          <p:nvPr/>
        </p:nvSpPr>
        <p:spPr>
          <a:xfrm>
            <a:off x="1645920" y="4965192"/>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represent Christ honorably in every conversation</a:t>
            </a:r>
            <a:endParaRPr lang="en-US" sz="1300" dirty="0"/>
          </a:p>
        </p:txBody>
      </p:sp>
      <p:sp>
        <p:nvSpPr>
          <p:cNvPr id="26" name="Shape 18"/>
          <p:cNvSpPr/>
          <p:nvPr/>
        </p:nvSpPr>
        <p:spPr>
          <a:xfrm>
            <a:off x="868680" y="5678424"/>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7" name="Shape 19"/>
          <p:cNvSpPr/>
          <p:nvPr/>
        </p:nvSpPr>
        <p:spPr>
          <a:xfrm>
            <a:off x="1097280" y="5861304"/>
            <a:ext cx="384048" cy="384048"/>
          </a:xfrm>
          <a:prstGeom prst="ellipse">
            <a:avLst/>
          </a:prstGeom>
          <a:solidFill>
            <a:srgbClr val="5A6B4D"/>
          </a:solidFill>
          <a:ln/>
        </p:spPr>
      </p:sp>
      <p:pic>
        <p:nvPicPr>
          <p:cNvPr id="28" name="Image 6" descr="preencoded.png">    </p:cNvPr>
          <p:cNvPicPr>
            <a:picLocks noChangeAspect="1"/>
          </p:cNvPicPr>
          <p:nvPr/>
        </p:nvPicPr>
        <p:blipFill>
          <a:blip r:embed="rId7"/>
          <a:stretch>
            <a:fillRect/>
          </a:stretch>
        </p:blipFill>
        <p:spPr>
          <a:xfrm>
            <a:off x="1197864" y="5961888"/>
            <a:ext cx="182880" cy="182880"/>
          </a:xfrm>
          <a:prstGeom prst="rect">
            <a:avLst/>
          </a:prstGeom>
        </p:spPr>
      </p:pic>
      <p:sp>
        <p:nvSpPr>
          <p:cNvPr id="29" name="Text 20"/>
          <p:cNvSpPr/>
          <p:nvPr/>
        </p:nvSpPr>
        <p:spPr>
          <a:xfrm>
            <a:off x="1645920" y="5678424"/>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use my online presence to point others toward hope. I Will Live with Eternal Perspective: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 Will…</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Commitments 49–50</a:t>
            </a:r>
            <a:endParaRPr lang="en-US" sz="1500" dirty="0"/>
          </a:p>
        </p:txBody>
      </p:sp>
      <p:sp>
        <p:nvSpPr>
          <p:cNvPr id="6" name="Shape 3"/>
          <p:cNvSpPr/>
          <p:nvPr/>
        </p:nvSpPr>
        <p:spPr>
          <a:xfrm>
            <a:off x="868680" y="1965960"/>
            <a:ext cx="10424160" cy="603504"/>
          </a:xfrm>
          <a:prstGeom prst="roundRect">
            <a:avLst>
              <a:gd name="adj" fmla="val 1363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075688"/>
            <a:ext cx="384048" cy="384048"/>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1197864" y="2176272"/>
            <a:ext cx="182880" cy="182880"/>
          </a:xfrm>
          <a:prstGeom prst="rect">
            <a:avLst/>
          </a:prstGeom>
        </p:spPr>
      </p:pic>
      <p:sp>
        <p:nvSpPr>
          <p:cNvPr id="9" name="Text 5"/>
          <p:cNvSpPr/>
          <p:nvPr/>
        </p:nvSpPr>
        <p:spPr>
          <a:xfrm>
            <a:off x="1645920" y="1965960"/>
            <a:ext cx="9418320" cy="603504"/>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invest my life in what has eternal value</a:t>
            </a:r>
            <a:endParaRPr lang="en-US" sz="1300" dirty="0"/>
          </a:p>
        </p:txBody>
      </p:sp>
      <p:sp>
        <p:nvSpPr>
          <p:cNvPr id="10" name="Shape 6"/>
          <p:cNvSpPr/>
          <p:nvPr/>
        </p:nvSpPr>
        <p:spPr>
          <a:xfrm>
            <a:off x="868680" y="2679192"/>
            <a:ext cx="10424160" cy="749808"/>
          </a:xfrm>
          <a:prstGeom prst="roundRect">
            <a:avLst>
              <a:gd name="adj" fmla="val 1097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Shape 7"/>
          <p:cNvSpPr/>
          <p:nvPr/>
        </p:nvSpPr>
        <p:spPr>
          <a:xfrm>
            <a:off x="1097280" y="2862072"/>
            <a:ext cx="384048" cy="384048"/>
          </a:xfrm>
          <a:prstGeom prst="ellipse">
            <a:avLst/>
          </a:prstGeom>
          <a:solidFill>
            <a:srgbClr val="5A6B4D"/>
          </a:solidFill>
          <a:ln/>
        </p:spPr>
      </p:sp>
      <p:pic>
        <p:nvPicPr>
          <p:cNvPr id="12" name="Image 2" descr="preencoded.png">    </p:cNvPr>
          <p:cNvPicPr>
            <a:picLocks noChangeAspect="1"/>
          </p:cNvPicPr>
          <p:nvPr/>
        </p:nvPicPr>
        <p:blipFill>
          <a:blip r:embed="rId3"/>
          <a:stretch>
            <a:fillRect/>
          </a:stretch>
        </p:blipFill>
        <p:spPr>
          <a:xfrm>
            <a:off x="1197864" y="2962656"/>
            <a:ext cx="182880" cy="182880"/>
          </a:xfrm>
          <a:prstGeom prst="rect">
            <a:avLst/>
          </a:prstGeom>
        </p:spPr>
      </p:pic>
      <p:sp>
        <p:nvSpPr>
          <p:cNvPr id="13" name="Text 8"/>
          <p:cNvSpPr/>
          <p:nvPr/>
        </p:nvSpPr>
        <p:spPr>
          <a:xfrm>
            <a:off x="1645920" y="2679192"/>
            <a:ext cx="9418320" cy="74980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I will remember that my greatest calling is not technological success. My greatest calling is faithfulness to Jesus Christ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Two More Versions</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For families and for technologists</a:t>
            </a:r>
            <a:endParaRPr lang="en-US" sz="1500" dirty="0"/>
          </a:p>
        </p:txBody>
      </p:sp>
      <p:sp>
        <p:nvSpPr>
          <p:cNvPr id="6" name="Shape 3"/>
          <p:cNvSpPr/>
          <p:nvPr/>
        </p:nvSpPr>
        <p:spPr>
          <a:xfrm>
            <a:off x="868680" y="2011680"/>
            <a:ext cx="4983480" cy="3657600"/>
          </a:xfrm>
          <a:prstGeom prst="roundRect">
            <a:avLst>
              <a:gd name="adj" fmla="val 300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188720" y="2286000"/>
            <a:ext cx="731520" cy="731520"/>
          </a:xfrm>
          <a:prstGeom prst="ellipse">
            <a:avLst/>
          </a:prstGeom>
          <a:solidFill>
            <a:srgbClr val="B85042"/>
          </a:solidFill>
          <a:ln/>
        </p:spPr>
      </p:sp>
      <p:pic>
        <p:nvPicPr>
          <p:cNvPr id="8" name="Image 1" descr="preencoded.png">    </p:cNvPr>
          <p:cNvPicPr>
            <a:picLocks noChangeAspect="1"/>
          </p:cNvPicPr>
          <p:nvPr/>
        </p:nvPicPr>
        <p:blipFill>
          <a:blip r:embed="rId2"/>
          <a:stretch>
            <a:fillRect/>
          </a:stretch>
        </p:blipFill>
        <p:spPr>
          <a:xfrm>
            <a:off x="1371600" y="2468880"/>
            <a:ext cx="365760" cy="365760"/>
          </a:xfrm>
          <a:prstGeom prst="rect">
            <a:avLst/>
          </a:prstGeom>
        </p:spPr>
      </p:pic>
      <p:sp>
        <p:nvSpPr>
          <p:cNvPr id="9" name="Text 5"/>
          <p:cNvSpPr/>
          <p:nvPr/>
        </p:nvSpPr>
        <p:spPr>
          <a:xfrm>
            <a:off x="2057400" y="2331720"/>
            <a:ext cx="3566160" cy="640080"/>
          </a:xfrm>
          <a:prstGeom prst="rect">
            <a:avLst/>
          </a:prstGeom>
          <a:noFill/>
          <a:ln/>
        </p:spPr>
        <p:txBody>
          <a:bodyPr wrap="square" rtlCol="0" anchor="ctr"/>
          <a:lstStyle/>
          <a:p>
            <a:pPr indent="0" marL="0">
              <a:buNone/>
            </a:pPr>
            <a:r>
              <a:rPr lang="en-US" sz="1800" b="1" dirty="0">
                <a:solidFill>
                  <a:srgbClr val="3E4A33"/>
                </a:solidFill>
                <a:latin typeface="Bookman Old Style" pitchFamily="34" charset="0"/>
                <a:ea typeface="Bookman Old Style" pitchFamily="34" charset="-122"/>
                <a:cs typeface="Bookman Old Style" pitchFamily="34" charset="-120"/>
              </a:rPr>
              <a:t>A Family Version</a:t>
            </a:r>
            <a:endParaRPr lang="en-US" sz="1800" dirty="0"/>
          </a:p>
        </p:txBody>
      </p:sp>
      <p:sp>
        <p:nvSpPr>
          <p:cNvPr id="10" name="Text 6"/>
          <p:cNvSpPr/>
          <p:nvPr/>
        </p:nvSpPr>
        <p:spPr>
          <a:xfrm>
            <a:off x="1234440" y="3200400"/>
            <a:ext cx="4297680" cy="2331720"/>
          </a:xfrm>
          <a:prstGeom prst="rect">
            <a:avLst/>
          </a:prstGeom>
          <a:noFill/>
          <a:ln/>
        </p:spPr>
        <p:txBody>
          <a:bodyPr wrap="square" rtlCol="0" anchor="t"/>
          <a:lstStyle/>
          <a:p>
            <a:pPr indent="0" marL="0">
              <a:lnSpc>
                <a:spcPct val="110000"/>
              </a:lnSpc>
              <a:buNone/>
            </a:pPr>
            <a:r>
              <a:rPr lang="en-US" sz="1250" dirty="0">
                <a:solidFill>
                  <a:srgbClr val="37352E"/>
                </a:solidFill>
                <a:latin typeface="Calibri" pitchFamily="34" charset="0"/>
                <a:ea typeface="Calibri" pitchFamily="34" charset="-122"/>
                <a:cs typeface="Calibri" pitchFamily="34" charset="-120"/>
              </a:rPr>
              <a:t>Families may choose to adopt this commitment together: We will use technology as a servant, not a master. We will prioritize relationships over screens. We will protect truth. We will honor one another. We will create space for worship and rest. We will encourage wise technology habits. We will help each other follow Christ faithfully. We will remember that our identity is found in God, not in digital approval. As for our house, we will serve the Lord.</a:t>
            </a:r>
            <a:endParaRPr lang="en-US" sz="1250" dirty="0"/>
          </a:p>
        </p:txBody>
      </p:sp>
      <p:sp>
        <p:nvSpPr>
          <p:cNvPr id="11" name="Shape 7"/>
          <p:cNvSpPr/>
          <p:nvPr/>
        </p:nvSpPr>
        <p:spPr>
          <a:xfrm>
            <a:off x="6309360" y="2011680"/>
            <a:ext cx="4983480" cy="3657600"/>
          </a:xfrm>
          <a:prstGeom prst="roundRect">
            <a:avLst>
              <a:gd name="adj" fmla="val 300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2" name="Shape 8"/>
          <p:cNvSpPr/>
          <p:nvPr/>
        </p:nvSpPr>
        <p:spPr>
          <a:xfrm>
            <a:off x="6629400" y="2286000"/>
            <a:ext cx="731520" cy="731520"/>
          </a:xfrm>
          <a:prstGeom prst="ellipse">
            <a:avLst/>
          </a:prstGeom>
          <a:solidFill>
            <a:srgbClr val="B85042"/>
          </a:solidFill>
          <a:ln/>
        </p:spPr>
      </p:sp>
      <p:pic>
        <p:nvPicPr>
          <p:cNvPr id="13" name="Image 2" descr="preencoded.png">    </p:cNvPr>
          <p:cNvPicPr>
            <a:picLocks noChangeAspect="1"/>
          </p:cNvPicPr>
          <p:nvPr/>
        </p:nvPicPr>
        <p:blipFill>
          <a:blip r:embed="rId3"/>
          <a:stretch>
            <a:fillRect/>
          </a:stretch>
        </p:blipFill>
        <p:spPr>
          <a:xfrm>
            <a:off x="6812280" y="2468880"/>
            <a:ext cx="365760" cy="365760"/>
          </a:xfrm>
          <a:prstGeom prst="rect">
            <a:avLst/>
          </a:prstGeom>
        </p:spPr>
      </p:pic>
      <p:sp>
        <p:nvSpPr>
          <p:cNvPr id="14" name="Text 9"/>
          <p:cNvSpPr/>
          <p:nvPr/>
        </p:nvSpPr>
        <p:spPr>
          <a:xfrm>
            <a:off x="7498080" y="2331720"/>
            <a:ext cx="3566160" cy="640080"/>
          </a:xfrm>
          <a:prstGeom prst="rect">
            <a:avLst/>
          </a:prstGeom>
          <a:noFill/>
          <a:ln/>
        </p:spPr>
        <p:txBody>
          <a:bodyPr wrap="square" rtlCol="0" anchor="ctr"/>
          <a:lstStyle/>
          <a:p>
            <a:pPr indent="0" marL="0">
              <a:buNone/>
            </a:pPr>
            <a:r>
              <a:rPr lang="en-US" sz="1800" b="1" dirty="0">
                <a:solidFill>
                  <a:srgbClr val="3E4A33"/>
                </a:solidFill>
                <a:latin typeface="Bookman Old Style" pitchFamily="34" charset="0"/>
                <a:ea typeface="Bookman Old Style" pitchFamily="34" charset="-122"/>
                <a:cs typeface="Bookman Old Style" pitchFamily="34" charset="-120"/>
              </a:rPr>
              <a:t>For Christian Technologists</a:t>
            </a:r>
            <a:endParaRPr lang="en-US" sz="1800" dirty="0"/>
          </a:p>
        </p:txBody>
      </p:sp>
      <p:sp>
        <p:nvSpPr>
          <p:cNvPr id="15" name="Text 10"/>
          <p:cNvSpPr/>
          <p:nvPr/>
        </p:nvSpPr>
        <p:spPr>
          <a:xfrm>
            <a:off x="6675120" y="3200400"/>
            <a:ext cx="4297680" cy="2331720"/>
          </a:xfrm>
          <a:prstGeom prst="rect">
            <a:avLst/>
          </a:prstGeom>
          <a:noFill/>
          <a:ln/>
        </p:spPr>
        <p:txBody>
          <a:bodyPr wrap="square" rtlCol="0" anchor="t"/>
          <a:lstStyle/>
          <a:p>
            <a:pPr indent="0" marL="0">
              <a:lnSpc>
                <a:spcPct val="110000"/>
              </a:lnSpc>
              <a:buNone/>
            </a:pPr>
            <a:r>
              <a:rPr lang="en-US" sz="1250" dirty="0">
                <a:solidFill>
                  <a:srgbClr val="37352E"/>
                </a:solidFill>
                <a:latin typeface="Calibri" pitchFamily="34" charset="0"/>
                <a:ea typeface="Calibri" pitchFamily="34" charset="-122"/>
                <a:cs typeface="Calibri" pitchFamily="34" charset="-120"/>
              </a:rPr>
              <a:t>As a technology professional, I further commit: to design responsibly, to lead ethically, to protect people, to value privacy, to seek justice, to steward influence wisely, to pursue excellence without pride, to place character above capability. I will remember that technological power requires spiritual maturity, and I will use my gifts for God's glory and the good of others.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PRAYER OF COMMITMENT</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1900" i="1" dirty="0">
                <a:solidFill>
                  <a:srgbClr val="FBF9F3"/>
                </a:solidFill>
                <a:latin typeface="Bookman Old Style" pitchFamily="34" charset="0"/>
                <a:ea typeface="Bookman Old Style" pitchFamily="34" charset="-122"/>
                <a:cs typeface="Bookman Old Style" pitchFamily="34" charset="-120"/>
              </a:rPr>
              <a:t>"Father, thank You for the opportunities and responsibilities You have entrusted to me. I dedicate my mind, my attention, my influence, my work, and my technology use to You. Help me honor You in every digital interaction. Give me wisdom when facing difficult decisions. Give me courage when culture moves in the wrong direction. Give me humility when success comes. Give me faith when uncertainty grows. May my devices, platforms, skills, knowledge, and influence become instruments of Your purposes. Help me live faithfully in this generation. And help me leave a legacy that points others to Christ. In Jesus' name, Amen."</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N</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The Digital Disciple's Covenant</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N</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