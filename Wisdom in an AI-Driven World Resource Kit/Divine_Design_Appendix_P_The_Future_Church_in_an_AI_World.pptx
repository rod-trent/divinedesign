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P</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4600" b="1" dirty="0">
                <a:solidFill>
                  <a:srgbClr val="FBF9F3"/>
                </a:solidFill>
                <a:latin typeface="Bookman Old Style" pitchFamily="34" charset="0"/>
                <a:ea typeface="Bookman Old Style" pitchFamily="34" charset="-122"/>
                <a:cs typeface="Bookman Old Style" pitchFamily="34" charset="-120"/>
              </a:rPr>
              <a:t>The Future Church in an AI World</a:t>
            </a:r>
            <a:endParaRPr lang="en-US" sz="46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Remaining Faithful When Everything Is Changing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What's Inside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The sections of this resource</a:t>
            </a:r>
            <a:endParaRPr lang="en-US" sz="1500" dirty="0"/>
          </a:p>
        </p:txBody>
      </p:sp>
      <p:sp>
        <p:nvSpPr>
          <p:cNvPr id="6" name="Shape 3"/>
          <p:cNvSpPr/>
          <p:nvPr/>
        </p:nvSpPr>
        <p:spPr>
          <a:xfrm>
            <a:off x="868680" y="1783080"/>
            <a:ext cx="457200" cy="457200"/>
          </a:xfrm>
          <a:prstGeom prst="ellipse">
            <a:avLst/>
          </a:prstGeom>
          <a:solidFill>
            <a:srgbClr val="B85042"/>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5270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Introduction</a:t>
            </a:r>
            <a:endParaRPr lang="en-US" sz="1300" dirty="0"/>
          </a:p>
        </p:txBody>
      </p:sp>
      <p:sp>
        <p:nvSpPr>
          <p:cNvPr id="9" name="Shape 6"/>
          <p:cNvSpPr/>
          <p:nvPr/>
        </p:nvSpPr>
        <p:spPr>
          <a:xfrm>
            <a:off x="868680" y="2350008"/>
            <a:ext cx="457200" cy="457200"/>
          </a:xfrm>
          <a:prstGeom prst="ellipse">
            <a:avLst/>
          </a:prstGeom>
          <a:solidFill>
            <a:srgbClr val="B85042"/>
          </a:solidFill>
          <a:ln/>
        </p:spPr>
      </p:sp>
      <p:sp>
        <p:nvSpPr>
          <p:cNvPr id="10" name="Text 7"/>
          <p:cNvSpPr/>
          <p:nvPr/>
        </p:nvSpPr>
        <p:spPr>
          <a:xfrm>
            <a:off x="8686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2</a:t>
            </a:r>
            <a:endParaRPr lang="en-US" sz="1400" dirty="0"/>
          </a:p>
        </p:txBody>
      </p:sp>
      <p:sp>
        <p:nvSpPr>
          <p:cNvPr id="11" name="Text 8"/>
          <p:cNvSpPr/>
          <p:nvPr/>
        </p:nvSpPr>
        <p:spPr>
          <a:xfrm>
            <a:off x="15270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Church Has Always Adapted</a:t>
            </a:r>
            <a:endParaRPr lang="en-US" sz="1300" dirty="0"/>
          </a:p>
        </p:txBody>
      </p:sp>
      <p:sp>
        <p:nvSpPr>
          <p:cNvPr id="12" name="Shape 9"/>
          <p:cNvSpPr/>
          <p:nvPr/>
        </p:nvSpPr>
        <p:spPr>
          <a:xfrm>
            <a:off x="868680" y="2916936"/>
            <a:ext cx="457200" cy="457200"/>
          </a:xfrm>
          <a:prstGeom prst="ellipse">
            <a:avLst/>
          </a:prstGeom>
          <a:solidFill>
            <a:srgbClr val="B85042"/>
          </a:solidFill>
          <a:ln/>
        </p:spPr>
      </p:sp>
      <p:sp>
        <p:nvSpPr>
          <p:cNvPr id="13" name="Text 10"/>
          <p:cNvSpPr/>
          <p:nvPr/>
        </p:nvSpPr>
        <p:spPr>
          <a:xfrm>
            <a:off x="8686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3</a:t>
            </a:r>
            <a:endParaRPr lang="en-US" sz="1400" dirty="0"/>
          </a:p>
        </p:txBody>
      </p:sp>
      <p:sp>
        <p:nvSpPr>
          <p:cNvPr id="14" name="Text 11"/>
          <p:cNvSpPr/>
          <p:nvPr/>
        </p:nvSpPr>
        <p:spPr>
          <a:xfrm>
            <a:off x="15270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AI Cannot Replace the Church</a:t>
            </a:r>
            <a:endParaRPr lang="en-US" sz="1300" dirty="0"/>
          </a:p>
        </p:txBody>
      </p:sp>
      <p:sp>
        <p:nvSpPr>
          <p:cNvPr id="15" name="Shape 12"/>
          <p:cNvSpPr/>
          <p:nvPr/>
        </p:nvSpPr>
        <p:spPr>
          <a:xfrm>
            <a:off x="868680" y="3483864"/>
            <a:ext cx="457200" cy="457200"/>
          </a:xfrm>
          <a:prstGeom prst="ellipse">
            <a:avLst/>
          </a:prstGeom>
          <a:solidFill>
            <a:srgbClr val="B85042"/>
          </a:solidFill>
          <a:ln/>
        </p:spPr>
      </p:sp>
      <p:sp>
        <p:nvSpPr>
          <p:cNvPr id="16" name="Text 13"/>
          <p:cNvSpPr/>
          <p:nvPr/>
        </p:nvSpPr>
        <p:spPr>
          <a:xfrm>
            <a:off x="8686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4</a:t>
            </a:r>
            <a:endParaRPr lang="en-US" sz="1400" dirty="0"/>
          </a:p>
        </p:txBody>
      </p:sp>
      <p:sp>
        <p:nvSpPr>
          <p:cNvPr id="17" name="Text 14"/>
          <p:cNvSpPr/>
          <p:nvPr/>
        </p:nvSpPr>
        <p:spPr>
          <a:xfrm>
            <a:off x="15270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Loneliness Opportunity</a:t>
            </a:r>
            <a:endParaRPr lang="en-US" sz="1300" dirty="0"/>
          </a:p>
        </p:txBody>
      </p:sp>
      <p:sp>
        <p:nvSpPr>
          <p:cNvPr id="18" name="Shape 15"/>
          <p:cNvSpPr/>
          <p:nvPr/>
        </p:nvSpPr>
        <p:spPr>
          <a:xfrm>
            <a:off x="868680" y="4050792"/>
            <a:ext cx="457200" cy="457200"/>
          </a:xfrm>
          <a:prstGeom prst="ellipse">
            <a:avLst/>
          </a:prstGeom>
          <a:solidFill>
            <a:srgbClr val="B85042"/>
          </a:solidFill>
          <a:ln/>
        </p:spPr>
      </p:sp>
      <p:sp>
        <p:nvSpPr>
          <p:cNvPr id="19" name="Text 16"/>
          <p:cNvSpPr/>
          <p:nvPr/>
        </p:nvSpPr>
        <p:spPr>
          <a:xfrm>
            <a:off x="8686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5</a:t>
            </a:r>
            <a:endParaRPr lang="en-US" sz="1400" dirty="0"/>
          </a:p>
        </p:txBody>
      </p:sp>
      <p:sp>
        <p:nvSpPr>
          <p:cNvPr id="20" name="Text 17"/>
          <p:cNvSpPr/>
          <p:nvPr/>
        </p:nvSpPr>
        <p:spPr>
          <a:xfrm>
            <a:off x="15270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Value of Embodied Presence</a:t>
            </a:r>
            <a:endParaRPr lang="en-US" sz="1300" dirty="0"/>
          </a:p>
        </p:txBody>
      </p:sp>
      <p:sp>
        <p:nvSpPr>
          <p:cNvPr id="21" name="Shape 18"/>
          <p:cNvSpPr/>
          <p:nvPr/>
        </p:nvSpPr>
        <p:spPr>
          <a:xfrm>
            <a:off x="868680" y="4617720"/>
            <a:ext cx="457200" cy="457200"/>
          </a:xfrm>
          <a:prstGeom prst="ellipse">
            <a:avLst/>
          </a:prstGeom>
          <a:solidFill>
            <a:srgbClr val="B85042"/>
          </a:solidFill>
          <a:ln/>
        </p:spPr>
      </p:sp>
      <p:sp>
        <p:nvSpPr>
          <p:cNvPr id="22" name="Text 19"/>
          <p:cNvSpPr/>
          <p:nvPr/>
        </p:nvSpPr>
        <p:spPr>
          <a:xfrm>
            <a:off x="8686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6</a:t>
            </a:r>
            <a:endParaRPr lang="en-US" sz="1400" dirty="0"/>
          </a:p>
        </p:txBody>
      </p:sp>
      <p:sp>
        <p:nvSpPr>
          <p:cNvPr id="23" name="Text 20"/>
          <p:cNvSpPr/>
          <p:nvPr/>
        </p:nvSpPr>
        <p:spPr>
          <a:xfrm>
            <a:off x="15270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Church as a Place of Truth</a:t>
            </a:r>
            <a:endParaRPr lang="en-US" sz="1300" dirty="0"/>
          </a:p>
        </p:txBody>
      </p:sp>
      <p:sp>
        <p:nvSpPr>
          <p:cNvPr id="24" name="Shape 21"/>
          <p:cNvSpPr/>
          <p:nvPr/>
        </p:nvSpPr>
        <p:spPr>
          <a:xfrm>
            <a:off x="868680" y="5184648"/>
            <a:ext cx="457200" cy="457200"/>
          </a:xfrm>
          <a:prstGeom prst="ellipse">
            <a:avLst/>
          </a:prstGeom>
          <a:solidFill>
            <a:srgbClr val="B85042"/>
          </a:solidFill>
          <a:ln/>
        </p:spPr>
      </p:sp>
      <p:sp>
        <p:nvSpPr>
          <p:cNvPr id="25" name="Text 22"/>
          <p:cNvSpPr/>
          <p:nvPr/>
        </p:nvSpPr>
        <p:spPr>
          <a:xfrm>
            <a:off x="8686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7</a:t>
            </a:r>
            <a:endParaRPr lang="en-US" sz="1400" dirty="0"/>
          </a:p>
        </p:txBody>
      </p:sp>
      <p:sp>
        <p:nvSpPr>
          <p:cNvPr id="26" name="Text 23"/>
          <p:cNvSpPr/>
          <p:nvPr/>
        </p:nvSpPr>
        <p:spPr>
          <a:xfrm>
            <a:off x="15270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Church as a School of Wisdom</a:t>
            </a:r>
            <a:endParaRPr lang="en-US" sz="1300" dirty="0"/>
          </a:p>
        </p:txBody>
      </p:sp>
      <p:sp>
        <p:nvSpPr>
          <p:cNvPr id="27" name="Shape 24"/>
          <p:cNvSpPr/>
          <p:nvPr/>
        </p:nvSpPr>
        <p:spPr>
          <a:xfrm>
            <a:off x="868680" y="5751576"/>
            <a:ext cx="457200" cy="457200"/>
          </a:xfrm>
          <a:prstGeom prst="ellipse">
            <a:avLst/>
          </a:prstGeom>
          <a:solidFill>
            <a:srgbClr val="B85042"/>
          </a:solidFill>
          <a:ln/>
        </p:spPr>
      </p:sp>
      <p:sp>
        <p:nvSpPr>
          <p:cNvPr id="28" name="Text 25"/>
          <p:cNvSpPr/>
          <p:nvPr/>
        </p:nvSpPr>
        <p:spPr>
          <a:xfrm>
            <a:off x="8686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8</a:t>
            </a:r>
            <a:endParaRPr lang="en-US" sz="1400" dirty="0"/>
          </a:p>
        </p:txBody>
      </p:sp>
      <p:sp>
        <p:nvSpPr>
          <p:cNvPr id="29" name="Text 26"/>
          <p:cNvSpPr/>
          <p:nvPr/>
        </p:nvSpPr>
        <p:spPr>
          <a:xfrm>
            <a:off x="15270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Digital Missionaries</a:t>
            </a:r>
            <a:endParaRPr lang="en-US" sz="1300" dirty="0"/>
          </a:p>
        </p:txBody>
      </p:sp>
      <p:sp>
        <p:nvSpPr>
          <p:cNvPr id="30" name="Shape 27"/>
          <p:cNvSpPr/>
          <p:nvPr/>
        </p:nvSpPr>
        <p:spPr>
          <a:xfrm>
            <a:off x="868680" y="6318504"/>
            <a:ext cx="457200" cy="457200"/>
          </a:xfrm>
          <a:prstGeom prst="ellipse">
            <a:avLst/>
          </a:prstGeom>
          <a:solidFill>
            <a:srgbClr val="B85042"/>
          </a:solidFill>
          <a:ln/>
        </p:spPr>
      </p:sp>
      <p:sp>
        <p:nvSpPr>
          <p:cNvPr id="31" name="Text 28"/>
          <p:cNvSpPr/>
          <p:nvPr/>
        </p:nvSpPr>
        <p:spPr>
          <a:xfrm>
            <a:off x="868680" y="631850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9</a:t>
            </a:r>
            <a:endParaRPr lang="en-US" sz="1400" dirty="0"/>
          </a:p>
        </p:txBody>
      </p:sp>
      <p:sp>
        <p:nvSpPr>
          <p:cNvPr id="32" name="Text 29"/>
          <p:cNvSpPr/>
          <p:nvPr/>
        </p:nvSpPr>
        <p:spPr>
          <a:xfrm>
            <a:off x="1527048" y="627278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AI-Assisted Ministry</a:t>
            </a:r>
            <a:endParaRPr lang="en-US" sz="1300" dirty="0"/>
          </a:p>
        </p:txBody>
      </p:sp>
      <p:sp>
        <p:nvSpPr>
          <p:cNvPr id="33" name="Shape 30"/>
          <p:cNvSpPr/>
          <p:nvPr/>
        </p:nvSpPr>
        <p:spPr>
          <a:xfrm>
            <a:off x="6355080" y="1783080"/>
            <a:ext cx="457200" cy="457200"/>
          </a:xfrm>
          <a:prstGeom prst="ellipse">
            <a:avLst/>
          </a:prstGeom>
          <a:solidFill>
            <a:srgbClr val="B85042"/>
          </a:solidFill>
          <a:ln/>
        </p:spPr>
      </p:sp>
      <p:sp>
        <p:nvSpPr>
          <p:cNvPr id="34" name="Text 31"/>
          <p:cNvSpPr/>
          <p:nvPr/>
        </p:nvSpPr>
        <p:spPr>
          <a:xfrm>
            <a:off x="6355080" y="178308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10</a:t>
            </a:r>
            <a:endParaRPr lang="en-US" sz="1400" dirty="0"/>
          </a:p>
        </p:txBody>
      </p:sp>
      <p:sp>
        <p:nvSpPr>
          <p:cNvPr id="35" name="Text 32"/>
          <p:cNvSpPr/>
          <p:nvPr/>
        </p:nvSpPr>
        <p:spPr>
          <a:xfrm>
            <a:off x="7013448" y="173736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Protecting Humanity in a Technological Age</a:t>
            </a:r>
            <a:endParaRPr lang="en-US" sz="1300" dirty="0"/>
          </a:p>
        </p:txBody>
      </p:sp>
      <p:sp>
        <p:nvSpPr>
          <p:cNvPr id="36" name="Shape 33"/>
          <p:cNvSpPr/>
          <p:nvPr/>
        </p:nvSpPr>
        <p:spPr>
          <a:xfrm>
            <a:off x="6355080" y="2350008"/>
            <a:ext cx="457200" cy="457200"/>
          </a:xfrm>
          <a:prstGeom prst="ellipse">
            <a:avLst/>
          </a:prstGeom>
          <a:solidFill>
            <a:srgbClr val="B85042"/>
          </a:solidFill>
          <a:ln/>
        </p:spPr>
      </p:sp>
      <p:sp>
        <p:nvSpPr>
          <p:cNvPr id="37" name="Text 34"/>
          <p:cNvSpPr/>
          <p:nvPr/>
        </p:nvSpPr>
        <p:spPr>
          <a:xfrm>
            <a:off x="6355080" y="235000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11</a:t>
            </a:r>
            <a:endParaRPr lang="en-US" sz="1400" dirty="0"/>
          </a:p>
        </p:txBody>
      </p:sp>
      <p:sp>
        <p:nvSpPr>
          <p:cNvPr id="38" name="Text 35"/>
          <p:cNvSpPr/>
          <p:nvPr/>
        </p:nvSpPr>
        <p:spPr>
          <a:xfrm>
            <a:off x="7013448" y="230428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Next Generation</a:t>
            </a:r>
            <a:endParaRPr lang="en-US" sz="1300" dirty="0"/>
          </a:p>
        </p:txBody>
      </p:sp>
      <p:sp>
        <p:nvSpPr>
          <p:cNvPr id="39" name="Shape 36"/>
          <p:cNvSpPr/>
          <p:nvPr/>
        </p:nvSpPr>
        <p:spPr>
          <a:xfrm>
            <a:off x="6355080" y="2916936"/>
            <a:ext cx="457200" cy="457200"/>
          </a:xfrm>
          <a:prstGeom prst="ellipse">
            <a:avLst/>
          </a:prstGeom>
          <a:solidFill>
            <a:srgbClr val="B85042"/>
          </a:solidFill>
          <a:ln/>
        </p:spPr>
      </p:sp>
      <p:sp>
        <p:nvSpPr>
          <p:cNvPr id="40" name="Text 37"/>
          <p:cNvSpPr/>
          <p:nvPr/>
        </p:nvSpPr>
        <p:spPr>
          <a:xfrm>
            <a:off x="6355080" y="291693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12</a:t>
            </a:r>
            <a:endParaRPr lang="en-US" sz="1400" dirty="0"/>
          </a:p>
        </p:txBody>
      </p:sp>
      <p:sp>
        <p:nvSpPr>
          <p:cNvPr id="41" name="Text 38"/>
          <p:cNvSpPr/>
          <p:nvPr/>
        </p:nvSpPr>
        <p:spPr>
          <a:xfrm>
            <a:off x="7013448" y="287121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The Future of Apologetics</a:t>
            </a:r>
            <a:endParaRPr lang="en-US" sz="1300" dirty="0"/>
          </a:p>
        </p:txBody>
      </p:sp>
      <p:sp>
        <p:nvSpPr>
          <p:cNvPr id="42" name="Shape 39"/>
          <p:cNvSpPr/>
          <p:nvPr/>
        </p:nvSpPr>
        <p:spPr>
          <a:xfrm>
            <a:off x="6355080" y="3483864"/>
            <a:ext cx="457200" cy="457200"/>
          </a:xfrm>
          <a:prstGeom prst="ellipse">
            <a:avLst/>
          </a:prstGeom>
          <a:solidFill>
            <a:srgbClr val="B85042"/>
          </a:solidFill>
          <a:ln/>
        </p:spPr>
      </p:sp>
      <p:sp>
        <p:nvSpPr>
          <p:cNvPr id="43" name="Text 40"/>
          <p:cNvSpPr/>
          <p:nvPr/>
        </p:nvSpPr>
        <p:spPr>
          <a:xfrm>
            <a:off x="6355080" y="3483864"/>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13</a:t>
            </a:r>
            <a:endParaRPr lang="en-US" sz="1400" dirty="0"/>
          </a:p>
        </p:txBody>
      </p:sp>
      <p:sp>
        <p:nvSpPr>
          <p:cNvPr id="44" name="Text 41"/>
          <p:cNvSpPr/>
          <p:nvPr/>
        </p:nvSpPr>
        <p:spPr>
          <a:xfrm>
            <a:off x="7013448" y="3438144"/>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Why the Church May Become More Important</a:t>
            </a:r>
            <a:endParaRPr lang="en-US" sz="1300" dirty="0"/>
          </a:p>
        </p:txBody>
      </p:sp>
      <p:sp>
        <p:nvSpPr>
          <p:cNvPr id="45" name="Shape 42"/>
          <p:cNvSpPr/>
          <p:nvPr/>
        </p:nvSpPr>
        <p:spPr>
          <a:xfrm>
            <a:off x="6355080" y="4050792"/>
            <a:ext cx="457200" cy="457200"/>
          </a:xfrm>
          <a:prstGeom prst="ellipse">
            <a:avLst/>
          </a:prstGeom>
          <a:solidFill>
            <a:srgbClr val="B85042"/>
          </a:solidFill>
          <a:ln/>
        </p:spPr>
      </p:sp>
      <p:sp>
        <p:nvSpPr>
          <p:cNvPr id="46" name="Text 43"/>
          <p:cNvSpPr/>
          <p:nvPr/>
        </p:nvSpPr>
        <p:spPr>
          <a:xfrm>
            <a:off x="6355080" y="4050792"/>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14</a:t>
            </a:r>
            <a:endParaRPr lang="en-US" sz="1400" dirty="0"/>
          </a:p>
        </p:txBody>
      </p:sp>
      <p:sp>
        <p:nvSpPr>
          <p:cNvPr id="47" name="Text 44"/>
          <p:cNvSpPr/>
          <p:nvPr/>
        </p:nvSpPr>
        <p:spPr>
          <a:xfrm>
            <a:off x="7013448" y="4005072"/>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What Will Never Change</a:t>
            </a:r>
            <a:endParaRPr lang="en-US" sz="1300" dirty="0"/>
          </a:p>
        </p:txBody>
      </p:sp>
      <p:sp>
        <p:nvSpPr>
          <p:cNvPr id="48" name="Shape 45"/>
          <p:cNvSpPr/>
          <p:nvPr/>
        </p:nvSpPr>
        <p:spPr>
          <a:xfrm>
            <a:off x="6355080" y="4617720"/>
            <a:ext cx="457200" cy="457200"/>
          </a:xfrm>
          <a:prstGeom prst="ellipse">
            <a:avLst/>
          </a:prstGeom>
          <a:solidFill>
            <a:srgbClr val="B85042"/>
          </a:solidFill>
          <a:ln/>
        </p:spPr>
      </p:sp>
      <p:sp>
        <p:nvSpPr>
          <p:cNvPr id="49" name="Text 46"/>
          <p:cNvSpPr/>
          <p:nvPr/>
        </p:nvSpPr>
        <p:spPr>
          <a:xfrm>
            <a:off x="6355080" y="4617720"/>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15</a:t>
            </a:r>
            <a:endParaRPr lang="en-US" sz="1400" dirty="0"/>
          </a:p>
        </p:txBody>
      </p:sp>
      <p:sp>
        <p:nvSpPr>
          <p:cNvPr id="50" name="Text 47"/>
          <p:cNvSpPr/>
          <p:nvPr/>
        </p:nvSpPr>
        <p:spPr>
          <a:xfrm>
            <a:off x="7013448" y="4572000"/>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A Vision for the Future Church</a:t>
            </a:r>
            <a:endParaRPr lang="en-US" sz="1300" dirty="0"/>
          </a:p>
        </p:txBody>
      </p:sp>
      <p:sp>
        <p:nvSpPr>
          <p:cNvPr id="51" name="Shape 48"/>
          <p:cNvSpPr/>
          <p:nvPr/>
        </p:nvSpPr>
        <p:spPr>
          <a:xfrm>
            <a:off x="6355080" y="5184648"/>
            <a:ext cx="457200" cy="457200"/>
          </a:xfrm>
          <a:prstGeom prst="ellipse">
            <a:avLst/>
          </a:prstGeom>
          <a:solidFill>
            <a:srgbClr val="B85042"/>
          </a:solidFill>
          <a:ln/>
        </p:spPr>
      </p:sp>
      <p:sp>
        <p:nvSpPr>
          <p:cNvPr id="52" name="Text 49"/>
          <p:cNvSpPr/>
          <p:nvPr/>
        </p:nvSpPr>
        <p:spPr>
          <a:xfrm>
            <a:off x="6355080" y="5184648"/>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16</a:t>
            </a:r>
            <a:endParaRPr lang="en-US" sz="1400" dirty="0"/>
          </a:p>
        </p:txBody>
      </p:sp>
      <p:sp>
        <p:nvSpPr>
          <p:cNvPr id="53" name="Text 50"/>
          <p:cNvSpPr/>
          <p:nvPr/>
        </p:nvSpPr>
        <p:spPr>
          <a:xfrm>
            <a:off x="7013448" y="5138928"/>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Prayer for the Future Church</a:t>
            </a:r>
            <a:endParaRPr lang="en-US" sz="1300" dirty="0"/>
          </a:p>
        </p:txBody>
      </p:sp>
      <p:sp>
        <p:nvSpPr>
          <p:cNvPr id="54" name="Shape 51"/>
          <p:cNvSpPr/>
          <p:nvPr/>
        </p:nvSpPr>
        <p:spPr>
          <a:xfrm>
            <a:off x="6355080" y="5751576"/>
            <a:ext cx="457200" cy="457200"/>
          </a:xfrm>
          <a:prstGeom prst="ellipse">
            <a:avLst/>
          </a:prstGeom>
          <a:solidFill>
            <a:srgbClr val="B85042"/>
          </a:solidFill>
          <a:ln/>
        </p:spPr>
      </p:sp>
      <p:sp>
        <p:nvSpPr>
          <p:cNvPr id="55" name="Text 52"/>
          <p:cNvSpPr/>
          <p:nvPr/>
        </p:nvSpPr>
        <p:spPr>
          <a:xfrm>
            <a:off x="6355080" y="5751576"/>
            <a:ext cx="457200" cy="457200"/>
          </a:xfrm>
          <a:prstGeom prst="rect">
            <a:avLst/>
          </a:prstGeom>
          <a:noFill/>
          <a:ln/>
        </p:spPr>
        <p:txBody>
          <a:bodyPr wrap="square" rtlCol="0" anchor="ctr"/>
          <a:lstStyle/>
          <a:p>
            <a:pPr algn="ctr" indent="0" marL="0">
              <a:buNone/>
            </a:pPr>
            <a:r>
              <a:rPr lang="en-US" sz="1400" b="1" dirty="0">
                <a:solidFill>
                  <a:srgbClr val="FBF9F3"/>
                </a:solidFill>
                <a:latin typeface="Calibri" pitchFamily="34" charset="0"/>
                <a:ea typeface="Calibri" pitchFamily="34" charset="-122"/>
                <a:cs typeface="Calibri" pitchFamily="34" charset="-120"/>
              </a:rPr>
              <a:t>17</a:t>
            </a:r>
            <a:endParaRPr lang="en-US" sz="1400" dirty="0"/>
          </a:p>
        </p:txBody>
      </p:sp>
      <p:sp>
        <p:nvSpPr>
          <p:cNvPr id="56" name="Text 53"/>
          <p:cNvSpPr/>
          <p:nvPr/>
        </p:nvSpPr>
        <p:spPr>
          <a:xfrm>
            <a:off x="7013448" y="5705856"/>
            <a:ext cx="4937760" cy="548640"/>
          </a:xfrm>
          <a:prstGeom prst="rect">
            <a:avLst/>
          </a:prstGeom>
          <a:noFill/>
          <a:ln/>
        </p:spPr>
        <p:txBody>
          <a:bodyPr wrap="square" rtlCol="0" anchor="ctr"/>
          <a:lstStyle/>
          <a:p>
            <a:pPr indent="0" marL="0">
              <a:buNone/>
            </a:pPr>
            <a:r>
              <a:rPr lang="en-US" sz="1300" b="1" dirty="0">
                <a:solidFill>
                  <a:srgbClr val="37352E"/>
                </a:solidFill>
                <a:latin typeface="Calibri" pitchFamily="34" charset="0"/>
                <a:ea typeface="Calibri" pitchFamily="34" charset="-122"/>
                <a:cs typeface="Calibri" pitchFamily="34" charset="-120"/>
              </a:rPr>
              <a:t>Final Charge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01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Introduction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Every generation wonders about the future. Ours asks with unique urgency as AI reshapes what human life will look like.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02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Church Has Always Adapted</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The church has thrived through empires, the printing press, and the internet. It has always adapted without losing its center.</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03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AI Cannot Replace the Church</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AI can generate information but cannot create community. It can answer questions but cannot bear one another's burdens.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04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Loneliness Opportunity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We are more connected and more lonely than ever. The church's embodied belonging is exactly what this moment aches for.</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05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Value of Embodied Presence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We were made not merely to exchange information but for presence — touch, hospitality, shared meals, worship together.</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06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Church as a Place of Truth</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As deepfakes and synthetic media multiply, trustworthy truth becomes precious — and the church can be a place people trust.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07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Church as a School of Wisdom</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Information is getting cheaper; wisdom is getting more valuable. The church can be where people learn to live wisely.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08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Digital Missionaries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Mission fields are no longer only geographic. The future church will raise up digital missionaries for online spaces.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09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AI-Assisted Ministry</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Future leaders will use AI for translation, accessibility, and administration in ways that seem remarkable today.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10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Protecting Humanity in a Technological Age</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As society defines people by productivity, the church must insist that human worth rests in the image of God.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11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Next Generation</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Future generations will face AI companions and synthetic realities — yet still need the same truth, belonging, and hope.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12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The Future of Apologetics</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Tomorrow's questions — can machines think, what is a person — will need thoughtful, humble Christian answers.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13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Why the Church May Become More Important</a:t>
            </a:r>
            <a:endParaRPr lang="en-US" sz="30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Many assume technology makes faith irrelevant. History suggests the opposite — the church may matter more, not less.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14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What Will Never Change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Platforms and devices will change endlessly. The gospel, human need, and the character of God will not.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15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A Vision for the Future Church</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300" dirty="0">
                <a:solidFill>
                  <a:srgbClr val="37352E"/>
                </a:solidFill>
                <a:latin typeface="Bookman Old Style" pitchFamily="34" charset="0"/>
                <a:ea typeface="Bookman Old Style" pitchFamily="34" charset="-122"/>
                <a:cs typeface="Bookman Old Style" pitchFamily="34" charset="-120"/>
              </a:rPr>
              <a:t>A church that uses technology wisely, guards truth courageously, disciples intentionally, and defends human dignity boldly.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96392E"/>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400" b="1" spc="200" kern="0" dirty="0">
                <a:solidFill>
                  <a:srgbClr val="C9A15A"/>
                </a:solidFill>
                <a:latin typeface="Bookman Old Style" pitchFamily="34" charset="0"/>
                <a:ea typeface="Bookman Old Style" pitchFamily="34" charset="-122"/>
                <a:cs typeface="Bookman Old Style" pitchFamily="34" charset="-120"/>
              </a:rPr>
              <a:t>PRAYER FOR THE FUTURE CHURCH</a:t>
            </a:r>
            <a:endParaRPr lang="en-US" sz="2400" dirty="0"/>
          </a:p>
        </p:txBody>
      </p:sp>
      <p:sp>
        <p:nvSpPr>
          <p:cNvPr id="6" name="Shape 3"/>
          <p:cNvSpPr/>
          <p:nvPr/>
        </p:nvSpPr>
        <p:spPr>
          <a:xfrm>
            <a:off x="1554480" y="2697480"/>
            <a:ext cx="9052560" cy="3611880"/>
          </a:xfrm>
          <a:prstGeom prst="roundRect">
            <a:avLst>
              <a:gd name="adj" fmla="val 3544"/>
            </a:avLst>
          </a:prstGeom>
          <a:solidFill>
            <a:srgbClr val="96392E"/>
          </a:solidFill>
          <a:ln/>
        </p:spPr>
      </p:sp>
      <p:sp>
        <p:nvSpPr>
          <p:cNvPr id="7" name="Text 4"/>
          <p:cNvSpPr/>
          <p:nvPr/>
        </p:nvSpPr>
        <p:spPr>
          <a:xfrm>
            <a:off x="2057400" y="2926080"/>
            <a:ext cx="8046720" cy="3154680"/>
          </a:xfrm>
          <a:prstGeom prst="rect">
            <a:avLst/>
          </a:prstGeom>
          <a:noFill/>
          <a:ln/>
        </p:spPr>
        <p:txBody>
          <a:bodyPr wrap="square" rtlCol="0" anchor="ctr"/>
          <a:lstStyle/>
          <a:p>
            <a:pPr algn="ctr" indent="0" marL="0">
              <a:lnSpc>
                <a:spcPct val="112000"/>
              </a:lnSpc>
              <a:buNone/>
            </a:pPr>
            <a:r>
              <a:rPr lang="en-US" sz="1900" i="1" dirty="0">
                <a:solidFill>
                  <a:srgbClr val="FBF9F3"/>
                </a:solidFill>
                <a:latin typeface="Bookman Old Style" pitchFamily="34" charset="0"/>
                <a:ea typeface="Bookman Old Style" pitchFamily="34" charset="-122"/>
                <a:cs typeface="Bookman Old Style" pitchFamily="34" charset="-120"/>
              </a:rPr>
              <a:t>"Lord Jesus, You are the Head of the church. Guide Your people through every cultural and technological change that lies ahead. Give us wisdom without fear. Discernment without cynicism. Innovation without idolatry. Conviction without arrogance. Help Your church remain faithful to the gospel while engaging the world around us. Prepare future generations to follow You courageously. Use technology where it serves Your purposes. Protect us from anything that distracts from them. May the church shine brightly in every generation until You return. Amen."</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17 / 17</a:t>
            </a:r>
            <a:endParaRPr lang="en-US" sz="1200" dirty="0"/>
          </a:p>
        </p:txBody>
      </p:sp>
      <p:sp>
        <p:nvSpPr>
          <p:cNvPr id="3" name="Shape 1"/>
          <p:cNvSpPr/>
          <p:nvPr/>
        </p:nvSpPr>
        <p:spPr>
          <a:xfrm>
            <a:off x="822960" y="777240"/>
            <a:ext cx="1234440" cy="123444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400" b="1" dirty="0">
                <a:solidFill>
                  <a:srgbClr val="3E4A33"/>
                </a:solidFill>
                <a:latin typeface="Bookman Old Style" pitchFamily="34" charset="0"/>
                <a:ea typeface="Bookman Old Style" pitchFamily="34" charset="-122"/>
                <a:cs typeface="Bookman Old Style" pitchFamily="34" charset="-120"/>
              </a:rPr>
              <a:t>Final Charge</a:t>
            </a:r>
            <a:endParaRPr lang="en-US" sz="3400" dirty="0"/>
          </a:p>
        </p:txBody>
      </p:sp>
      <p:sp>
        <p:nvSpPr>
          <p:cNvPr id="6" name="Shape 3"/>
          <p:cNvSpPr/>
          <p:nvPr/>
        </p:nvSpPr>
        <p:spPr>
          <a:xfrm>
            <a:off x="2377440" y="2304288"/>
            <a:ext cx="100584" cy="100584"/>
          </a:xfrm>
          <a:prstGeom prst="ellipse">
            <a:avLst/>
          </a:prstGeom>
          <a:solidFill>
            <a:srgbClr val="C9A15A"/>
          </a:solidFill>
          <a:ln/>
        </p:spPr>
      </p:sp>
      <p:sp>
        <p:nvSpPr>
          <p:cNvPr id="7" name="Shape 4"/>
          <p:cNvSpPr/>
          <p:nvPr/>
        </p:nvSpPr>
        <p:spPr>
          <a:xfrm>
            <a:off x="2606040" y="2304288"/>
            <a:ext cx="100584" cy="100584"/>
          </a:xfrm>
          <a:prstGeom prst="ellipse">
            <a:avLst/>
          </a:prstGeom>
          <a:solidFill>
            <a:srgbClr val="B85042"/>
          </a:solidFill>
          <a:ln/>
        </p:spPr>
      </p:sp>
      <p:sp>
        <p:nvSpPr>
          <p:cNvPr id="8" name="Shape 5"/>
          <p:cNvSpPr/>
          <p:nvPr/>
        </p:nvSpPr>
        <p:spPr>
          <a:xfrm>
            <a:off x="2834640" y="2304288"/>
            <a:ext cx="100584" cy="100584"/>
          </a:xfrm>
          <a:prstGeom prst="ellipse">
            <a:avLst/>
          </a:prstGeom>
          <a:solidFill>
            <a:srgbClr val="5A6B4D"/>
          </a:solidFill>
          <a:ln/>
        </p:spPr>
      </p:sp>
      <p:sp>
        <p:nvSpPr>
          <p:cNvPr id="9" name="Shape 6"/>
          <p:cNvSpPr/>
          <p:nvPr/>
        </p:nvSpPr>
        <p:spPr>
          <a:xfrm>
            <a:off x="1554480" y="2788920"/>
            <a:ext cx="9144000" cy="2697480"/>
          </a:xfrm>
          <a:prstGeom prst="roundRect">
            <a:avLst>
              <a:gd name="adj" fmla="val 474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48840"/>
          </a:xfrm>
          <a:prstGeom prst="rect">
            <a:avLst/>
          </a:prstGeom>
          <a:noFill/>
          <a:ln/>
        </p:spPr>
        <p:txBody>
          <a:bodyPr wrap="square" rtlCol="0" anchor="ctr"/>
          <a:lstStyle/>
          <a:p>
            <a:pPr indent="0" marL="0">
              <a:lnSpc>
                <a:spcPct val="110000"/>
              </a:lnSpc>
              <a:buNone/>
            </a:pPr>
            <a:r>
              <a:rPr lang="en-US" sz="2600" dirty="0">
                <a:solidFill>
                  <a:srgbClr val="37352E"/>
                </a:solidFill>
                <a:latin typeface="Bookman Old Style" pitchFamily="34" charset="0"/>
                <a:ea typeface="Bookman Old Style" pitchFamily="34" charset="-122"/>
                <a:cs typeface="Bookman Old Style" pitchFamily="34" charset="-120"/>
              </a:rPr>
              <a:t>The future will bring technologies we can't imagine — but the future does not belong to technology. It belongs to God.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457200" cy="457200"/>
          </a:xfrm>
          <a:prstGeom prst="rect">
            <a:avLst/>
          </a:prstGeom>
        </p:spPr>
      </p:pic>
      <p:sp>
        <p:nvSpPr>
          <p:cNvPr id="12" name="Text 8"/>
          <p:cNvSpPr/>
          <p:nvPr/>
        </p:nvSpPr>
        <p:spPr>
          <a:xfrm>
            <a:off x="822960" y="6355080"/>
            <a:ext cx="7315200" cy="274320"/>
          </a:xfrm>
          <a:prstGeom prst="rect">
            <a:avLst/>
          </a:prstGeom>
          <a:noFill/>
          <a:ln/>
        </p:spPr>
        <p:txBody>
          <a:bodyPr wrap="square" rtlCol="0" anchor="ctr"/>
          <a:lstStyle/>
          <a:p>
            <a:pPr indent="0" marL="0">
              <a:buNone/>
            </a:pPr>
            <a:r>
              <a:rPr lang="en-US" sz="1000" i="1" dirty="0">
                <a:solidFill>
                  <a:srgbClr val="6B655A"/>
                </a:solidFill>
                <a:latin typeface="Calibri" pitchFamily="34" charset="0"/>
                <a:ea typeface="Calibri" pitchFamily="34" charset="-122"/>
                <a:cs typeface="Calibri" pitchFamily="34" charset="-120"/>
              </a:rPr>
              <a:t>Divine Design for the Digital Age  ·  Appendix P</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P</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The Future Church in an AI World</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P</dc:title>
  <dc:subject>PptxGenJS Presentation</dc:subject>
  <dc:creator>Rod Trent</dc:creator>
  <cp:lastModifiedBy>Rod Trent</cp:lastModifiedBy>
  <cp:revision>1</cp:revision>
  <dcterms:created xsi:type="dcterms:W3CDTF">2026-07-03T18:29:12Z</dcterms:created>
  <dcterms:modified xsi:type="dcterms:W3CDTF">2026-07-03T18:29:12Z</dcterms:modified>
</cp:coreProperties>
</file>