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A Zero-Trust Heart. Open by welcoming the group and reading the key scripture, Proverbs 4:23 (ESV), aloud together. Set the theme for this session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a quick map of the session. You don't need to read every item — just show the arc from opening idea to reflection, prayer,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slowly, perhaps twice. Ask: what stands out to you here? Let a few people respond before you begin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Trust No One?. 'Never trust, always verify' is the creed of cybersecurity — and, surprisingly, a lens for guarding the Christian heart.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Most Valuable Asset You Possess. You learn what an institution treasures by what it defends. Scripture says to guard your heart above all else.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Reality of Spiritual Adversaries. Culture dismisses spiritual warfare as superstition. But Scripture is clear: we face real adversaries seeking access to the heart.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Identity Verification. In Zero Trust, no request is taken at face value. Likewise, we must verify the voices and claims competing for our belief.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Least Privilege and the Christian Life. Least privilege grants only the access truly needed. Wisdom means limiting what we let into the heart and mind.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Attack Vectors of the Digital Age. Security teams map attack vectors — the paths adversaries travel. Temptation, too, has predictable routes we can learn to defend.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Continuous Monitoring. Protection is never one-and-done. The moment you stop watching is the moment you become vulnerable again.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Incident Response and Repentance. No system is perfect; breaches happen. What matters is the response — and repentance is the believer's incident response.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Armor of God: Heaven's Security Architecture. Ephesians 6 reads like a complete defensive architecture — truth, righteousness, faith, and the Word covering every angle of attack.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Zero Trust and Ultimate Trust. Zero Trust toward threats coexists with total trust in God. We verify the world precisely because we rest fully in Him.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Guarding the Heart in an AI-Driven World. AI multiplies the volume of content competing for attention. The flood is now a deluge — and it is accelerating.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Heart Worth Protecting. You protect what you value. Show me what you defend, and I will show you what you truly treasure.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two or three of these to discuss rather than rushing all of them. Leave silence after each — the best answers often come after 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teaching portion by praying this together, or invite someone to read it aloud. Feel free to add the group's own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everyone to commit to this challenge before the next session. You might ask people to share how it went when you gather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restating the one idea you most want people to remember, then point ahead to the next chapter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0" y="5257800"/>
            <a:ext cx="12161520" cy="1600200"/>
          </a:xfrm>
          <a:prstGeom prst="rect">
            <a:avLst/>
          </a:prstGeom>
          <a:solidFill>
            <a:srgbClr val="8F3B30"/>
          </a:solidFill>
          <a:ln/>
        </p:spPr>
      </p:sp>
      <p:sp>
        <p:nvSpPr>
          <p:cNvPr id="4" name="Shape 2"/>
          <p:cNvSpPr/>
          <p:nvPr/>
        </p:nvSpPr>
        <p:spPr>
          <a:xfrm>
            <a:off x="9326880" y="640080"/>
            <a:ext cx="1965960" cy="1965960"/>
          </a:xfrm>
          <a:prstGeom prst="ellipse">
            <a:avLst/>
          </a:prstGeom>
          <a:solidFill>
            <a:srgbClr val="8F3B30"/>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65792" y="1078992"/>
            <a:ext cx="1097280" cy="109728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A Talk &amp; Discussion Series</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Chapter 4</a:t>
            </a:r>
            <a:endParaRPr lang="en-US" sz="3000" dirty="0"/>
          </a:p>
        </p:txBody>
      </p:sp>
      <p:sp>
        <p:nvSpPr>
          <p:cNvPr id="9" name="Text 6"/>
          <p:cNvSpPr/>
          <p:nvPr/>
        </p:nvSpPr>
        <p:spPr>
          <a:xfrm>
            <a:off x="777240" y="2880360"/>
            <a:ext cx="10424160" cy="1828800"/>
          </a:xfrm>
          <a:prstGeom prst="rect">
            <a:avLst/>
          </a:prstGeom>
          <a:noFill/>
          <a:ln/>
        </p:spPr>
        <p:txBody>
          <a:bodyPr wrap="square" rtlCol="0" anchor="t"/>
          <a:lstStyle/>
          <a:p>
            <a:pPr indent="0" marL="0">
              <a:lnSpc>
                <a:spcPct val="95000"/>
              </a:lnSpc>
              <a:buNone/>
            </a:pPr>
            <a:r>
              <a:rPr lang="en-US" sz="5200" b="1" dirty="0">
                <a:solidFill>
                  <a:srgbClr val="FBF7F0"/>
                </a:solidFill>
                <a:latin typeface="Bookman Old Style" pitchFamily="34" charset="0"/>
                <a:ea typeface="Bookman Old Style" pitchFamily="34" charset="-122"/>
                <a:cs typeface="Bookman Old Style" pitchFamily="34" charset="-120"/>
              </a:rPr>
              <a:t>A Zero-Trust Heart</a:t>
            </a:r>
            <a:endParaRPr lang="en-US" sz="5200" dirty="0"/>
          </a:p>
        </p:txBody>
      </p:sp>
      <p:pic>
        <p:nvPicPr>
          <p:cNvPr id="10" name="Image 1" descr="preencoded.png">    </p:cNvPr>
          <p:cNvPicPr>
            <a:picLocks noChangeAspect="1"/>
          </p:cNvPicPr>
          <p:nvPr/>
        </p:nvPicPr>
        <p:blipFill>
          <a:blip r:embed="rId2"/>
          <a:stretch>
            <a:fillRect/>
          </a:stretch>
        </p:blipFill>
        <p:spPr>
          <a:xfrm>
            <a:off x="868680" y="5623560"/>
            <a:ext cx="457200" cy="457200"/>
          </a:xfrm>
          <a:prstGeom prst="rect">
            <a:avLst/>
          </a:prstGeom>
        </p:spPr>
      </p:pic>
      <p:sp>
        <p:nvSpPr>
          <p:cNvPr id="11" name="Text 7"/>
          <p:cNvSpPr/>
          <p:nvPr/>
        </p:nvSpPr>
        <p:spPr>
          <a:xfrm>
            <a:off x="1463040" y="5623560"/>
            <a:ext cx="10058400" cy="457200"/>
          </a:xfrm>
          <a:prstGeom prst="rect">
            <a:avLst/>
          </a:prstGeom>
          <a:noFill/>
          <a:ln/>
        </p:spPr>
        <p:txBody>
          <a:bodyPr wrap="square" rtlCol="0" anchor="ctr"/>
          <a:lstStyle/>
          <a:p>
            <a:pPr indent="0" marL="0">
              <a:buNone/>
            </a:pPr>
            <a:r>
              <a:rPr lang="en-US" sz="1600" b="1" dirty="0">
                <a:solidFill>
                  <a:srgbClr val="E7E8D1"/>
                </a:solidFill>
                <a:latin typeface="Calibri" pitchFamily="34" charset="0"/>
                <a:ea typeface="Calibri" pitchFamily="34" charset="-122"/>
                <a:cs typeface="Calibri" pitchFamily="34" charset="-120"/>
              </a:rPr>
              <a:t>Key Scripture   </a:t>
            </a:r>
            <a:pPr indent="0" marL="0">
              <a:buNone/>
            </a:pPr>
            <a:r>
              <a:rPr lang="en-US" sz="1600" i="1" dirty="0">
                <a:solidFill>
                  <a:srgbClr val="FBF7F0"/>
                </a:solidFill>
                <a:latin typeface="Calibri" pitchFamily="34" charset="0"/>
                <a:ea typeface="Calibri" pitchFamily="34" charset="-122"/>
                <a:cs typeface="Calibri" pitchFamily="34" charset="-120"/>
              </a:rPr>
              <a:t>Proverbs 4:23 (ESV)</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In This Session</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What we'll walk through together</a:t>
            </a:r>
            <a:endParaRPr lang="en-US" sz="1500" dirty="0"/>
          </a:p>
        </p:txBody>
      </p:sp>
      <p:sp>
        <p:nvSpPr>
          <p:cNvPr id="6" name="Shape 3"/>
          <p:cNvSpPr/>
          <p:nvPr/>
        </p:nvSpPr>
        <p:spPr>
          <a:xfrm>
            <a:off x="868680" y="1783080"/>
            <a:ext cx="457200" cy="457200"/>
          </a:xfrm>
          <a:prstGeom prst="ellipse">
            <a:avLst/>
          </a:prstGeom>
          <a:solidFill>
            <a:srgbClr val="6B7A5E"/>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5270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Trust No One?</a:t>
            </a:r>
            <a:endParaRPr lang="en-US" sz="1500" dirty="0"/>
          </a:p>
        </p:txBody>
      </p:sp>
      <p:sp>
        <p:nvSpPr>
          <p:cNvPr id="9" name="Shape 6"/>
          <p:cNvSpPr/>
          <p:nvPr/>
        </p:nvSpPr>
        <p:spPr>
          <a:xfrm>
            <a:off x="868680" y="2441448"/>
            <a:ext cx="457200" cy="457200"/>
          </a:xfrm>
          <a:prstGeom prst="ellipse">
            <a:avLst/>
          </a:prstGeom>
          <a:solidFill>
            <a:srgbClr val="6B7A5E"/>
          </a:solidFill>
          <a:ln/>
        </p:spPr>
      </p:sp>
      <p:sp>
        <p:nvSpPr>
          <p:cNvPr id="10" name="Text 7"/>
          <p:cNvSpPr/>
          <p:nvPr/>
        </p:nvSpPr>
        <p:spPr>
          <a:xfrm>
            <a:off x="8686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5270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Most Valuable Asset You Possess</a:t>
            </a:r>
            <a:endParaRPr lang="en-US" sz="1500" dirty="0"/>
          </a:p>
        </p:txBody>
      </p:sp>
      <p:sp>
        <p:nvSpPr>
          <p:cNvPr id="12" name="Shape 9"/>
          <p:cNvSpPr/>
          <p:nvPr/>
        </p:nvSpPr>
        <p:spPr>
          <a:xfrm>
            <a:off x="868680" y="3099816"/>
            <a:ext cx="457200" cy="457200"/>
          </a:xfrm>
          <a:prstGeom prst="ellipse">
            <a:avLst/>
          </a:prstGeom>
          <a:solidFill>
            <a:srgbClr val="6B7A5E"/>
          </a:solidFill>
          <a:ln/>
        </p:spPr>
      </p:sp>
      <p:sp>
        <p:nvSpPr>
          <p:cNvPr id="13" name="Text 10"/>
          <p:cNvSpPr/>
          <p:nvPr/>
        </p:nvSpPr>
        <p:spPr>
          <a:xfrm>
            <a:off x="8686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5270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Reality of Spiritual Adversaries</a:t>
            </a:r>
            <a:endParaRPr lang="en-US" sz="1500" dirty="0"/>
          </a:p>
        </p:txBody>
      </p:sp>
      <p:sp>
        <p:nvSpPr>
          <p:cNvPr id="15" name="Shape 12"/>
          <p:cNvSpPr/>
          <p:nvPr/>
        </p:nvSpPr>
        <p:spPr>
          <a:xfrm>
            <a:off x="868680" y="3758184"/>
            <a:ext cx="457200" cy="457200"/>
          </a:xfrm>
          <a:prstGeom prst="ellipse">
            <a:avLst/>
          </a:prstGeom>
          <a:solidFill>
            <a:srgbClr val="6B7A5E"/>
          </a:solidFill>
          <a:ln/>
        </p:spPr>
      </p:sp>
      <p:sp>
        <p:nvSpPr>
          <p:cNvPr id="16" name="Text 13"/>
          <p:cNvSpPr/>
          <p:nvPr/>
        </p:nvSpPr>
        <p:spPr>
          <a:xfrm>
            <a:off x="8686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4</a:t>
            </a:r>
            <a:endParaRPr lang="en-US" sz="1500" dirty="0"/>
          </a:p>
        </p:txBody>
      </p:sp>
      <p:sp>
        <p:nvSpPr>
          <p:cNvPr id="17" name="Text 14"/>
          <p:cNvSpPr/>
          <p:nvPr/>
        </p:nvSpPr>
        <p:spPr>
          <a:xfrm>
            <a:off x="15270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Identity Verification</a:t>
            </a:r>
            <a:endParaRPr lang="en-US" sz="1500" dirty="0"/>
          </a:p>
        </p:txBody>
      </p:sp>
      <p:sp>
        <p:nvSpPr>
          <p:cNvPr id="18" name="Shape 15"/>
          <p:cNvSpPr/>
          <p:nvPr/>
        </p:nvSpPr>
        <p:spPr>
          <a:xfrm>
            <a:off x="868680" y="4416552"/>
            <a:ext cx="457200" cy="457200"/>
          </a:xfrm>
          <a:prstGeom prst="ellipse">
            <a:avLst/>
          </a:prstGeom>
          <a:solidFill>
            <a:srgbClr val="6B7A5E"/>
          </a:solidFill>
          <a:ln/>
        </p:spPr>
      </p:sp>
      <p:sp>
        <p:nvSpPr>
          <p:cNvPr id="19" name="Text 16"/>
          <p:cNvSpPr/>
          <p:nvPr/>
        </p:nvSpPr>
        <p:spPr>
          <a:xfrm>
            <a:off x="8686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5</a:t>
            </a:r>
            <a:endParaRPr lang="en-US" sz="1500" dirty="0"/>
          </a:p>
        </p:txBody>
      </p:sp>
      <p:sp>
        <p:nvSpPr>
          <p:cNvPr id="20" name="Text 17"/>
          <p:cNvSpPr/>
          <p:nvPr/>
        </p:nvSpPr>
        <p:spPr>
          <a:xfrm>
            <a:off x="15270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Least Privilege and the Christian Life</a:t>
            </a:r>
            <a:endParaRPr lang="en-US" sz="1500" dirty="0"/>
          </a:p>
        </p:txBody>
      </p:sp>
      <p:sp>
        <p:nvSpPr>
          <p:cNvPr id="21" name="Shape 18"/>
          <p:cNvSpPr/>
          <p:nvPr/>
        </p:nvSpPr>
        <p:spPr>
          <a:xfrm>
            <a:off x="868680" y="5074920"/>
            <a:ext cx="457200" cy="457200"/>
          </a:xfrm>
          <a:prstGeom prst="ellipse">
            <a:avLst/>
          </a:prstGeom>
          <a:solidFill>
            <a:srgbClr val="6B7A5E"/>
          </a:solidFill>
          <a:ln/>
        </p:spPr>
      </p:sp>
      <p:sp>
        <p:nvSpPr>
          <p:cNvPr id="22" name="Text 19"/>
          <p:cNvSpPr/>
          <p:nvPr/>
        </p:nvSpPr>
        <p:spPr>
          <a:xfrm>
            <a:off x="8686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6</a:t>
            </a:r>
            <a:endParaRPr lang="en-US" sz="1500" dirty="0"/>
          </a:p>
        </p:txBody>
      </p:sp>
      <p:sp>
        <p:nvSpPr>
          <p:cNvPr id="23" name="Text 20"/>
          <p:cNvSpPr/>
          <p:nvPr/>
        </p:nvSpPr>
        <p:spPr>
          <a:xfrm>
            <a:off x="15270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Attack Vectors of the Digital Age</a:t>
            </a:r>
            <a:endParaRPr lang="en-US" sz="1500" dirty="0"/>
          </a:p>
        </p:txBody>
      </p:sp>
      <p:sp>
        <p:nvSpPr>
          <p:cNvPr id="24" name="Shape 21"/>
          <p:cNvSpPr/>
          <p:nvPr/>
        </p:nvSpPr>
        <p:spPr>
          <a:xfrm>
            <a:off x="6355080" y="1783080"/>
            <a:ext cx="457200" cy="457200"/>
          </a:xfrm>
          <a:prstGeom prst="ellipse">
            <a:avLst/>
          </a:prstGeom>
          <a:solidFill>
            <a:srgbClr val="6B7A5E"/>
          </a:solidFill>
          <a:ln/>
        </p:spPr>
      </p:sp>
      <p:sp>
        <p:nvSpPr>
          <p:cNvPr id="25" name="Text 22"/>
          <p:cNvSpPr/>
          <p:nvPr/>
        </p:nvSpPr>
        <p:spPr>
          <a:xfrm>
            <a:off x="63550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7</a:t>
            </a:r>
            <a:endParaRPr lang="en-US" sz="1500" dirty="0"/>
          </a:p>
        </p:txBody>
      </p:sp>
      <p:sp>
        <p:nvSpPr>
          <p:cNvPr id="26" name="Text 23"/>
          <p:cNvSpPr/>
          <p:nvPr/>
        </p:nvSpPr>
        <p:spPr>
          <a:xfrm>
            <a:off x="70134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Continuous Monitoring</a:t>
            </a:r>
            <a:endParaRPr lang="en-US" sz="1500" dirty="0"/>
          </a:p>
        </p:txBody>
      </p:sp>
      <p:sp>
        <p:nvSpPr>
          <p:cNvPr id="27" name="Shape 24"/>
          <p:cNvSpPr/>
          <p:nvPr/>
        </p:nvSpPr>
        <p:spPr>
          <a:xfrm>
            <a:off x="6355080" y="2441448"/>
            <a:ext cx="457200" cy="457200"/>
          </a:xfrm>
          <a:prstGeom prst="ellipse">
            <a:avLst/>
          </a:prstGeom>
          <a:solidFill>
            <a:srgbClr val="6B7A5E"/>
          </a:solidFill>
          <a:ln/>
        </p:spPr>
      </p:sp>
      <p:sp>
        <p:nvSpPr>
          <p:cNvPr id="28" name="Text 25"/>
          <p:cNvSpPr/>
          <p:nvPr/>
        </p:nvSpPr>
        <p:spPr>
          <a:xfrm>
            <a:off x="63550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8</a:t>
            </a:r>
            <a:endParaRPr lang="en-US" sz="1500" dirty="0"/>
          </a:p>
        </p:txBody>
      </p:sp>
      <p:sp>
        <p:nvSpPr>
          <p:cNvPr id="29" name="Text 26"/>
          <p:cNvSpPr/>
          <p:nvPr/>
        </p:nvSpPr>
        <p:spPr>
          <a:xfrm>
            <a:off x="70134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Incident Response and Repentance</a:t>
            </a:r>
            <a:endParaRPr lang="en-US" sz="1500" dirty="0"/>
          </a:p>
        </p:txBody>
      </p:sp>
      <p:sp>
        <p:nvSpPr>
          <p:cNvPr id="30" name="Shape 27"/>
          <p:cNvSpPr/>
          <p:nvPr/>
        </p:nvSpPr>
        <p:spPr>
          <a:xfrm>
            <a:off x="6355080" y="3099816"/>
            <a:ext cx="457200" cy="457200"/>
          </a:xfrm>
          <a:prstGeom prst="ellipse">
            <a:avLst/>
          </a:prstGeom>
          <a:solidFill>
            <a:srgbClr val="6B7A5E"/>
          </a:solidFill>
          <a:ln/>
        </p:spPr>
      </p:sp>
      <p:sp>
        <p:nvSpPr>
          <p:cNvPr id="31" name="Text 28"/>
          <p:cNvSpPr/>
          <p:nvPr/>
        </p:nvSpPr>
        <p:spPr>
          <a:xfrm>
            <a:off x="63550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9</a:t>
            </a:r>
            <a:endParaRPr lang="en-US" sz="1500" dirty="0"/>
          </a:p>
        </p:txBody>
      </p:sp>
      <p:sp>
        <p:nvSpPr>
          <p:cNvPr id="32" name="Text 29"/>
          <p:cNvSpPr/>
          <p:nvPr/>
        </p:nvSpPr>
        <p:spPr>
          <a:xfrm>
            <a:off x="70134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Armor of God: Heaven's Security Architecture</a:t>
            </a:r>
            <a:endParaRPr lang="en-US" sz="1500" dirty="0"/>
          </a:p>
        </p:txBody>
      </p:sp>
      <p:sp>
        <p:nvSpPr>
          <p:cNvPr id="33" name="Shape 30"/>
          <p:cNvSpPr/>
          <p:nvPr/>
        </p:nvSpPr>
        <p:spPr>
          <a:xfrm>
            <a:off x="6355080" y="3758184"/>
            <a:ext cx="457200" cy="457200"/>
          </a:xfrm>
          <a:prstGeom prst="ellipse">
            <a:avLst/>
          </a:prstGeom>
          <a:solidFill>
            <a:srgbClr val="6B7A5E"/>
          </a:solidFill>
          <a:ln/>
        </p:spPr>
      </p:sp>
      <p:sp>
        <p:nvSpPr>
          <p:cNvPr id="34" name="Text 31"/>
          <p:cNvSpPr/>
          <p:nvPr/>
        </p:nvSpPr>
        <p:spPr>
          <a:xfrm>
            <a:off x="63550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10</a:t>
            </a:r>
            <a:endParaRPr lang="en-US" sz="1500" dirty="0"/>
          </a:p>
        </p:txBody>
      </p:sp>
      <p:sp>
        <p:nvSpPr>
          <p:cNvPr id="35" name="Text 32"/>
          <p:cNvSpPr/>
          <p:nvPr/>
        </p:nvSpPr>
        <p:spPr>
          <a:xfrm>
            <a:off x="70134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Zero Trust and Ultimate Trust</a:t>
            </a:r>
            <a:endParaRPr lang="en-US" sz="1500" dirty="0"/>
          </a:p>
        </p:txBody>
      </p:sp>
      <p:sp>
        <p:nvSpPr>
          <p:cNvPr id="36" name="Shape 33"/>
          <p:cNvSpPr/>
          <p:nvPr/>
        </p:nvSpPr>
        <p:spPr>
          <a:xfrm>
            <a:off x="6355080" y="4416552"/>
            <a:ext cx="457200" cy="457200"/>
          </a:xfrm>
          <a:prstGeom prst="ellipse">
            <a:avLst/>
          </a:prstGeom>
          <a:solidFill>
            <a:srgbClr val="6B7A5E"/>
          </a:solidFill>
          <a:ln/>
        </p:spPr>
      </p:sp>
      <p:sp>
        <p:nvSpPr>
          <p:cNvPr id="37" name="Text 34"/>
          <p:cNvSpPr/>
          <p:nvPr/>
        </p:nvSpPr>
        <p:spPr>
          <a:xfrm>
            <a:off x="63550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11</a:t>
            </a:r>
            <a:endParaRPr lang="en-US" sz="1500" dirty="0"/>
          </a:p>
        </p:txBody>
      </p:sp>
      <p:sp>
        <p:nvSpPr>
          <p:cNvPr id="38" name="Text 35"/>
          <p:cNvSpPr/>
          <p:nvPr/>
        </p:nvSpPr>
        <p:spPr>
          <a:xfrm>
            <a:off x="70134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Guarding the Heart in an AI-Driven World</a:t>
            </a:r>
            <a:endParaRPr lang="en-US" sz="1500" dirty="0"/>
          </a:p>
        </p:txBody>
      </p:sp>
      <p:sp>
        <p:nvSpPr>
          <p:cNvPr id="39" name="Shape 36"/>
          <p:cNvSpPr/>
          <p:nvPr/>
        </p:nvSpPr>
        <p:spPr>
          <a:xfrm>
            <a:off x="6355080" y="5074920"/>
            <a:ext cx="457200" cy="457200"/>
          </a:xfrm>
          <a:prstGeom prst="ellipse">
            <a:avLst/>
          </a:prstGeom>
          <a:solidFill>
            <a:srgbClr val="6B7A5E"/>
          </a:solidFill>
          <a:ln/>
        </p:spPr>
      </p:sp>
      <p:sp>
        <p:nvSpPr>
          <p:cNvPr id="40" name="Text 37"/>
          <p:cNvSpPr/>
          <p:nvPr/>
        </p:nvSpPr>
        <p:spPr>
          <a:xfrm>
            <a:off x="63550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12</a:t>
            </a:r>
            <a:endParaRPr lang="en-US" sz="1500" dirty="0"/>
          </a:p>
        </p:txBody>
      </p:sp>
      <p:sp>
        <p:nvSpPr>
          <p:cNvPr id="41" name="Text 38"/>
          <p:cNvSpPr/>
          <p:nvPr/>
        </p:nvSpPr>
        <p:spPr>
          <a:xfrm>
            <a:off x="70134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Heart Worth Protecting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822960" y="731520"/>
            <a:ext cx="914400" cy="914400"/>
          </a:xfrm>
          <a:prstGeom prst="rect">
            <a:avLst/>
          </a:prstGeom>
        </p:spPr>
      </p:pic>
      <p:sp>
        <p:nvSpPr>
          <p:cNvPr id="4" name="Text 1"/>
          <p:cNvSpPr/>
          <p:nvPr/>
        </p:nvSpPr>
        <p:spPr>
          <a:xfrm>
            <a:off x="1874520" y="868680"/>
            <a:ext cx="7315200" cy="365760"/>
          </a:xfrm>
          <a:prstGeom prst="rect">
            <a:avLst/>
          </a:prstGeom>
          <a:noFill/>
          <a:ln/>
        </p:spPr>
        <p:txBody>
          <a:bodyPr wrap="square" rtlCol="0" anchor="ctr"/>
          <a:lstStyle/>
          <a:p>
            <a:pPr indent="0" marL="0">
              <a:buNone/>
            </a:pPr>
            <a:r>
              <a:rPr lang="en-US" sz="1500" b="1" spc="300" kern="0" dirty="0">
                <a:solidFill>
                  <a:srgbClr val="E7E8D1"/>
                </a:solidFill>
                <a:latin typeface="Calibri" pitchFamily="34" charset="0"/>
                <a:ea typeface="Calibri" pitchFamily="34" charset="-122"/>
                <a:cs typeface="Calibri" pitchFamily="34" charset="-120"/>
              </a:rPr>
              <a:t>KEY SCRIPTURE</a:t>
            </a:r>
            <a:endParaRPr lang="en-US" sz="1500" dirty="0"/>
          </a:p>
        </p:txBody>
      </p:sp>
      <p:sp>
        <p:nvSpPr>
          <p:cNvPr id="5" name="Text 2"/>
          <p:cNvSpPr/>
          <p:nvPr/>
        </p:nvSpPr>
        <p:spPr>
          <a:xfrm>
            <a:off x="1874520" y="1234440"/>
            <a:ext cx="9144000" cy="457200"/>
          </a:xfrm>
          <a:prstGeom prst="rect">
            <a:avLst/>
          </a:prstGeom>
          <a:noFill/>
          <a:ln/>
        </p:spPr>
        <p:txBody>
          <a:bodyPr wrap="square" rtlCol="0" anchor="ctr"/>
          <a:lstStyle/>
          <a:p>
            <a:pPr indent="0" marL="0">
              <a:buNone/>
            </a:pPr>
            <a:r>
              <a:rPr lang="en-US" sz="2200" b="1" dirty="0">
                <a:solidFill>
                  <a:srgbClr val="C9A15A"/>
                </a:solidFill>
                <a:latin typeface="Bookman Old Style" pitchFamily="34" charset="0"/>
                <a:ea typeface="Bookman Old Style" pitchFamily="34" charset="-122"/>
                <a:cs typeface="Bookman Old Style" pitchFamily="34" charset="-120"/>
              </a:rPr>
              <a:t>Proverbs 4:23 (ESV)</a:t>
            </a:r>
            <a:endParaRPr lang="en-US" sz="2200" dirty="0"/>
          </a:p>
        </p:txBody>
      </p:sp>
      <p:sp>
        <p:nvSpPr>
          <p:cNvPr id="6" name="Text 3"/>
          <p:cNvSpPr/>
          <p:nvPr/>
        </p:nvSpPr>
        <p:spPr>
          <a:xfrm>
            <a:off x="1280160" y="2194560"/>
            <a:ext cx="9601200" cy="4023360"/>
          </a:xfrm>
          <a:prstGeom prst="rect">
            <a:avLst/>
          </a:prstGeom>
          <a:noFill/>
          <a:ln/>
        </p:spPr>
        <p:txBody>
          <a:bodyPr wrap="square" rtlCol="0" anchor="t"/>
          <a:lstStyle/>
          <a:p>
            <a:pPr indent="0" marL="0">
              <a:lnSpc>
                <a:spcPct val="112000"/>
              </a:lnSpc>
              <a:buNone/>
            </a:pPr>
            <a:r>
              <a:rPr lang="en-US" sz="2400" i="1" dirty="0">
                <a:solidFill>
                  <a:srgbClr val="FBF7F0"/>
                </a:solidFill>
                <a:latin typeface="Bookman Old Style" pitchFamily="34" charset="0"/>
                <a:ea typeface="Bookman Old Style" pitchFamily="34" charset="-122"/>
                <a:cs typeface="Bookman Old Style" pitchFamily="34" charset="-120"/>
              </a:rPr>
              <a:t>"Be sober-minded; be watchful. Your adversary the devil prowls around like a roaring lion, seeking someone to devour."</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01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Trust No One?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'Never trust, always verify' is the creed of cybersecurity — and, surprisingly, a lens for guarding the Christian heart.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02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Most Valuable Asset You Possess</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You learn what an institution treasures by what it defends. Scripture says to guard your heart above all else.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03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Reality of Spiritual Adversaries</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Culture dismisses spiritual warfare as superstition. But Scripture is clear: we face real adversaries seeking access to the heart.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04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Identity Verification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In Zero Trust, no request is taken at face value. Likewise, we must verify the voices and claims competing for our belief.</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05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Least Privilege and the Christian Life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Least privilege grants only the access truly needed. Wisdom means limiting what we let into the heart and mind.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06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Attack Vectors of the Digital Age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Security teams map attack vectors — the paths adversaries travel. Temptation, too, has predictable routes we can learn to defend.</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07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Continuous Monitoring</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Protection is never one-and-done. The moment you stop watching is the moment you become vulnerable again.</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08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Incident Response and Repentance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No system is perfect; breaches happen. What matters is the response — and repentance is the believer's incident response.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09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Armor of God: Heaven's Security Architecture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Ephesians 6 reads like a complete defensive architecture — truth, righteousness, faith, and the Word covering every angle of attack.</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10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Zero Trust and Ultimate Trust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Zero Trust toward threats coexists with total trust in God. We verify the world precisely because we rest fully in Him.</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11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Guarding the Heart in an AI-Driven World</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AI multiplies the volume of content competing for attention. The flood is now a deluge — and it is accelerating.</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12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Heart Worth Protecting</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You protect what you value. Show me what you defend, and I will show you what you truly treasure.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Reflection Questions</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For personal thought or group discussion</a:t>
            </a:r>
            <a:endParaRPr lang="en-US" sz="1500" dirty="0"/>
          </a:p>
        </p:txBody>
      </p:sp>
      <p:sp>
        <p:nvSpPr>
          <p:cNvPr id="6" name="Shape 3"/>
          <p:cNvSpPr/>
          <p:nvPr/>
        </p:nvSpPr>
        <p:spPr>
          <a:xfrm>
            <a:off x="868680" y="1737360"/>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0515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1</a:t>
            </a:r>
            <a:endParaRPr lang="en-US" sz="2000" dirty="0"/>
          </a:p>
        </p:txBody>
      </p:sp>
      <p:sp>
        <p:nvSpPr>
          <p:cNvPr id="8" name="Text 5"/>
          <p:cNvSpPr/>
          <p:nvPr/>
        </p:nvSpPr>
        <p:spPr>
          <a:xfrm>
            <a:off x="1581912" y="1828800"/>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influences currently have the greatest access to your heart?</a:t>
            </a:r>
            <a:endParaRPr lang="en-US" sz="1300" dirty="0"/>
          </a:p>
        </p:txBody>
      </p:sp>
      <p:sp>
        <p:nvSpPr>
          <p:cNvPr id="9" name="Shape 6"/>
          <p:cNvSpPr/>
          <p:nvPr/>
        </p:nvSpPr>
        <p:spPr>
          <a:xfrm>
            <a:off x="868680" y="2852928"/>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1051560" y="30175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2</a:t>
            </a:r>
            <a:endParaRPr lang="en-US" sz="2000" dirty="0"/>
          </a:p>
        </p:txBody>
      </p:sp>
      <p:sp>
        <p:nvSpPr>
          <p:cNvPr id="11" name="Text 8"/>
          <p:cNvSpPr/>
          <p:nvPr/>
        </p:nvSpPr>
        <p:spPr>
          <a:xfrm>
            <a:off x="1581912" y="2944368"/>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Which voices shape your thinking most consistently?</a:t>
            </a:r>
            <a:endParaRPr lang="en-US" sz="1300" dirty="0"/>
          </a:p>
        </p:txBody>
      </p:sp>
      <p:sp>
        <p:nvSpPr>
          <p:cNvPr id="12" name="Shape 9"/>
          <p:cNvSpPr/>
          <p:nvPr/>
        </p:nvSpPr>
        <p:spPr>
          <a:xfrm>
            <a:off x="868680" y="3803904"/>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Text 10"/>
          <p:cNvSpPr/>
          <p:nvPr/>
        </p:nvSpPr>
        <p:spPr>
          <a:xfrm>
            <a:off x="1051560" y="396849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3</a:t>
            </a:r>
            <a:endParaRPr lang="en-US" sz="2000" dirty="0"/>
          </a:p>
        </p:txBody>
      </p:sp>
      <p:sp>
        <p:nvSpPr>
          <p:cNvPr id="14" name="Text 11"/>
          <p:cNvSpPr/>
          <p:nvPr/>
        </p:nvSpPr>
        <p:spPr>
          <a:xfrm>
            <a:off x="1581912" y="3895344"/>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Are there influences you have trusted without proper evaluation?</a:t>
            </a:r>
            <a:endParaRPr lang="en-US" sz="1300" dirty="0"/>
          </a:p>
        </p:txBody>
      </p:sp>
      <p:sp>
        <p:nvSpPr>
          <p:cNvPr id="15" name="Shape 12"/>
          <p:cNvSpPr/>
          <p:nvPr/>
        </p:nvSpPr>
        <p:spPr>
          <a:xfrm>
            <a:off x="868680" y="4919472"/>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6" name="Text 13"/>
          <p:cNvSpPr/>
          <p:nvPr/>
        </p:nvSpPr>
        <p:spPr>
          <a:xfrm>
            <a:off x="1051560" y="5084064"/>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4</a:t>
            </a:r>
            <a:endParaRPr lang="en-US" sz="2000" dirty="0"/>
          </a:p>
        </p:txBody>
      </p:sp>
      <p:sp>
        <p:nvSpPr>
          <p:cNvPr id="17" name="Text 14"/>
          <p:cNvSpPr/>
          <p:nvPr/>
        </p:nvSpPr>
        <p:spPr>
          <a:xfrm>
            <a:off x="1581912" y="5010912"/>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spiritual attack vectors are most effective against you personally?</a:t>
            </a:r>
            <a:endParaRPr lang="en-US" sz="1300" dirty="0"/>
          </a:p>
        </p:txBody>
      </p:sp>
      <p:sp>
        <p:nvSpPr>
          <p:cNvPr id="18" name="Shape 15"/>
          <p:cNvSpPr/>
          <p:nvPr/>
        </p:nvSpPr>
        <p:spPr>
          <a:xfrm>
            <a:off x="6355080" y="1737360"/>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Text 16"/>
          <p:cNvSpPr/>
          <p:nvPr/>
        </p:nvSpPr>
        <p:spPr>
          <a:xfrm>
            <a:off x="65379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5</a:t>
            </a:r>
            <a:endParaRPr lang="en-US" sz="2000" dirty="0"/>
          </a:p>
        </p:txBody>
      </p:sp>
      <p:sp>
        <p:nvSpPr>
          <p:cNvPr id="20" name="Text 17"/>
          <p:cNvSpPr/>
          <p:nvPr/>
        </p:nvSpPr>
        <p:spPr>
          <a:xfrm>
            <a:off x="7068312" y="1828800"/>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regularly do you examine your heart before God?</a:t>
            </a:r>
            <a:endParaRPr lang="en-US" sz="1300" dirty="0"/>
          </a:p>
        </p:txBody>
      </p:sp>
      <p:sp>
        <p:nvSpPr>
          <p:cNvPr id="21" name="Shape 18"/>
          <p:cNvSpPr/>
          <p:nvPr/>
        </p:nvSpPr>
        <p:spPr>
          <a:xfrm>
            <a:off x="6355080" y="2688336"/>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2" name="Text 19"/>
          <p:cNvSpPr/>
          <p:nvPr/>
        </p:nvSpPr>
        <p:spPr>
          <a:xfrm>
            <a:off x="6537960" y="285292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6</a:t>
            </a:r>
            <a:endParaRPr lang="en-US" sz="2000" dirty="0"/>
          </a:p>
        </p:txBody>
      </p:sp>
      <p:sp>
        <p:nvSpPr>
          <p:cNvPr id="23" name="Text 20"/>
          <p:cNvSpPr/>
          <p:nvPr/>
        </p:nvSpPr>
        <p:spPr>
          <a:xfrm>
            <a:off x="7068312" y="2779776"/>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role does Scripture play in verifying the messages you receive?</a:t>
            </a:r>
            <a:endParaRPr lang="en-US" sz="1300" dirty="0"/>
          </a:p>
        </p:txBody>
      </p:sp>
      <p:sp>
        <p:nvSpPr>
          <p:cNvPr id="24" name="Shape 21"/>
          <p:cNvSpPr/>
          <p:nvPr/>
        </p:nvSpPr>
        <p:spPr>
          <a:xfrm>
            <a:off x="6355080" y="3803904"/>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Text 22"/>
          <p:cNvSpPr/>
          <p:nvPr/>
        </p:nvSpPr>
        <p:spPr>
          <a:xfrm>
            <a:off x="6537960" y="396849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7</a:t>
            </a:r>
            <a:endParaRPr lang="en-US" sz="2000" dirty="0"/>
          </a:p>
        </p:txBody>
      </p:sp>
      <p:sp>
        <p:nvSpPr>
          <p:cNvPr id="26" name="Text 23"/>
          <p:cNvSpPr/>
          <p:nvPr/>
        </p:nvSpPr>
        <p:spPr>
          <a:xfrm>
            <a:off x="7068312" y="3895344"/>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Where do you need stronger spiritual boundaries?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8F3B30"/>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600" b="1" spc="200" kern="0" dirty="0">
                <a:solidFill>
                  <a:srgbClr val="C9A15A"/>
                </a:solidFill>
                <a:latin typeface="Bookman Old Style" pitchFamily="34" charset="0"/>
                <a:ea typeface="Bookman Old Style" pitchFamily="34" charset="-122"/>
                <a:cs typeface="Bookman Old Style" pitchFamily="34" charset="-120"/>
              </a:rPr>
              <a:t>PRAYER</a:t>
            </a:r>
            <a:endParaRPr lang="en-US" sz="2600" dirty="0"/>
          </a:p>
        </p:txBody>
      </p:sp>
      <p:sp>
        <p:nvSpPr>
          <p:cNvPr id="6" name="Shape 3"/>
          <p:cNvSpPr/>
          <p:nvPr/>
        </p:nvSpPr>
        <p:spPr>
          <a:xfrm>
            <a:off x="1554480" y="2697480"/>
            <a:ext cx="9052560" cy="3566160"/>
          </a:xfrm>
          <a:prstGeom prst="roundRect">
            <a:avLst>
              <a:gd name="adj" fmla="val 3590"/>
            </a:avLst>
          </a:prstGeom>
          <a:solidFill>
            <a:srgbClr val="8F3B30"/>
          </a:solidFill>
          <a:ln/>
        </p:spPr>
      </p:sp>
      <p:sp>
        <p:nvSpPr>
          <p:cNvPr id="7" name="Text 4"/>
          <p:cNvSpPr/>
          <p:nvPr/>
        </p:nvSpPr>
        <p:spPr>
          <a:xfrm>
            <a:off x="2057400" y="2926080"/>
            <a:ext cx="8046720" cy="3108960"/>
          </a:xfrm>
          <a:prstGeom prst="rect">
            <a:avLst/>
          </a:prstGeom>
          <a:noFill/>
          <a:ln/>
        </p:spPr>
        <p:txBody>
          <a:bodyPr wrap="square" rtlCol="0" anchor="ctr"/>
          <a:lstStyle/>
          <a:p>
            <a:pPr algn="ctr" indent="0" marL="0">
              <a:lnSpc>
                <a:spcPct val="112000"/>
              </a:lnSpc>
              <a:buNone/>
            </a:pPr>
            <a:r>
              <a:rPr lang="en-US" sz="2100" i="1" dirty="0">
                <a:solidFill>
                  <a:srgbClr val="FBF7F0"/>
                </a:solidFill>
                <a:latin typeface="Bookman Old Style" pitchFamily="34" charset="0"/>
                <a:ea typeface="Bookman Old Style" pitchFamily="34" charset="-122"/>
                <a:cs typeface="Bookman Old Style" pitchFamily="34" charset="-120"/>
              </a:rPr>
              <a:t>"Father, thank You for the gift of Your truth and the protection You provide through Your Word. Help me guard my heart with vigilance and wisdom. Give me discernment to recognize deception, courage to remove harmful influences, and humility to submit every thought and desire to You. Protect me from spiritual compromise, and teach me to trust You above every competing voice. May my heart remain fully devoted to Christ and shaped by Your truth. Through Jesus Christ, my Lord and Savior. Amen."</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Action Challenge</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One step to carry into the week</a:t>
            </a:r>
            <a:endParaRPr lang="en-US" sz="1500" dirty="0"/>
          </a:p>
        </p:txBody>
      </p:sp>
      <p:sp>
        <p:nvSpPr>
          <p:cNvPr id="6" name="Shape 3"/>
          <p:cNvSpPr/>
          <p:nvPr/>
        </p:nvSpPr>
        <p:spPr>
          <a:xfrm>
            <a:off x="868680" y="1920240"/>
            <a:ext cx="10424160" cy="3566160"/>
          </a:xfrm>
          <a:prstGeom prst="roundRect">
            <a:avLst>
              <a:gd name="adj" fmla="val 359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371600" y="2514600"/>
            <a:ext cx="1371600" cy="1371600"/>
          </a:xfrm>
          <a:prstGeom prst="ellipse">
            <a:avLst/>
          </a:prstGeom>
          <a:solidFill>
            <a:srgbClr val="6B7A5E"/>
          </a:solidFill>
          <a:ln/>
          <a:effectLst>
            <a:outerShdw sx="100000" sy="100000" kx="0" ky="0" algn="bl" rotWithShape="0" blurRad="114300" dist="38100" dir="54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1737360" y="2880360"/>
            <a:ext cx="640080" cy="640080"/>
          </a:xfrm>
          <a:prstGeom prst="rect">
            <a:avLst/>
          </a:prstGeom>
        </p:spPr>
      </p:pic>
      <p:sp>
        <p:nvSpPr>
          <p:cNvPr id="9" name="Text 5"/>
          <p:cNvSpPr/>
          <p:nvPr/>
        </p:nvSpPr>
        <p:spPr>
          <a:xfrm>
            <a:off x="3108960" y="2286000"/>
            <a:ext cx="7772400" cy="2834640"/>
          </a:xfrm>
          <a:prstGeom prst="rect">
            <a:avLst/>
          </a:prstGeom>
          <a:noFill/>
          <a:ln/>
        </p:spPr>
        <p:txBody>
          <a:bodyPr wrap="square" rtlCol="0" anchor="ctr"/>
          <a:lstStyle/>
          <a:p>
            <a:pPr indent="0" marL="0">
              <a:lnSpc>
                <a:spcPct val="112000"/>
              </a:lnSpc>
              <a:buNone/>
            </a:pPr>
            <a:r>
              <a:rPr lang="en-US" sz="1800" dirty="0">
                <a:solidFill>
                  <a:srgbClr val="3A342E"/>
                </a:solidFill>
                <a:latin typeface="Calibri" pitchFamily="34" charset="0"/>
                <a:ea typeface="Calibri" pitchFamily="34" charset="-122"/>
                <a:cs typeface="Calibri" pitchFamily="34" charset="-120"/>
              </a:rPr>
              <a:t>Perform a personal "Heart Security Assessment" this week. The exercise is simple but revealing: treat your own attention the way a system administrator would treat access to a critical network, deliberately, honestly, and with the authority to revoke what should not be there. Build a table with four columns, the influences you consume, the time you invest in each, the spiritual impact each one has on you, and a final decision for each: keep, limit, or remove. Then work through the influences below, filling in a row for each one as truthfully as you can. Use the table that follows as your starting point. As you evaluate each one, ask yourself a single clarifying question: "Would I intentionally grant this influence access to my heart if I viewed it like a system administrator reviewing permissions?" Finally, pray Proverbs 4:23 daily throughout the week, and before the week is over, make at least one meaningful adjustment, cancel something, limit something, add something, to improve the security of your heart. The goal is not merely to assess, but to act.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5440680" y="1737360"/>
            <a:ext cx="1280160" cy="1280160"/>
          </a:xfrm>
          <a:prstGeom prst="rect">
            <a:avLst/>
          </a:prstGeom>
        </p:spPr>
      </p:pic>
      <p:sp>
        <p:nvSpPr>
          <p:cNvPr id="4" name="Text 1"/>
          <p:cNvSpPr/>
          <p:nvPr/>
        </p:nvSpPr>
        <p:spPr>
          <a:xfrm>
            <a:off x="0" y="324612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Chapter 4</a:t>
            </a:r>
            <a:endParaRPr lang="en-US" sz="1600" dirty="0"/>
          </a:p>
        </p:txBody>
      </p:sp>
      <p:sp>
        <p:nvSpPr>
          <p:cNvPr id="5" name="Text 2"/>
          <p:cNvSpPr/>
          <p:nvPr/>
        </p:nvSpPr>
        <p:spPr>
          <a:xfrm>
            <a:off x="914400" y="3657600"/>
            <a:ext cx="10332720" cy="1005840"/>
          </a:xfrm>
          <a:prstGeom prst="rect">
            <a:avLst/>
          </a:prstGeom>
          <a:noFill/>
          <a:ln/>
        </p:spPr>
        <p:txBody>
          <a:bodyPr wrap="square" rtlCol="0" anchor="t"/>
          <a:lstStyle/>
          <a:p>
            <a:pPr algn="ctr" indent="0" marL="0">
              <a:lnSpc>
                <a:spcPct val="98000"/>
              </a:lnSpc>
              <a:buNone/>
            </a:pPr>
            <a:r>
              <a:rPr lang="en-US" sz="4000" b="1" dirty="0">
                <a:solidFill>
                  <a:srgbClr val="FBF7F0"/>
                </a:solidFill>
                <a:latin typeface="Bookman Old Style" pitchFamily="34" charset="0"/>
                <a:ea typeface="Bookman Old Style" pitchFamily="34" charset="-122"/>
                <a:cs typeface="Bookman Old Style" pitchFamily="34" charset="-120"/>
              </a:rPr>
              <a:t>A Zero-Trust Heart</a:t>
            </a:r>
            <a:endParaRPr lang="en-US" sz="4000" dirty="0"/>
          </a:p>
        </p:txBody>
      </p:sp>
      <p:sp>
        <p:nvSpPr>
          <p:cNvPr id="6" name="Text 3"/>
          <p:cNvSpPr/>
          <p:nvPr/>
        </p:nvSpPr>
        <p:spPr>
          <a:xfrm>
            <a:off x="1371600" y="4892040"/>
            <a:ext cx="9418320" cy="822960"/>
          </a:xfrm>
          <a:prstGeom prst="rect">
            <a:avLst/>
          </a:prstGeom>
          <a:noFill/>
          <a:ln/>
        </p:spPr>
        <p:txBody>
          <a:bodyPr wrap="square" rtlCol="0" anchor="ctr"/>
          <a:lstStyle/>
          <a:p>
            <a:pPr algn="ctr" indent="0" marL="0">
              <a:buNone/>
            </a:pPr>
            <a:r>
              <a:rPr lang="en-US" sz="18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for the Digital Age — Chapter 4</dc:title>
  <dc:subject>PptxGenJS Presentation</dc:subject>
  <dc:creator>Rod Trent</dc:creator>
  <cp:lastModifiedBy>Rod Trent</cp:lastModifiedBy>
  <cp:revision>1</cp:revision>
  <dcterms:created xsi:type="dcterms:W3CDTF">2026-07-03T18:17:19Z</dcterms:created>
  <dcterms:modified xsi:type="dcterms:W3CDTF">2026-07-03T18:17:19Z</dcterms:modified>
</cp:coreProperties>
</file>