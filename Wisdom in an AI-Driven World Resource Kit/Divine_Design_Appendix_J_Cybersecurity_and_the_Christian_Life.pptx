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A6B4D"/>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5A6B4D"/>
          </a:solidFill>
          <a:ln/>
        </p:spPr>
      </p:sp>
      <p:sp>
        <p:nvSpPr>
          <p:cNvPr id="3" name="Shape 1"/>
          <p:cNvSpPr/>
          <p:nvPr/>
        </p:nvSpPr>
        <p:spPr>
          <a:xfrm>
            <a:off x="0" y="5349240"/>
            <a:ext cx="12161520" cy="1508760"/>
          </a:xfrm>
          <a:prstGeom prst="rect">
            <a:avLst/>
          </a:prstGeom>
          <a:solidFill>
            <a:srgbClr val="3E4A33"/>
          </a:solidFill>
          <a:ln/>
        </p:spPr>
      </p:sp>
      <p:sp>
        <p:nvSpPr>
          <p:cNvPr id="4" name="Shape 2"/>
          <p:cNvSpPr/>
          <p:nvPr/>
        </p:nvSpPr>
        <p:spPr>
          <a:xfrm>
            <a:off x="9326880" y="685800"/>
            <a:ext cx="1965960" cy="1965960"/>
          </a:xfrm>
          <a:prstGeom prst="ellipse">
            <a:avLst/>
          </a:prstGeom>
          <a:solidFill>
            <a:srgbClr val="3E4A33"/>
          </a:solidFill>
          <a:ln w="19050">
            <a:solidFill>
              <a:srgbClr val="C9A15A"/>
            </a:solidFill>
            <a:prstDash val="solid"/>
          </a:ln>
        </p:spPr>
      </p:sp>
      <p:pic>
        <p:nvPicPr>
          <p:cNvPr id="5" name="Image 0" descr="preencoded.png">    </p:cNvPr>
          <p:cNvPicPr>
            <a:picLocks noChangeAspect="1"/>
          </p:cNvPicPr>
          <p:nvPr/>
        </p:nvPicPr>
        <p:blipFill>
          <a:blip r:embed="rId1"/>
          <a:stretch>
            <a:fillRect/>
          </a:stretch>
        </p:blipFill>
        <p:spPr>
          <a:xfrm>
            <a:off x="9784080" y="1133856"/>
            <a:ext cx="1051560" cy="1051560"/>
          </a:xfrm>
          <a:prstGeom prst="rect">
            <a:avLst/>
          </a:prstGeom>
        </p:spPr>
      </p:pic>
      <p:sp>
        <p:nvSpPr>
          <p:cNvPr id="6" name="Text 3"/>
          <p:cNvSpPr/>
          <p:nvPr/>
        </p:nvSpPr>
        <p:spPr>
          <a:xfrm>
            <a:off x="822960" y="1051560"/>
            <a:ext cx="8686800" cy="365760"/>
          </a:xfrm>
          <a:prstGeom prst="rect">
            <a:avLst/>
          </a:prstGeom>
          <a:noFill/>
          <a:ln/>
        </p:spPr>
        <p:txBody>
          <a:bodyPr wrap="square" rtlCol="0" anchor="ctr"/>
          <a:lstStyle/>
          <a:p>
            <a:pPr indent="0" marL="0">
              <a:buNone/>
            </a:pPr>
            <a:r>
              <a:rPr lang="en-US" sz="1400" b="1" spc="300" kern="0" dirty="0">
                <a:solidFill>
                  <a:srgbClr val="E7E8D1"/>
                </a:solidFill>
                <a:latin typeface="Calibri" pitchFamily="34" charset="0"/>
                <a:ea typeface="Calibri" pitchFamily="34" charset="-122"/>
                <a:cs typeface="Calibri" pitchFamily="34" charset="-120"/>
              </a:rPr>
              <a:t>DIVINE DESIGN FOR THE DIGITAL AGE</a:t>
            </a:r>
            <a:endParaRPr lang="en-US" sz="1400" dirty="0"/>
          </a:p>
        </p:txBody>
      </p:sp>
      <p:sp>
        <p:nvSpPr>
          <p:cNvPr id="7" name="Text 4"/>
          <p:cNvSpPr/>
          <p:nvPr/>
        </p:nvSpPr>
        <p:spPr>
          <a:xfrm>
            <a:off x="822960" y="1371600"/>
            <a:ext cx="8686800" cy="320040"/>
          </a:xfrm>
          <a:prstGeom prst="rect">
            <a:avLst/>
          </a:prstGeom>
          <a:noFill/>
          <a:ln/>
        </p:spPr>
        <p:txBody>
          <a:bodyPr wrap="square" rtlCol="0" anchor="ctr"/>
          <a:lstStyle/>
          <a:p>
            <a:pPr indent="0" marL="0">
              <a:buNone/>
            </a:pPr>
            <a:r>
              <a:rPr lang="en-US" sz="1300" i="1" dirty="0">
                <a:solidFill>
                  <a:srgbClr val="C9A15A"/>
                </a:solidFill>
                <a:latin typeface="Calibri" pitchFamily="34" charset="0"/>
                <a:ea typeface="Calibri" pitchFamily="34" charset="-122"/>
                <a:cs typeface="Calibri" pitchFamily="34" charset="-120"/>
              </a:rPr>
              <a:t>Companion Resource</a:t>
            </a:r>
            <a:endParaRPr lang="en-US" sz="1300" dirty="0"/>
          </a:p>
        </p:txBody>
      </p:sp>
      <p:sp>
        <p:nvSpPr>
          <p:cNvPr id="8" name="Text 5"/>
          <p:cNvSpPr/>
          <p:nvPr/>
        </p:nvSpPr>
        <p:spPr>
          <a:xfrm>
            <a:off x="822960" y="2331720"/>
            <a:ext cx="8229600" cy="640080"/>
          </a:xfrm>
          <a:prstGeom prst="rect">
            <a:avLst/>
          </a:prstGeom>
          <a:noFill/>
          <a:ln/>
        </p:spPr>
        <p:txBody>
          <a:bodyPr wrap="square" rtlCol="0" anchor="ctr"/>
          <a:lstStyle/>
          <a:p>
            <a:pPr indent="0" marL="0">
              <a:buNone/>
            </a:pPr>
            <a:r>
              <a:rPr lang="en-US" sz="3000" b="1" dirty="0">
                <a:solidFill>
                  <a:srgbClr val="C9A15A"/>
                </a:solidFill>
                <a:latin typeface="Bookman Old Style" pitchFamily="34" charset="0"/>
                <a:ea typeface="Bookman Old Style" pitchFamily="34" charset="-122"/>
                <a:cs typeface="Bookman Old Style" pitchFamily="34" charset="-120"/>
              </a:rPr>
              <a:t>Appendix J</a:t>
            </a:r>
            <a:endParaRPr lang="en-US" sz="3000" dirty="0"/>
          </a:p>
        </p:txBody>
      </p:sp>
      <p:sp>
        <p:nvSpPr>
          <p:cNvPr id="9" name="Text 6"/>
          <p:cNvSpPr/>
          <p:nvPr/>
        </p:nvSpPr>
        <p:spPr>
          <a:xfrm>
            <a:off x="777240" y="2926080"/>
            <a:ext cx="10607040" cy="2194560"/>
          </a:xfrm>
          <a:prstGeom prst="rect">
            <a:avLst/>
          </a:prstGeom>
          <a:noFill/>
          <a:ln/>
        </p:spPr>
        <p:txBody>
          <a:bodyPr wrap="square" rtlCol="0" anchor="t"/>
          <a:lstStyle/>
          <a:p>
            <a:pPr indent="0" marL="0">
              <a:lnSpc>
                <a:spcPct val="96000"/>
              </a:lnSpc>
              <a:buNone/>
            </a:pPr>
            <a:r>
              <a:rPr lang="en-US" sz="4600" b="1" dirty="0">
                <a:solidFill>
                  <a:srgbClr val="FBF9F3"/>
                </a:solidFill>
                <a:latin typeface="Bookman Old Style" pitchFamily="34" charset="0"/>
                <a:ea typeface="Bookman Old Style" pitchFamily="34" charset="-122"/>
                <a:cs typeface="Bookman Old Style" pitchFamily="34" charset="-120"/>
              </a:rPr>
              <a:t>Cybersecurity and the Christian Life</a:t>
            </a:r>
            <a:endParaRPr lang="en-US" sz="4600" dirty="0"/>
          </a:p>
        </p:txBody>
      </p:sp>
      <p:sp>
        <p:nvSpPr>
          <p:cNvPr id="10" name="Text 7"/>
          <p:cNvSpPr/>
          <p:nvPr/>
        </p:nvSpPr>
        <p:spPr>
          <a:xfrm>
            <a:off x="868680" y="5715000"/>
            <a:ext cx="10058400" cy="822960"/>
          </a:xfrm>
          <a:prstGeom prst="rect">
            <a:avLst/>
          </a:prstGeom>
          <a:noFill/>
          <a:ln/>
        </p:spPr>
        <p:txBody>
          <a:bodyPr wrap="square" rtlCol="0" anchor="ctr"/>
          <a:lstStyle/>
          <a:p>
            <a:pPr indent="0" marL="0">
              <a:buNone/>
            </a:pPr>
            <a:r>
              <a:rPr lang="en-US" sz="1600" i="1" dirty="0">
                <a:solidFill>
                  <a:srgbClr val="E7E8D1"/>
                </a:solidFill>
                <a:latin typeface="Calibri" pitchFamily="34" charset="0"/>
                <a:ea typeface="Calibri" pitchFamily="34" charset="-122"/>
                <a:cs typeface="Calibri" pitchFamily="34" charset="-120"/>
              </a:rPr>
              <a:t>What Zero Trust, Identity Protection, and Threat Hunting Can Teach Us About Following Christ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9F3"/>
        </a:solidFill>
      </p:bgPr>
    </p:bg>
    <p:spTree>
      <p:nvGrpSpPr>
        <p:cNvPr id="1" name=""/>
        <p:cNvGrpSpPr/>
        <p:nvPr/>
      </p:nvGrpSpPr>
      <p:grpSpPr>
        <a:xfrm>
          <a:off x="0" y="0"/>
          <a:ext cx="0" cy="0"/>
          <a:chOff x="0" y="0"/>
          <a:chExt cx="0" cy="0"/>
        </a:xfrm>
      </p:grpSpPr>
      <p:sp>
        <p:nvSpPr>
          <p:cNvPr id="2" name="Shape 0"/>
          <p:cNvSpPr/>
          <p:nvPr/>
        </p:nvSpPr>
        <p:spPr>
          <a:xfrm>
            <a:off x="822960" y="658368"/>
            <a:ext cx="1051560" cy="105156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32688"/>
            <a:ext cx="502920" cy="502920"/>
          </a:xfrm>
          <a:prstGeom prst="rect">
            <a:avLst/>
          </a:prstGeom>
        </p:spPr>
      </p:pic>
      <p:sp>
        <p:nvSpPr>
          <p:cNvPr id="4" name="Text 1"/>
          <p:cNvSpPr/>
          <p:nvPr/>
        </p:nvSpPr>
        <p:spPr>
          <a:xfrm>
            <a:off x="2103120" y="621792"/>
            <a:ext cx="9326880" cy="685800"/>
          </a:xfrm>
          <a:prstGeom prst="rect">
            <a:avLst/>
          </a:prstGeom>
          <a:noFill/>
          <a:ln/>
        </p:spPr>
        <p:txBody>
          <a:bodyPr wrap="square" rtlCol="0" anchor="ctr"/>
          <a:lstStyle/>
          <a:p>
            <a:pPr indent="0" marL="0">
              <a:buNone/>
            </a:pPr>
            <a:r>
              <a:rPr lang="en-US" sz="3300" b="1" dirty="0">
                <a:solidFill>
                  <a:srgbClr val="3E4A33"/>
                </a:solidFill>
                <a:latin typeface="Bookman Old Style" pitchFamily="34" charset="0"/>
                <a:ea typeface="Bookman Old Style" pitchFamily="34" charset="-122"/>
                <a:cs typeface="Bookman Old Style" pitchFamily="34" charset="-120"/>
              </a:rPr>
              <a:t>What's Inside</a:t>
            </a:r>
            <a:endParaRPr lang="en-US" sz="3300" dirty="0"/>
          </a:p>
        </p:txBody>
      </p:sp>
      <p:sp>
        <p:nvSpPr>
          <p:cNvPr id="5" name="Text 2"/>
          <p:cNvSpPr/>
          <p:nvPr/>
        </p:nvSpPr>
        <p:spPr>
          <a:xfrm>
            <a:off x="2130552" y="1298448"/>
            <a:ext cx="9326880" cy="365760"/>
          </a:xfrm>
          <a:prstGeom prst="rect">
            <a:avLst/>
          </a:prstGeom>
          <a:noFill/>
          <a:ln/>
        </p:spPr>
        <p:txBody>
          <a:bodyPr wrap="square" rtlCol="0" anchor="ctr"/>
          <a:lstStyle/>
          <a:p>
            <a:pPr indent="0" marL="0">
              <a:buNone/>
            </a:pPr>
            <a:r>
              <a:rPr lang="en-US" sz="1500" i="1" dirty="0">
                <a:solidFill>
                  <a:srgbClr val="6B655A"/>
                </a:solidFill>
                <a:latin typeface="Calibri" pitchFamily="34" charset="0"/>
                <a:ea typeface="Calibri" pitchFamily="34" charset="-122"/>
                <a:cs typeface="Calibri" pitchFamily="34" charset="-120"/>
              </a:rPr>
              <a:t>The sections of this resource</a:t>
            </a:r>
            <a:endParaRPr lang="en-US" sz="1500" dirty="0"/>
          </a:p>
        </p:txBody>
      </p:sp>
      <p:sp>
        <p:nvSpPr>
          <p:cNvPr id="6" name="Shape 3"/>
          <p:cNvSpPr/>
          <p:nvPr/>
        </p:nvSpPr>
        <p:spPr>
          <a:xfrm>
            <a:off x="868680" y="1783080"/>
            <a:ext cx="457200" cy="457200"/>
          </a:xfrm>
          <a:prstGeom prst="ellipse">
            <a:avLst/>
          </a:prstGeom>
          <a:solidFill>
            <a:srgbClr val="B85042"/>
          </a:solidFill>
          <a:ln/>
        </p:spPr>
      </p:sp>
      <p:sp>
        <p:nvSpPr>
          <p:cNvPr id="7" name="Text 4"/>
          <p:cNvSpPr/>
          <p:nvPr/>
        </p:nvSpPr>
        <p:spPr>
          <a:xfrm>
            <a:off x="868680" y="1783080"/>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1</a:t>
            </a:r>
            <a:endParaRPr lang="en-US" sz="1400" dirty="0"/>
          </a:p>
        </p:txBody>
      </p:sp>
      <p:sp>
        <p:nvSpPr>
          <p:cNvPr id="8" name="Text 5"/>
          <p:cNvSpPr/>
          <p:nvPr/>
        </p:nvSpPr>
        <p:spPr>
          <a:xfrm>
            <a:off x="1527048" y="1737360"/>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Introduction</a:t>
            </a:r>
            <a:endParaRPr lang="en-US" sz="1300" dirty="0"/>
          </a:p>
        </p:txBody>
      </p:sp>
      <p:sp>
        <p:nvSpPr>
          <p:cNvPr id="9" name="Shape 6"/>
          <p:cNvSpPr/>
          <p:nvPr/>
        </p:nvSpPr>
        <p:spPr>
          <a:xfrm>
            <a:off x="868680" y="2350008"/>
            <a:ext cx="457200" cy="457200"/>
          </a:xfrm>
          <a:prstGeom prst="ellipse">
            <a:avLst/>
          </a:prstGeom>
          <a:solidFill>
            <a:srgbClr val="B85042"/>
          </a:solidFill>
          <a:ln/>
        </p:spPr>
      </p:sp>
      <p:sp>
        <p:nvSpPr>
          <p:cNvPr id="10" name="Text 7"/>
          <p:cNvSpPr/>
          <p:nvPr/>
        </p:nvSpPr>
        <p:spPr>
          <a:xfrm>
            <a:off x="868680" y="2350008"/>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2</a:t>
            </a:r>
            <a:endParaRPr lang="en-US" sz="1400" dirty="0"/>
          </a:p>
        </p:txBody>
      </p:sp>
      <p:sp>
        <p:nvSpPr>
          <p:cNvPr id="11" name="Text 8"/>
          <p:cNvSpPr/>
          <p:nvPr/>
        </p:nvSpPr>
        <p:spPr>
          <a:xfrm>
            <a:off x="1527048" y="2304288"/>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Identity Is Everything</a:t>
            </a:r>
            <a:endParaRPr lang="en-US" sz="1300" dirty="0"/>
          </a:p>
        </p:txBody>
      </p:sp>
      <p:sp>
        <p:nvSpPr>
          <p:cNvPr id="12" name="Shape 9"/>
          <p:cNvSpPr/>
          <p:nvPr/>
        </p:nvSpPr>
        <p:spPr>
          <a:xfrm>
            <a:off x="868680" y="2916936"/>
            <a:ext cx="457200" cy="457200"/>
          </a:xfrm>
          <a:prstGeom prst="ellipse">
            <a:avLst/>
          </a:prstGeom>
          <a:solidFill>
            <a:srgbClr val="B85042"/>
          </a:solidFill>
          <a:ln/>
        </p:spPr>
      </p:sp>
      <p:sp>
        <p:nvSpPr>
          <p:cNvPr id="13" name="Text 10"/>
          <p:cNvSpPr/>
          <p:nvPr/>
        </p:nvSpPr>
        <p:spPr>
          <a:xfrm>
            <a:off x="868680" y="2916936"/>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3</a:t>
            </a:r>
            <a:endParaRPr lang="en-US" sz="1400" dirty="0"/>
          </a:p>
        </p:txBody>
      </p:sp>
      <p:sp>
        <p:nvSpPr>
          <p:cNvPr id="14" name="Text 11"/>
          <p:cNvSpPr/>
          <p:nvPr/>
        </p:nvSpPr>
        <p:spPr>
          <a:xfrm>
            <a:off x="1527048" y="2871216"/>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Authentication and Trust</a:t>
            </a:r>
            <a:endParaRPr lang="en-US" sz="1300" dirty="0"/>
          </a:p>
        </p:txBody>
      </p:sp>
      <p:sp>
        <p:nvSpPr>
          <p:cNvPr id="15" name="Shape 12"/>
          <p:cNvSpPr/>
          <p:nvPr/>
        </p:nvSpPr>
        <p:spPr>
          <a:xfrm>
            <a:off x="868680" y="3483864"/>
            <a:ext cx="457200" cy="457200"/>
          </a:xfrm>
          <a:prstGeom prst="ellipse">
            <a:avLst/>
          </a:prstGeom>
          <a:solidFill>
            <a:srgbClr val="B85042"/>
          </a:solidFill>
          <a:ln/>
        </p:spPr>
      </p:sp>
      <p:sp>
        <p:nvSpPr>
          <p:cNvPr id="16" name="Text 13"/>
          <p:cNvSpPr/>
          <p:nvPr/>
        </p:nvSpPr>
        <p:spPr>
          <a:xfrm>
            <a:off x="868680" y="3483864"/>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4</a:t>
            </a:r>
            <a:endParaRPr lang="en-US" sz="1400" dirty="0"/>
          </a:p>
        </p:txBody>
      </p:sp>
      <p:sp>
        <p:nvSpPr>
          <p:cNvPr id="17" name="Text 14"/>
          <p:cNvSpPr/>
          <p:nvPr/>
        </p:nvSpPr>
        <p:spPr>
          <a:xfrm>
            <a:off x="1527048" y="3438144"/>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The Principle of Zero Trust</a:t>
            </a:r>
            <a:endParaRPr lang="en-US" sz="1300" dirty="0"/>
          </a:p>
        </p:txBody>
      </p:sp>
      <p:sp>
        <p:nvSpPr>
          <p:cNvPr id="18" name="Shape 15"/>
          <p:cNvSpPr/>
          <p:nvPr/>
        </p:nvSpPr>
        <p:spPr>
          <a:xfrm>
            <a:off x="868680" y="4050792"/>
            <a:ext cx="457200" cy="457200"/>
          </a:xfrm>
          <a:prstGeom prst="ellipse">
            <a:avLst/>
          </a:prstGeom>
          <a:solidFill>
            <a:srgbClr val="B85042"/>
          </a:solidFill>
          <a:ln/>
        </p:spPr>
      </p:sp>
      <p:sp>
        <p:nvSpPr>
          <p:cNvPr id="19" name="Text 16"/>
          <p:cNvSpPr/>
          <p:nvPr/>
        </p:nvSpPr>
        <p:spPr>
          <a:xfrm>
            <a:off x="868680" y="4050792"/>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5</a:t>
            </a:r>
            <a:endParaRPr lang="en-US" sz="1400" dirty="0"/>
          </a:p>
        </p:txBody>
      </p:sp>
      <p:sp>
        <p:nvSpPr>
          <p:cNvPr id="20" name="Text 17"/>
          <p:cNvSpPr/>
          <p:nvPr/>
        </p:nvSpPr>
        <p:spPr>
          <a:xfrm>
            <a:off x="1527048" y="4005072"/>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Least Privilege and Humility</a:t>
            </a:r>
            <a:endParaRPr lang="en-US" sz="1300" dirty="0"/>
          </a:p>
        </p:txBody>
      </p:sp>
      <p:sp>
        <p:nvSpPr>
          <p:cNvPr id="21" name="Shape 18"/>
          <p:cNvSpPr/>
          <p:nvPr/>
        </p:nvSpPr>
        <p:spPr>
          <a:xfrm>
            <a:off x="868680" y="4617720"/>
            <a:ext cx="457200" cy="457200"/>
          </a:xfrm>
          <a:prstGeom prst="ellipse">
            <a:avLst/>
          </a:prstGeom>
          <a:solidFill>
            <a:srgbClr val="B85042"/>
          </a:solidFill>
          <a:ln/>
        </p:spPr>
      </p:sp>
      <p:sp>
        <p:nvSpPr>
          <p:cNvPr id="22" name="Text 19"/>
          <p:cNvSpPr/>
          <p:nvPr/>
        </p:nvSpPr>
        <p:spPr>
          <a:xfrm>
            <a:off x="868680" y="4617720"/>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6</a:t>
            </a:r>
            <a:endParaRPr lang="en-US" sz="1400" dirty="0"/>
          </a:p>
        </p:txBody>
      </p:sp>
      <p:sp>
        <p:nvSpPr>
          <p:cNvPr id="23" name="Text 20"/>
          <p:cNvSpPr/>
          <p:nvPr/>
        </p:nvSpPr>
        <p:spPr>
          <a:xfrm>
            <a:off x="1527048" y="4572000"/>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Defense in Depth</a:t>
            </a:r>
            <a:endParaRPr lang="en-US" sz="1300" dirty="0"/>
          </a:p>
        </p:txBody>
      </p:sp>
      <p:sp>
        <p:nvSpPr>
          <p:cNvPr id="24" name="Shape 21"/>
          <p:cNvSpPr/>
          <p:nvPr/>
        </p:nvSpPr>
        <p:spPr>
          <a:xfrm>
            <a:off x="868680" y="5184648"/>
            <a:ext cx="457200" cy="457200"/>
          </a:xfrm>
          <a:prstGeom prst="ellipse">
            <a:avLst/>
          </a:prstGeom>
          <a:solidFill>
            <a:srgbClr val="B85042"/>
          </a:solidFill>
          <a:ln/>
        </p:spPr>
      </p:sp>
      <p:sp>
        <p:nvSpPr>
          <p:cNvPr id="25" name="Text 22"/>
          <p:cNvSpPr/>
          <p:nvPr/>
        </p:nvSpPr>
        <p:spPr>
          <a:xfrm>
            <a:off x="868680" y="5184648"/>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7</a:t>
            </a:r>
            <a:endParaRPr lang="en-US" sz="1400" dirty="0"/>
          </a:p>
        </p:txBody>
      </p:sp>
      <p:sp>
        <p:nvSpPr>
          <p:cNvPr id="26" name="Text 23"/>
          <p:cNvSpPr/>
          <p:nvPr/>
        </p:nvSpPr>
        <p:spPr>
          <a:xfrm>
            <a:off x="1527048" y="5138928"/>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Continuous Monitoring</a:t>
            </a:r>
            <a:endParaRPr lang="en-US" sz="1300" dirty="0"/>
          </a:p>
        </p:txBody>
      </p:sp>
      <p:sp>
        <p:nvSpPr>
          <p:cNvPr id="27" name="Shape 24"/>
          <p:cNvSpPr/>
          <p:nvPr/>
        </p:nvSpPr>
        <p:spPr>
          <a:xfrm>
            <a:off x="868680" y="5751576"/>
            <a:ext cx="457200" cy="457200"/>
          </a:xfrm>
          <a:prstGeom prst="ellipse">
            <a:avLst/>
          </a:prstGeom>
          <a:solidFill>
            <a:srgbClr val="B85042"/>
          </a:solidFill>
          <a:ln/>
        </p:spPr>
      </p:sp>
      <p:sp>
        <p:nvSpPr>
          <p:cNvPr id="28" name="Text 25"/>
          <p:cNvSpPr/>
          <p:nvPr/>
        </p:nvSpPr>
        <p:spPr>
          <a:xfrm>
            <a:off x="868680" y="5751576"/>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8</a:t>
            </a:r>
            <a:endParaRPr lang="en-US" sz="1400" dirty="0"/>
          </a:p>
        </p:txBody>
      </p:sp>
      <p:sp>
        <p:nvSpPr>
          <p:cNvPr id="29" name="Text 26"/>
          <p:cNvSpPr/>
          <p:nvPr/>
        </p:nvSpPr>
        <p:spPr>
          <a:xfrm>
            <a:off x="1527048" y="5705856"/>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Threat Intelligence</a:t>
            </a:r>
            <a:endParaRPr lang="en-US" sz="1300" dirty="0"/>
          </a:p>
        </p:txBody>
      </p:sp>
      <p:sp>
        <p:nvSpPr>
          <p:cNvPr id="30" name="Shape 27"/>
          <p:cNvSpPr/>
          <p:nvPr/>
        </p:nvSpPr>
        <p:spPr>
          <a:xfrm>
            <a:off x="6355080" y="1783080"/>
            <a:ext cx="457200" cy="457200"/>
          </a:xfrm>
          <a:prstGeom prst="ellipse">
            <a:avLst/>
          </a:prstGeom>
          <a:solidFill>
            <a:srgbClr val="B85042"/>
          </a:solidFill>
          <a:ln/>
        </p:spPr>
      </p:sp>
      <p:sp>
        <p:nvSpPr>
          <p:cNvPr id="31" name="Text 28"/>
          <p:cNvSpPr/>
          <p:nvPr/>
        </p:nvSpPr>
        <p:spPr>
          <a:xfrm>
            <a:off x="6355080" y="1783080"/>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9</a:t>
            </a:r>
            <a:endParaRPr lang="en-US" sz="1400" dirty="0"/>
          </a:p>
        </p:txBody>
      </p:sp>
      <p:sp>
        <p:nvSpPr>
          <p:cNvPr id="32" name="Text 29"/>
          <p:cNvSpPr/>
          <p:nvPr/>
        </p:nvSpPr>
        <p:spPr>
          <a:xfrm>
            <a:off x="7013448" y="1737360"/>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Social Engineering and Deception</a:t>
            </a:r>
            <a:endParaRPr lang="en-US" sz="1300" dirty="0"/>
          </a:p>
        </p:txBody>
      </p:sp>
      <p:sp>
        <p:nvSpPr>
          <p:cNvPr id="33" name="Shape 30"/>
          <p:cNvSpPr/>
          <p:nvPr/>
        </p:nvSpPr>
        <p:spPr>
          <a:xfrm>
            <a:off x="6355080" y="2350008"/>
            <a:ext cx="457200" cy="457200"/>
          </a:xfrm>
          <a:prstGeom prst="ellipse">
            <a:avLst/>
          </a:prstGeom>
          <a:solidFill>
            <a:srgbClr val="B85042"/>
          </a:solidFill>
          <a:ln/>
        </p:spPr>
      </p:sp>
      <p:sp>
        <p:nvSpPr>
          <p:cNvPr id="34" name="Text 31"/>
          <p:cNvSpPr/>
          <p:nvPr/>
        </p:nvSpPr>
        <p:spPr>
          <a:xfrm>
            <a:off x="6355080" y="2350008"/>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10</a:t>
            </a:r>
            <a:endParaRPr lang="en-US" sz="1400" dirty="0"/>
          </a:p>
        </p:txBody>
      </p:sp>
      <p:sp>
        <p:nvSpPr>
          <p:cNvPr id="35" name="Text 32"/>
          <p:cNvSpPr/>
          <p:nvPr/>
        </p:nvSpPr>
        <p:spPr>
          <a:xfrm>
            <a:off x="7013448" y="2304288"/>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Incident Response and Repentance</a:t>
            </a:r>
            <a:endParaRPr lang="en-US" sz="1300" dirty="0"/>
          </a:p>
        </p:txBody>
      </p:sp>
      <p:sp>
        <p:nvSpPr>
          <p:cNvPr id="36" name="Shape 33"/>
          <p:cNvSpPr/>
          <p:nvPr/>
        </p:nvSpPr>
        <p:spPr>
          <a:xfrm>
            <a:off x="6355080" y="2916936"/>
            <a:ext cx="457200" cy="457200"/>
          </a:xfrm>
          <a:prstGeom prst="ellipse">
            <a:avLst/>
          </a:prstGeom>
          <a:solidFill>
            <a:srgbClr val="B85042"/>
          </a:solidFill>
          <a:ln/>
        </p:spPr>
      </p:sp>
      <p:sp>
        <p:nvSpPr>
          <p:cNvPr id="37" name="Text 34"/>
          <p:cNvSpPr/>
          <p:nvPr/>
        </p:nvSpPr>
        <p:spPr>
          <a:xfrm>
            <a:off x="6355080" y="2916936"/>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11</a:t>
            </a:r>
            <a:endParaRPr lang="en-US" sz="1400" dirty="0"/>
          </a:p>
        </p:txBody>
      </p:sp>
      <p:sp>
        <p:nvSpPr>
          <p:cNvPr id="38" name="Text 35"/>
          <p:cNvSpPr/>
          <p:nvPr/>
        </p:nvSpPr>
        <p:spPr>
          <a:xfrm>
            <a:off x="7013448" y="2871216"/>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Backups and Spiritual Resilience</a:t>
            </a:r>
            <a:endParaRPr lang="en-US" sz="1300" dirty="0"/>
          </a:p>
        </p:txBody>
      </p:sp>
      <p:sp>
        <p:nvSpPr>
          <p:cNvPr id="39" name="Shape 36"/>
          <p:cNvSpPr/>
          <p:nvPr/>
        </p:nvSpPr>
        <p:spPr>
          <a:xfrm>
            <a:off x="6355080" y="3483864"/>
            <a:ext cx="457200" cy="457200"/>
          </a:xfrm>
          <a:prstGeom prst="ellipse">
            <a:avLst/>
          </a:prstGeom>
          <a:solidFill>
            <a:srgbClr val="B85042"/>
          </a:solidFill>
          <a:ln/>
        </p:spPr>
      </p:sp>
      <p:sp>
        <p:nvSpPr>
          <p:cNvPr id="40" name="Text 37"/>
          <p:cNvSpPr/>
          <p:nvPr/>
        </p:nvSpPr>
        <p:spPr>
          <a:xfrm>
            <a:off x="6355080" y="3483864"/>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12</a:t>
            </a:r>
            <a:endParaRPr lang="en-US" sz="1400" dirty="0"/>
          </a:p>
        </p:txBody>
      </p:sp>
      <p:sp>
        <p:nvSpPr>
          <p:cNvPr id="41" name="Text 38"/>
          <p:cNvSpPr/>
          <p:nvPr/>
        </p:nvSpPr>
        <p:spPr>
          <a:xfrm>
            <a:off x="7013448" y="3438144"/>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Threat Hunting</a:t>
            </a:r>
            <a:endParaRPr lang="en-US" sz="1300" dirty="0"/>
          </a:p>
        </p:txBody>
      </p:sp>
      <p:sp>
        <p:nvSpPr>
          <p:cNvPr id="42" name="Shape 39"/>
          <p:cNvSpPr/>
          <p:nvPr/>
        </p:nvSpPr>
        <p:spPr>
          <a:xfrm>
            <a:off x="6355080" y="4050792"/>
            <a:ext cx="457200" cy="457200"/>
          </a:xfrm>
          <a:prstGeom prst="ellipse">
            <a:avLst/>
          </a:prstGeom>
          <a:solidFill>
            <a:srgbClr val="B85042"/>
          </a:solidFill>
          <a:ln/>
        </p:spPr>
      </p:sp>
      <p:sp>
        <p:nvSpPr>
          <p:cNvPr id="43" name="Text 40"/>
          <p:cNvSpPr/>
          <p:nvPr/>
        </p:nvSpPr>
        <p:spPr>
          <a:xfrm>
            <a:off x="6355080" y="4050792"/>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13</a:t>
            </a:r>
            <a:endParaRPr lang="en-US" sz="1400" dirty="0"/>
          </a:p>
        </p:txBody>
      </p:sp>
      <p:sp>
        <p:nvSpPr>
          <p:cNvPr id="44" name="Text 41"/>
          <p:cNvSpPr/>
          <p:nvPr/>
        </p:nvSpPr>
        <p:spPr>
          <a:xfrm>
            <a:off x="7013448" y="4005072"/>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The Ultimate Defender</a:t>
            </a:r>
            <a:endParaRPr lang="en-US" sz="1300" dirty="0"/>
          </a:p>
        </p:txBody>
      </p:sp>
      <p:sp>
        <p:nvSpPr>
          <p:cNvPr id="45" name="Shape 42"/>
          <p:cNvSpPr/>
          <p:nvPr/>
        </p:nvSpPr>
        <p:spPr>
          <a:xfrm>
            <a:off x="6355080" y="4617720"/>
            <a:ext cx="457200" cy="457200"/>
          </a:xfrm>
          <a:prstGeom prst="ellipse">
            <a:avLst/>
          </a:prstGeom>
          <a:solidFill>
            <a:srgbClr val="B85042"/>
          </a:solidFill>
          <a:ln/>
        </p:spPr>
      </p:sp>
      <p:sp>
        <p:nvSpPr>
          <p:cNvPr id="46" name="Text 43"/>
          <p:cNvSpPr/>
          <p:nvPr/>
        </p:nvSpPr>
        <p:spPr>
          <a:xfrm>
            <a:off x="6355080" y="4617720"/>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14</a:t>
            </a:r>
            <a:endParaRPr lang="en-US" sz="1400" dirty="0"/>
          </a:p>
        </p:txBody>
      </p:sp>
      <p:sp>
        <p:nvSpPr>
          <p:cNvPr id="47" name="Text 44"/>
          <p:cNvSpPr/>
          <p:nvPr/>
        </p:nvSpPr>
        <p:spPr>
          <a:xfrm>
            <a:off x="7013448" y="4572000"/>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Security Lessons for Everyday Discipleship</a:t>
            </a:r>
            <a:endParaRPr lang="en-US" sz="1300" dirty="0"/>
          </a:p>
        </p:txBody>
      </p:sp>
      <p:sp>
        <p:nvSpPr>
          <p:cNvPr id="48" name="Shape 45"/>
          <p:cNvSpPr/>
          <p:nvPr/>
        </p:nvSpPr>
        <p:spPr>
          <a:xfrm>
            <a:off x="6355080" y="5184648"/>
            <a:ext cx="457200" cy="457200"/>
          </a:xfrm>
          <a:prstGeom prst="ellipse">
            <a:avLst/>
          </a:prstGeom>
          <a:solidFill>
            <a:srgbClr val="B85042"/>
          </a:solidFill>
          <a:ln/>
        </p:spPr>
      </p:sp>
      <p:sp>
        <p:nvSpPr>
          <p:cNvPr id="49" name="Text 46"/>
          <p:cNvSpPr/>
          <p:nvPr/>
        </p:nvSpPr>
        <p:spPr>
          <a:xfrm>
            <a:off x="6355080" y="5184648"/>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15</a:t>
            </a:r>
            <a:endParaRPr lang="en-US" sz="1400" dirty="0"/>
          </a:p>
        </p:txBody>
      </p:sp>
      <p:sp>
        <p:nvSpPr>
          <p:cNvPr id="50" name="Text 47"/>
          <p:cNvSpPr/>
          <p:nvPr/>
        </p:nvSpPr>
        <p:spPr>
          <a:xfrm>
            <a:off x="7013448" y="5138928"/>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A Security Professional's Prayer</a:t>
            </a:r>
            <a:endParaRPr lang="en-US" sz="1300" dirty="0"/>
          </a:p>
        </p:txBody>
      </p:sp>
      <p:sp>
        <p:nvSpPr>
          <p:cNvPr id="51" name="Shape 48"/>
          <p:cNvSpPr/>
          <p:nvPr/>
        </p:nvSpPr>
        <p:spPr>
          <a:xfrm>
            <a:off x="6355080" y="5751576"/>
            <a:ext cx="457200" cy="457200"/>
          </a:xfrm>
          <a:prstGeom prst="ellipse">
            <a:avLst/>
          </a:prstGeom>
          <a:solidFill>
            <a:srgbClr val="B85042"/>
          </a:solidFill>
          <a:ln/>
        </p:spPr>
      </p:sp>
      <p:sp>
        <p:nvSpPr>
          <p:cNvPr id="52" name="Text 49"/>
          <p:cNvSpPr/>
          <p:nvPr/>
        </p:nvSpPr>
        <p:spPr>
          <a:xfrm>
            <a:off x="6355080" y="5751576"/>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16</a:t>
            </a:r>
            <a:endParaRPr lang="en-US" sz="1400" dirty="0"/>
          </a:p>
        </p:txBody>
      </p:sp>
      <p:sp>
        <p:nvSpPr>
          <p:cNvPr id="53" name="Text 50"/>
          <p:cNvSpPr/>
          <p:nvPr/>
        </p:nvSpPr>
        <p:spPr>
          <a:xfrm>
            <a:off x="7013448" y="5705856"/>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Final Reflection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01 / 16</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Introduction</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300" dirty="0">
                <a:solidFill>
                  <a:srgbClr val="37352E"/>
                </a:solidFill>
                <a:latin typeface="Bookman Old Style" pitchFamily="34" charset="0"/>
                <a:ea typeface="Bookman Old Style" pitchFamily="34" charset="-122"/>
                <a:cs typeface="Bookman Old Style" pitchFamily="34" charset="-120"/>
              </a:rPr>
              <a:t>Cybersecurity and discipleship seem unrelated — one guards systems, the other transforms hearts. Yet their principles rhyme.</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J</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02 / 16</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Identity Is Everything</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300" dirty="0">
                <a:solidFill>
                  <a:srgbClr val="37352E"/>
                </a:solidFill>
                <a:latin typeface="Bookman Old Style" pitchFamily="34" charset="0"/>
                <a:ea typeface="Bookman Old Style" pitchFamily="34" charset="-122"/>
                <a:cs typeface="Bookman Old Style" pitchFamily="34" charset="-120"/>
              </a:rPr>
              <a:t>In security, identity is the new perimeter; attackers target it first. In faith, too, everything begins with who you are in Christ.</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J</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03 / 16</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Authentication and Trust</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Security verifies claims before granting access. Wisdom likewise tests the voices and influences asking for our trust.</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J</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04 / 16</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The Principle of Zero Trust</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Zero Trust means 'never trust, always verify.' Applied to the heart, it means examining what we let shape us.</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J</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05 / 16</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Least Privilege and Humility</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Least privilege grants only the access truly needed. Pride grasps for more; humility accepts limits.</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J</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06 / 16</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Defense in Depth</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300" dirty="0">
                <a:solidFill>
                  <a:srgbClr val="37352E"/>
                </a:solidFill>
                <a:latin typeface="Bookman Old Style" pitchFamily="34" charset="0"/>
                <a:ea typeface="Bookman Old Style" pitchFamily="34" charset="-122"/>
                <a:cs typeface="Bookman Old Style" pitchFamily="34" charset="-120"/>
              </a:rPr>
              <a:t>Good security layers many controls so no single failure is fatal. The Christian life builds layered spiritual strength the same way.</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J</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07 / 16</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Continuous Monitoring</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Security never stops watching, because threats evolve. The heart, too, requires ongoing attention, not a one-time fix.</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J</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08 / 16</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Threat Intelligence</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300" dirty="0">
                <a:solidFill>
                  <a:srgbClr val="37352E"/>
                </a:solidFill>
                <a:latin typeface="Bookman Old Style" pitchFamily="34" charset="0"/>
                <a:ea typeface="Bookman Old Style" pitchFamily="34" charset="-122"/>
                <a:cs typeface="Bookman Old Style" pitchFamily="34" charset="-120"/>
              </a:rPr>
              <a:t>Security teams study attackers to prepare. Scripture is our spiritual threat intelligence — naming the tactics of the enemy.</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J</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09 / 16</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Social Engineering and Deception</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Most attacks exploit people, not technology — manipulating fear, urgency, and trust. Temptation works the very same way.</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J</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10 / 16</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Incident Response and Repentance</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300" dirty="0">
                <a:solidFill>
                  <a:srgbClr val="37352E"/>
                </a:solidFill>
                <a:latin typeface="Bookman Old Style" pitchFamily="34" charset="0"/>
                <a:ea typeface="Bookman Old Style" pitchFamily="34" charset="-122"/>
                <a:cs typeface="Bookman Old Style" pitchFamily="34" charset="-120"/>
              </a:rPr>
              <a:t>No defense is perfect; what matters is the response. Repentance is the believer's incident response — acknowledge, contain, restore, learn.</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J</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11 / 16</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Backups and Spiritual Resilience</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Backups make recovery possible after failure. Scripture, prayer, worship, and community are the believer's resilience.</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J</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12 / 16</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Threat Hunting</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300" dirty="0">
                <a:solidFill>
                  <a:srgbClr val="37352E"/>
                </a:solidFill>
                <a:latin typeface="Bookman Old Style" pitchFamily="34" charset="0"/>
                <a:ea typeface="Bookman Old Style" pitchFamily="34" charset="-122"/>
                <a:cs typeface="Bookman Old Style" pitchFamily="34" charset="-120"/>
              </a:rPr>
              <a:t>Mature teams hunt for hidden threats before damage occurs. Wisdom likewise searches out the quiet weaknesses of the heart.</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J</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13 / 16</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The Ultimate Defender</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300" dirty="0">
                <a:solidFill>
                  <a:srgbClr val="37352E"/>
                </a:solidFill>
                <a:latin typeface="Bookman Old Style" pitchFamily="34" charset="0"/>
                <a:ea typeface="Bookman Old Style" pitchFamily="34" charset="-122"/>
                <a:cs typeface="Bookman Old Style" pitchFamily="34" charset="-120"/>
              </a:rPr>
              <a:t>No human system is perfectly secure. Our ultimate security rests not in our defenses but in God, our refuge and defender.</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J</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14 / 16</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000" b="1" dirty="0">
                <a:solidFill>
                  <a:srgbClr val="3E4A33"/>
                </a:solidFill>
                <a:latin typeface="Bookman Old Style" pitchFamily="34" charset="0"/>
                <a:ea typeface="Bookman Old Style" pitchFamily="34" charset="-122"/>
                <a:cs typeface="Bookman Old Style" pitchFamily="34" charset="-120"/>
              </a:rPr>
              <a:t>Security Lessons for Everyday Discipleship</a:t>
            </a:r>
            <a:endParaRPr lang="en-US" sz="30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300" dirty="0">
                <a:solidFill>
                  <a:srgbClr val="37352E"/>
                </a:solidFill>
                <a:latin typeface="Bookman Old Style" pitchFamily="34" charset="0"/>
                <a:ea typeface="Bookman Old Style" pitchFamily="34" charset="-122"/>
                <a:cs typeface="Bookman Old Style" pitchFamily="34" charset="-120"/>
              </a:rPr>
              <a:t>Identity before activity, verify influences, practice humility, layer your strength, monitor your heart, learn from failure, seek wisdom.</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J</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B85042"/>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B85042"/>
          </a:solidFill>
          <a:ln/>
        </p:spPr>
      </p:sp>
      <p:sp>
        <p:nvSpPr>
          <p:cNvPr id="3" name="Shape 1"/>
          <p:cNvSpPr/>
          <p:nvPr/>
        </p:nvSpPr>
        <p:spPr>
          <a:xfrm>
            <a:off x="5486400" y="640080"/>
            <a:ext cx="1188720" cy="1188720"/>
          </a:xfrm>
          <a:prstGeom prst="ellipse">
            <a:avLst/>
          </a:prstGeom>
          <a:solidFill>
            <a:srgbClr val="96392E"/>
          </a:solidFill>
          <a:ln w="15875">
            <a:solidFill>
              <a:srgbClr val="C9A15A"/>
            </a:solidFill>
            <a:prstDash val="solid"/>
          </a:ln>
        </p:spPr>
      </p:sp>
      <p:pic>
        <p:nvPicPr>
          <p:cNvPr id="4" name="Image 0" descr="preencoded.png">    </p:cNvPr>
          <p:cNvPicPr>
            <a:picLocks noChangeAspect="1"/>
          </p:cNvPicPr>
          <p:nvPr/>
        </p:nvPicPr>
        <p:blipFill>
          <a:blip r:embed="rId1"/>
          <a:stretch>
            <a:fillRect/>
          </a:stretch>
        </p:blipFill>
        <p:spPr>
          <a:xfrm>
            <a:off x="5788152" y="941832"/>
            <a:ext cx="585216" cy="585216"/>
          </a:xfrm>
          <a:prstGeom prst="rect">
            <a:avLst/>
          </a:prstGeom>
        </p:spPr>
      </p:pic>
      <p:sp>
        <p:nvSpPr>
          <p:cNvPr id="5" name="Text 2"/>
          <p:cNvSpPr/>
          <p:nvPr/>
        </p:nvSpPr>
        <p:spPr>
          <a:xfrm>
            <a:off x="0" y="1965960"/>
            <a:ext cx="12161520" cy="457200"/>
          </a:xfrm>
          <a:prstGeom prst="rect">
            <a:avLst/>
          </a:prstGeom>
          <a:noFill/>
          <a:ln/>
        </p:spPr>
        <p:txBody>
          <a:bodyPr wrap="square" rtlCol="0" anchor="ctr"/>
          <a:lstStyle/>
          <a:p>
            <a:pPr algn="ctr" indent="0" marL="0">
              <a:buNone/>
            </a:pPr>
            <a:r>
              <a:rPr lang="en-US" sz="2400" b="1" spc="200" kern="0" dirty="0">
                <a:solidFill>
                  <a:srgbClr val="C9A15A"/>
                </a:solidFill>
                <a:latin typeface="Bookman Old Style" pitchFamily="34" charset="0"/>
                <a:ea typeface="Bookman Old Style" pitchFamily="34" charset="-122"/>
                <a:cs typeface="Bookman Old Style" pitchFamily="34" charset="-120"/>
              </a:rPr>
              <a:t>A SECURITY PROFESSIONAL'S PRAYER</a:t>
            </a:r>
            <a:endParaRPr lang="en-US" sz="2400" dirty="0"/>
          </a:p>
        </p:txBody>
      </p:sp>
      <p:sp>
        <p:nvSpPr>
          <p:cNvPr id="6" name="Shape 3"/>
          <p:cNvSpPr/>
          <p:nvPr/>
        </p:nvSpPr>
        <p:spPr>
          <a:xfrm>
            <a:off x="1554480" y="2697480"/>
            <a:ext cx="9052560" cy="3611880"/>
          </a:xfrm>
          <a:prstGeom prst="roundRect">
            <a:avLst>
              <a:gd name="adj" fmla="val 3544"/>
            </a:avLst>
          </a:prstGeom>
          <a:solidFill>
            <a:srgbClr val="96392E"/>
          </a:solidFill>
          <a:ln/>
        </p:spPr>
      </p:sp>
      <p:sp>
        <p:nvSpPr>
          <p:cNvPr id="7" name="Text 4"/>
          <p:cNvSpPr/>
          <p:nvPr/>
        </p:nvSpPr>
        <p:spPr>
          <a:xfrm>
            <a:off x="2057400" y="2926080"/>
            <a:ext cx="8046720" cy="3154680"/>
          </a:xfrm>
          <a:prstGeom prst="rect">
            <a:avLst/>
          </a:prstGeom>
          <a:noFill/>
          <a:ln/>
        </p:spPr>
        <p:txBody>
          <a:bodyPr wrap="square" rtlCol="0" anchor="ctr"/>
          <a:lstStyle/>
          <a:p>
            <a:pPr algn="ctr" indent="0" marL="0">
              <a:lnSpc>
                <a:spcPct val="112000"/>
              </a:lnSpc>
              <a:buNone/>
            </a:pPr>
            <a:r>
              <a:rPr lang="en-US" sz="2100" i="1" dirty="0">
                <a:solidFill>
                  <a:srgbClr val="FBF9F3"/>
                </a:solidFill>
                <a:latin typeface="Bookman Old Style" pitchFamily="34" charset="0"/>
                <a:ea typeface="Bookman Old Style" pitchFamily="34" charset="-122"/>
                <a:cs typeface="Bookman Old Style" pitchFamily="34" charset="-120"/>
              </a:rPr>
              <a:t>"Lord, You are my refuge and defender. Teach me to guard my heart with the same diligence I use to protect systems. Help me recognize deception, resist temptation, and walk in wisdom. Keep me humble when I succeed and dependent upon You when I struggle. Protect my mind, my family, my work, and my witness. May the skills You have entrusted to me serve others and honor You. Help me remember that my ultimate security is not found in technology, but in Christ alone. Amen."</a:t>
            </a:r>
            <a:endParaRPr lang="en-US" sz="2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16 / 16</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Final Reflection</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300" dirty="0">
                <a:solidFill>
                  <a:srgbClr val="37352E"/>
                </a:solidFill>
                <a:latin typeface="Bookman Old Style" pitchFamily="34" charset="0"/>
                <a:ea typeface="Bookman Old Style" pitchFamily="34" charset="-122"/>
                <a:cs typeface="Bookman Old Style" pitchFamily="34" charset="-120"/>
              </a:rPr>
              <a:t>Cybersecurity protects systems; discipleship transforms souls. One guards; the other shapes — and the deeper work is the soul's.</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J</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3E4A33"/>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3E4A33"/>
          </a:solidFill>
          <a:ln/>
        </p:spPr>
      </p:sp>
      <p:pic>
        <p:nvPicPr>
          <p:cNvPr id="3" name="Image 0" descr="preencoded.png">    </p:cNvPr>
          <p:cNvPicPr>
            <a:picLocks noChangeAspect="1"/>
          </p:cNvPicPr>
          <p:nvPr/>
        </p:nvPicPr>
        <p:blipFill>
          <a:blip r:embed="rId1"/>
          <a:stretch>
            <a:fillRect/>
          </a:stretch>
        </p:blipFill>
        <p:spPr>
          <a:xfrm>
            <a:off x="5486400" y="1828800"/>
            <a:ext cx="1188720" cy="1188720"/>
          </a:xfrm>
          <a:prstGeom prst="rect">
            <a:avLst/>
          </a:prstGeom>
        </p:spPr>
      </p:pic>
      <p:sp>
        <p:nvSpPr>
          <p:cNvPr id="4" name="Text 1"/>
          <p:cNvSpPr/>
          <p:nvPr/>
        </p:nvSpPr>
        <p:spPr>
          <a:xfrm>
            <a:off x="0" y="3200400"/>
            <a:ext cx="12161520" cy="457200"/>
          </a:xfrm>
          <a:prstGeom prst="rect">
            <a:avLst/>
          </a:prstGeom>
          <a:noFill/>
          <a:ln/>
        </p:spPr>
        <p:txBody>
          <a:bodyPr wrap="square" rtlCol="0" anchor="ctr"/>
          <a:lstStyle/>
          <a:p>
            <a:pPr algn="ctr" indent="0" marL="0">
              <a:buNone/>
            </a:pPr>
            <a:r>
              <a:rPr lang="en-US" sz="1600" b="1" spc="200" kern="0" dirty="0">
                <a:solidFill>
                  <a:srgbClr val="C9A15A"/>
                </a:solidFill>
                <a:latin typeface="Calibri" pitchFamily="34" charset="0"/>
                <a:ea typeface="Calibri" pitchFamily="34" charset="-122"/>
                <a:cs typeface="Calibri" pitchFamily="34" charset="-120"/>
              </a:rPr>
              <a:t>Appendix J</a:t>
            </a:r>
            <a:endParaRPr lang="en-US" sz="1600" dirty="0"/>
          </a:p>
        </p:txBody>
      </p:sp>
      <p:sp>
        <p:nvSpPr>
          <p:cNvPr id="5" name="Text 2"/>
          <p:cNvSpPr/>
          <p:nvPr/>
        </p:nvSpPr>
        <p:spPr>
          <a:xfrm>
            <a:off x="914400" y="3611880"/>
            <a:ext cx="10332720" cy="1097280"/>
          </a:xfrm>
          <a:prstGeom prst="rect">
            <a:avLst/>
          </a:prstGeom>
          <a:noFill/>
          <a:ln/>
        </p:spPr>
        <p:txBody>
          <a:bodyPr wrap="square" rtlCol="0" anchor="t"/>
          <a:lstStyle/>
          <a:p>
            <a:pPr algn="ctr" indent="0" marL="0">
              <a:lnSpc>
                <a:spcPct val="98000"/>
              </a:lnSpc>
              <a:buNone/>
            </a:pPr>
            <a:r>
              <a:rPr lang="en-US" sz="3800" b="1" dirty="0">
                <a:solidFill>
                  <a:srgbClr val="FBF9F3"/>
                </a:solidFill>
                <a:latin typeface="Bookman Old Style" pitchFamily="34" charset="0"/>
                <a:ea typeface="Bookman Old Style" pitchFamily="34" charset="-122"/>
                <a:cs typeface="Bookman Old Style" pitchFamily="34" charset="-120"/>
              </a:rPr>
              <a:t>Cybersecurity and the Christian Life</a:t>
            </a:r>
            <a:endParaRPr lang="en-US" sz="3800" dirty="0"/>
          </a:p>
        </p:txBody>
      </p:sp>
      <p:sp>
        <p:nvSpPr>
          <p:cNvPr id="6" name="Text 3"/>
          <p:cNvSpPr/>
          <p:nvPr/>
        </p:nvSpPr>
        <p:spPr>
          <a:xfrm>
            <a:off x="1371600" y="5074920"/>
            <a:ext cx="9418320" cy="822960"/>
          </a:xfrm>
          <a:prstGeom prst="rect">
            <a:avLst/>
          </a:prstGeom>
          <a:noFill/>
          <a:ln/>
        </p:spPr>
        <p:txBody>
          <a:bodyPr wrap="square" rtlCol="0" anchor="ctr"/>
          <a:lstStyle/>
          <a:p>
            <a:pPr algn="ctr" indent="0" marL="0">
              <a:buNone/>
            </a:pPr>
            <a:r>
              <a:rPr lang="en-US" sz="1700" i="1" dirty="0">
                <a:solidFill>
                  <a:srgbClr val="E7E8D1"/>
                </a:solidFill>
                <a:latin typeface="Bookman Old Style" pitchFamily="34" charset="0"/>
                <a:ea typeface="Bookman Old Style" pitchFamily="34" charset="-122"/>
                <a:cs typeface="Bookman Old Style" pitchFamily="34" charset="-120"/>
              </a:rPr>
              <a:t>Technology will keep changing.  The wisdom to navigate it faithfully will not.</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Divine Design — Appendix J</dc:title>
  <dc:subject>PptxGenJS Presentation</dc:subject>
  <dc:creator>Rod Trent</dc:creator>
  <cp:lastModifiedBy>Rod Trent</cp:lastModifiedBy>
  <cp:revision>1</cp:revision>
  <dcterms:created xsi:type="dcterms:W3CDTF">2026-07-03T18:29:11Z</dcterms:created>
  <dcterms:modified xsi:type="dcterms:W3CDTF">2026-07-03T18:29:11Z</dcterms:modified>
</cp:coreProperties>
</file>