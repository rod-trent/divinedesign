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Truth in an Age of Algorithms. Open by welcoming the group and reading the key scripture, John 8:31–32 (ESV), aloud together. Set the theme for this session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quick map of the session. You don't need to read every item — just show the arc from opening idea to reflection, prayer,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slowly, perhaps twice. Ask: what stands out to you here? Let a few people respond before you begin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Death of Trust. There was a time when truth felt straightforward — we trusted the newspaper and the photograph. That confidence has quietly collapsed.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Information Is Everywhere. Like the agricultural and industrial revolutions before it, the information revolution has reordered how people live and what they believe.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Rise of Algorithmic Reality. Two people searching the same topic now receive different worlds. We no longer share one reality — algorithms curate many.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Deepfakes and Digital Counterfeits. Counterfeiting is ancient, but AI can now fabricate faces, voices, and video — eroding our last instinct to believe our eyes.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Digital Bereans. The Bereans were commended for receiving the message eagerly, then examining the Scriptures daily to verify it. That is our model.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Difference Between Facts and Truth. Facts describe what is the case; truth concerns what is ultimately real and right. Confusing the two leads us astray.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Why Christians Must Love Truth. The quiet danger is selective truthfulness — seeking what is agreeable rather than what is true, amplifying only what confirms us.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Artificial Intelligence and Discernment. AI is not merely a threat. Used wisely, it can summarize, analyze, and teach — but it demands discernment, not blind trust.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Testing the Spirits. 'Do not believe every spirit, but test the spirits.' Healthy skepticism is commanded — but it must never curdle into cynicism.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Curating the Mind. Long before smartphones, Paul gave us information stewardship: dwell on whatever is true, honorable, pure, lovely, and worthy of praise.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Anchored in Truth. The challenges are real, but Christ is the Truth. Anchored in Him, we can face algorithms and counterfeits without fear.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of these to discuss rather than rushing all of them. Leave silence after each — the best answers often come after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teaching portion by praying this together, or invite someone to read it aloud. Feel free to add the group's own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commit to this challenge before the next session. You might ask people to share how it went when you gather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the one idea you most want people to remember, then point ahead to the next chapter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0" y="5257800"/>
            <a:ext cx="12161520" cy="1600200"/>
          </a:xfrm>
          <a:prstGeom prst="rect">
            <a:avLst/>
          </a:prstGeom>
          <a:solidFill>
            <a:srgbClr val="8F3B30"/>
          </a:solidFill>
          <a:ln/>
        </p:spPr>
      </p:sp>
      <p:sp>
        <p:nvSpPr>
          <p:cNvPr id="4" name="Shape 2"/>
          <p:cNvSpPr/>
          <p:nvPr/>
        </p:nvSpPr>
        <p:spPr>
          <a:xfrm>
            <a:off x="9326880" y="640080"/>
            <a:ext cx="1965960" cy="1965960"/>
          </a:xfrm>
          <a:prstGeom prst="ellipse">
            <a:avLst/>
          </a:prstGeom>
          <a:solidFill>
            <a:srgbClr val="8F3B30"/>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65792" y="1078992"/>
            <a:ext cx="1097280" cy="109728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A Talk &amp; Discussion Series</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Chapter 6</a:t>
            </a:r>
            <a:endParaRPr lang="en-US" sz="3000" dirty="0"/>
          </a:p>
        </p:txBody>
      </p:sp>
      <p:sp>
        <p:nvSpPr>
          <p:cNvPr id="9" name="Text 6"/>
          <p:cNvSpPr/>
          <p:nvPr/>
        </p:nvSpPr>
        <p:spPr>
          <a:xfrm>
            <a:off x="777240" y="2880360"/>
            <a:ext cx="10424160" cy="1828800"/>
          </a:xfrm>
          <a:prstGeom prst="rect">
            <a:avLst/>
          </a:prstGeom>
          <a:noFill/>
          <a:ln/>
        </p:spPr>
        <p:txBody>
          <a:bodyPr wrap="square" rtlCol="0" anchor="t"/>
          <a:lstStyle/>
          <a:p>
            <a:pPr indent="0" marL="0">
              <a:lnSpc>
                <a:spcPct val="95000"/>
              </a:lnSpc>
              <a:buNone/>
            </a:pPr>
            <a:r>
              <a:rPr lang="en-US" sz="5200" b="1" dirty="0">
                <a:solidFill>
                  <a:srgbClr val="FBF7F0"/>
                </a:solidFill>
                <a:latin typeface="Bookman Old Style" pitchFamily="34" charset="0"/>
                <a:ea typeface="Bookman Old Style" pitchFamily="34" charset="-122"/>
                <a:cs typeface="Bookman Old Style" pitchFamily="34" charset="-120"/>
              </a:rPr>
              <a:t>Truth in an Age of Algorithms</a:t>
            </a:r>
            <a:endParaRPr lang="en-US" sz="5200" dirty="0"/>
          </a:p>
        </p:txBody>
      </p:sp>
      <p:pic>
        <p:nvPicPr>
          <p:cNvPr id="10" name="Image 1" descr="preencoded.png">    </p:cNvPr>
          <p:cNvPicPr>
            <a:picLocks noChangeAspect="1"/>
          </p:cNvPicPr>
          <p:nvPr/>
        </p:nvPicPr>
        <p:blipFill>
          <a:blip r:embed="rId2"/>
          <a:stretch>
            <a:fillRect/>
          </a:stretch>
        </p:blipFill>
        <p:spPr>
          <a:xfrm>
            <a:off x="868680" y="5623560"/>
            <a:ext cx="457200" cy="457200"/>
          </a:xfrm>
          <a:prstGeom prst="rect">
            <a:avLst/>
          </a:prstGeom>
        </p:spPr>
      </p:pic>
      <p:sp>
        <p:nvSpPr>
          <p:cNvPr id="11" name="Text 7"/>
          <p:cNvSpPr/>
          <p:nvPr/>
        </p:nvSpPr>
        <p:spPr>
          <a:xfrm>
            <a:off x="1463040" y="5623560"/>
            <a:ext cx="10058400" cy="457200"/>
          </a:xfrm>
          <a:prstGeom prst="rect">
            <a:avLst/>
          </a:prstGeom>
          <a:noFill/>
          <a:ln/>
        </p:spPr>
        <p:txBody>
          <a:bodyPr wrap="square" rtlCol="0" anchor="ctr"/>
          <a:lstStyle/>
          <a:p>
            <a:pPr indent="0" marL="0">
              <a:buNone/>
            </a:pPr>
            <a:r>
              <a:rPr lang="en-US" sz="1600" b="1" dirty="0">
                <a:solidFill>
                  <a:srgbClr val="E7E8D1"/>
                </a:solidFill>
                <a:latin typeface="Calibri" pitchFamily="34" charset="0"/>
                <a:ea typeface="Calibri" pitchFamily="34" charset="-122"/>
                <a:cs typeface="Calibri" pitchFamily="34" charset="-120"/>
              </a:rPr>
              <a:t>Key Scripture   </a:t>
            </a:r>
            <a:pPr indent="0" marL="0">
              <a:buNone/>
            </a:pPr>
            <a:r>
              <a:rPr lang="en-US" sz="1600" i="1" dirty="0">
                <a:solidFill>
                  <a:srgbClr val="FBF7F0"/>
                </a:solidFill>
                <a:latin typeface="Calibri" pitchFamily="34" charset="0"/>
                <a:ea typeface="Calibri" pitchFamily="34" charset="-122"/>
                <a:cs typeface="Calibri" pitchFamily="34" charset="-120"/>
              </a:rPr>
              <a:t>John 8:31–32 (ESV)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In This Session</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What we'll walk through together</a:t>
            </a:r>
            <a:endParaRPr lang="en-US" sz="1500" dirty="0"/>
          </a:p>
        </p:txBody>
      </p:sp>
      <p:sp>
        <p:nvSpPr>
          <p:cNvPr id="6" name="Shape 3"/>
          <p:cNvSpPr/>
          <p:nvPr/>
        </p:nvSpPr>
        <p:spPr>
          <a:xfrm>
            <a:off x="868680" y="1783080"/>
            <a:ext cx="457200" cy="457200"/>
          </a:xfrm>
          <a:prstGeom prst="ellipse">
            <a:avLst/>
          </a:prstGeom>
          <a:solidFill>
            <a:srgbClr val="6B7A5E"/>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270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Death of Trust</a:t>
            </a:r>
            <a:endParaRPr lang="en-US" sz="1500" dirty="0"/>
          </a:p>
        </p:txBody>
      </p:sp>
      <p:sp>
        <p:nvSpPr>
          <p:cNvPr id="9" name="Shape 6"/>
          <p:cNvSpPr/>
          <p:nvPr/>
        </p:nvSpPr>
        <p:spPr>
          <a:xfrm>
            <a:off x="868680" y="2441448"/>
            <a:ext cx="457200" cy="457200"/>
          </a:xfrm>
          <a:prstGeom prst="ellipse">
            <a:avLst/>
          </a:prstGeom>
          <a:solidFill>
            <a:srgbClr val="6B7A5E"/>
          </a:solidFill>
          <a:ln/>
        </p:spPr>
      </p:sp>
      <p:sp>
        <p:nvSpPr>
          <p:cNvPr id="10" name="Text 7"/>
          <p:cNvSpPr/>
          <p:nvPr/>
        </p:nvSpPr>
        <p:spPr>
          <a:xfrm>
            <a:off x="8686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270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Information Is Everywhere</a:t>
            </a:r>
            <a:endParaRPr lang="en-US" sz="1500" dirty="0"/>
          </a:p>
        </p:txBody>
      </p:sp>
      <p:sp>
        <p:nvSpPr>
          <p:cNvPr id="12" name="Shape 9"/>
          <p:cNvSpPr/>
          <p:nvPr/>
        </p:nvSpPr>
        <p:spPr>
          <a:xfrm>
            <a:off x="868680" y="3099816"/>
            <a:ext cx="457200" cy="457200"/>
          </a:xfrm>
          <a:prstGeom prst="ellipse">
            <a:avLst/>
          </a:prstGeom>
          <a:solidFill>
            <a:srgbClr val="6B7A5E"/>
          </a:solidFill>
          <a:ln/>
        </p:spPr>
      </p:sp>
      <p:sp>
        <p:nvSpPr>
          <p:cNvPr id="13" name="Text 10"/>
          <p:cNvSpPr/>
          <p:nvPr/>
        </p:nvSpPr>
        <p:spPr>
          <a:xfrm>
            <a:off x="8686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5270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Rise of Algorithmic Reality</a:t>
            </a:r>
            <a:endParaRPr lang="en-US" sz="1500" dirty="0"/>
          </a:p>
        </p:txBody>
      </p:sp>
      <p:sp>
        <p:nvSpPr>
          <p:cNvPr id="15" name="Shape 12"/>
          <p:cNvSpPr/>
          <p:nvPr/>
        </p:nvSpPr>
        <p:spPr>
          <a:xfrm>
            <a:off x="868680" y="3758184"/>
            <a:ext cx="457200" cy="457200"/>
          </a:xfrm>
          <a:prstGeom prst="ellipse">
            <a:avLst/>
          </a:prstGeom>
          <a:solidFill>
            <a:srgbClr val="6B7A5E"/>
          </a:solidFill>
          <a:ln/>
        </p:spPr>
      </p:sp>
      <p:sp>
        <p:nvSpPr>
          <p:cNvPr id="16" name="Text 13"/>
          <p:cNvSpPr/>
          <p:nvPr/>
        </p:nvSpPr>
        <p:spPr>
          <a:xfrm>
            <a:off x="8686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5270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Deepfakes and Digital Counterfeits</a:t>
            </a:r>
            <a:endParaRPr lang="en-US" sz="1500" dirty="0"/>
          </a:p>
        </p:txBody>
      </p:sp>
      <p:sp>
        <p:nvSpPr>
          <p:cNvPr id="18" name="Shape 15"/>
          <p:cNvSpPr/>
          <p:nvPr/>
        </p:nvSpPr>
        <p:spPr>
          <a:xfrm>
            <a:off x="868680" y="4416552"/>
            <a:ext cx="457200" cy="457200"/>
          </a:xfrm>
          <a:prstGeom prst="ellipse">
            <a:avLst/>
          </a:prstGeom>
          <a:solidFill>
            <a:srgbClr val="6B7A5E"/>
          </a:solidFill>
          <a:ln/>
        </p:spPr>
      </p:sp>
      <p:sp>
        <p:nvSpPr>
          <p:cNvPr id="19" name="Text 16"/>
          <p:cNvSpPr/>
          <p:nvPr/>
        </p:nvSpPr>
        <p:spPr>
          <a:xfrm>
            <a:off x="8686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5270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Digital Bereans</a:t>
            </a:r>
            <a:endParaRPr lang="en-US" sz="1500" dirty="0"/>
          </a:p>
        </p:txBody>
      </p:sp>
      <p:sp>
        <p:nvSpPr>
          <p:cNvPr id="21" name="Shape 18"/>
          <p:cNvSpPr/>
          <p:nvPr/>
        </p:nvSpPr>
        <p:spPr>
          <a:xfrm>
            <a:off x="868680" y="5074920"/>
            <a:ext cx="457200" cy="457200"/>
          </a:xfrm>
          <a:prstGeom prst="ellipse">
            <a:avLst/>
          </a:prstGeom>
          <a:solidFill>
            <a:srgbClr val="6B7A5E"/>
          </a:solidFill>
          <a:ln/>
        </p:spPr>
      </p:sp>
      <p:sp>
        <p:nvSpPr>
          <p:cNvPr id="22" name="Text 19"/>
          <p:cNvSpPr/>
          <p:nvPr/>
        </p:nvSpPr>
        <p:spPr>
          <a:xfrm>
            <a:off x="8686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15270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Difference Between Facts and Truth</a:t>
            </a:r>
            <a:endParaRPr lang="en-US" sz="1500" dirty="0"/>
          </a:p>
        </p:txBody>
      </p:sp>
      <p:sp>
        <p:nvSpPr>
          <p:cNvPr id="24" name="Shape 21"/>
          <p:cNvSpPr/>
          <p:nvPr/>
        </p:nvSpPr>
        <p:spPr>
          <a:xfrm>
            <a:off x="6355080" y="1783080"/>
            <a:ext cx="457200" cy="457200"/>
          </a:xfrm>
          <a:prstGeom prst="ellipse">
            <a:avLst/>
          </a:prstGeom>
          <a:solidFill>
            <a:srgbClr val="6B7A5E"/>
          </a:solidFill>
          <a:ln/>
        </p:spPr>
      </p:sp>
      <p:sp>
        <p:nvSpPr>
          <p:cNvPr id="25" name="Text 22"/>
          <p:cNvSpPr/>
          <p:nvPr/>
        </p:nvSpPr>
        <p:spPr>
          <a:xfrm>
            <a:off x="63550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7</a:t>
            </a:r>
            <a:endParaRPr lang="en-US" sz="1500" dirty="0"/>
          </a:p>
        </p:txBody>
      </p:sp>
      <p:sp>
        <p:nvSpPr>
          <p:cNvPr id="26" name="Text 23"/>
          <p:cNvSpPr/>
          <p:nvPr/>
        </p:nvSpPr>
        <p:spPr>
          <a:xfrm>
            <a:off x="70134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Why Christians Must Love Truth</a:t>
            </a:r>
            <a:endParaRPr lang="en-US" sz="1500" dirty="0"/>
          </a:p>
        </p:txBody>
      </p:sp>
      <p:sp>
        <p:nvSpPr>
          <p:cNvPr id="27" name="Shape 24"/>
          <p:cNvSpPr/>
          <p:nvPr/>
        </p:nvSpPr>
        <p:spPr>
          <a:xfrm>
            <a:off x="6355080" y="2441448"/>
            <a:ext cx="457200" cy="457200"/>
          </a:xfrm>
          <a:prstGeom prst="ellipse">
            <a:avLst/>
          </a:prstGeom>
          <a:solidFill>
            <a:srgbClr val="6B7A5E"/>
          </a:solidFill>
          <a:ln/>
        </p:spPr>
      </p:sp>
      <p:sp>
        <p:nvSpPr>
          <p:cNvPr id="28" name="Text 25"/>
          <p:cNvSpPr/>
          <p:nvPr/>
        </p:nvSpPr>
        <p:spPr>
          <a:xfrm>
            <a:off x="63550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8</a:t>
            </a:r>
            <a:endParaRPr lang="en-US" sz="1500" dirty="0"/>
          </a:p>
        </p:txBody>
      </p:sp>
      <p:sp>
        <p:nvSpPr>
          <p:cNvPr id="29" name="Text 26"/>
          <p:cNvSpPr/>
          <p:nvPr/>
        </p:nvSpPr>
        <p:spPr>
          <a:xfrm>
            <a:off x="70134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Artificial Intelligence and Discernment</a:t>
            </a:r>
            <a:endParaRPr lang="en-US" sz="1500" dirty="0"/>
          </a:p>
        </p:txBody>
      </p:sp>
      <p:sp>
        <p:nvSpPr>
          <p:cNvPr id="30" name="Shape 27"/>
          <p:cNvSpPr/>
          <p:nvPr/>
        </p:nvSpPr>
        <p:spPr>
          <a:xfrm>
            <a:off x="6355080" y="3099816"/>
            <a:ext cx="457200" cy="457200"/>
          </a:xfrm>
          <a:prstGeom prst="ellipse">
            <a:avLst/>
          </a:prstGeom>
          <a:solidFill>
            <a:srgbClr val="6B7A5E"/>
          </a:solidFill>
          <a:ln/>
        </p:spPr>
      </p:sp>
      <p:sp>
        <p:nvSpPr>
          <p:cNvPr id="31" name="Text 28"/>
          <p:cNvSpPr/>
          <p:nvPr/>
        </p:nvSpPr>
        <p:spPr>
          <a:xfrm>
            <a:off x="63550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9</a:t>
            </a:r>
            <a:endParaRPr lang="en-US" sz="1500" dirty="0"/>
          </a:p>
        </p:txBody>
      </p:sp>
      <p:sp>
        <p:nvSpPr>
          <p:cNvPr id="32" name="Text 29"/>
          <p:cNvSpPr/>
          <p:nvPr/>
        </p:nvSpPr>
        <p:spPr>
          <a:xfrm>
            <a:off x="70134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Testing the Spirits</a:t>
            </a:r>
            <a:endParaRPr lang="en-US" sz="1500" dirty="0"/>
          </a:p>
        </p:txBody>
      </p:sp>
      <p:sp>
        <p:nvSpPr>
          <p:cNvPr id="33" name="Shape 30"/>
          <p:cNvSpPr/>
          <p:nvPr/>
        </p:nvSpPr>
        <p:spPr>
          <a:xfrm>
            <a:off x="6355080" y="3758184"/>
            <a:ext cx="457200" cy="457200"/>
          </a:xfrm>
          <a:prstGeom prst="ellipse">
            <a:avLst/>
          </a:prstGeom>
          <a:solidFill>
            <a:srgbClr val="6B7A5E"/>
          </a:solidFill>
          <a:ln/>
        </p:spPr>
      </p:sp>
      <p:sp>
        <p:nvSpPr>
          <p:cNvPr id="34" name="Text 31"/>
          <p:cNvSpPr/>
          <p:nvPr/>
        </p:nvSpPr>
        <p:spPr>
          <a:xfrm>
            <a:off x="63550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10</a:t>
            </a:r>
            <a:endParaRPr lang="en-US" sz="1500" dirty="0"/>
          </a:p>
        </p:txBody>
      </p:sp>
      <p:sp>
        <p:nvSpPr>
          <p:cNvPr id="35" name="Text 32"/>
          <p:cNvSpPr/>
          <p:nvPr/>
        </p:nvSpPr>
        <p:spPr>
          <a:xfrm>
            <a:off x="70134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Curating the Mind</a:t>
            </a:r>
            <a:endParaRPr lang="en-US" sz="1500" dirty="0"/>
          </a:p>
        </p:txBody>
      </p:sp>
      <p:sp>
        <p:nvSpPr>
          <p:cNvPr id="36" name="Shape 33"/>
          <p:cNvSpPr/>
          <p:nvPr/>
        </p:nvSpPr>
        <p:spPr>
          <a:xfrm>
            <a:off x="6355080" y="4416552"/>
            <a:ext cx="457200" cy="457200"/>
          </a:xfrm>
          <a:prstGeom prst="ellipse">
            <a:avLst/>
          </a:prstGeom>
          <a:solidFill>
            <a:srgbClr val="6B7A5E"/>
          </a:solidFill>
          <a:ln/>
        </p:spPr>
      </p:sp>
      <p:sp>
        <p:nvSpPr>
          <p:cNvPr id="37" name="Text 34"/>
          <p:cNvSpPr/>
          <p:nvPr/>
        </p:nvSpPr>
        <p:spPr>
          <a:xfrm>
            <a:off x="63550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11</a:t>
            </a:r>
            <a:endParaRPr lang="en-US" sz="1500" dirty="0"/>
          </a:p>
        </p:txBody>
      </p:sp>
      <p:sp>
        <p:nvSpPr>
          <p:cNvPr id="38" name="Text 35"/>
          <p:cNvSpPr/>
          <p:nvPr/>
        </p:nvSpPr>
        <p:spPr>
          <a:xfrm>
            <a:off x="70134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Anchored in Truth</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822960" y="731520"/>
            <a:ext cx="914400" cy="914400"/>
          </a:xfrm>
          <a:prstGeom prst="rect">
            <a:avLst/>
          </a:prstGeom>
        </p:spPr>
      </p:pic>
      <p:sp>
        <p:nvSpPr>
          <p:cNvPr id="4" name="Text 1"/>
          <p:cNvSpPr/>
          <p:nvPr/>
        </p:nvSpPr>
        <p:spPr>
          <a:xfrm>
            <a:off x="1874520" y="868680"/>
            <a:ext cx="7315200" cy="365760"/>
          </a:xfrm>
          <a:prstGeom prst="rect">
            <a:avLst/>
          </a:prstGeom>
          <a:noFill/>
          <a:ln/>
        </p:spPr>
        <p:txBody>
          <a:bodyPr wrap="square" rtlCol="0" anchor="ctr"/>
          <a:lstStyle/>
          <a:p>
            <a:pPr indent="0" marL="0">
              <a:buNone/>
            </a:pPr>
            <a:r>
              <a:rPr lang="en-US" sz="1500" b="1" spc="300" kern="0" dirty="0">
                <a:solidFill>
                  <a:srgbClr val="E7E8D1"/>
                </a:solidFill>
                <a:latin typeface="Calibri" pitchFamily="34" charset="0"/>
                <a:ea typeface="Calibri" pitchFamily="34" charset="-122"/>
                <a:cs typeface="Calibri" pitchFamily="34" charset="-120"/>
              </a:rPr>
              <a:t>KEY SCRIPTURE</a:t>
            </a:r>
            <a:endParaRPr lang="en-US" sz="1500" dirty="0"/>
          </a:p>
        </p:txBody>
      </p:sp>
      <p:sp>
        <p:nvSpPr>
          <p:cNvPr id="5" name="Text 2"/>
          <p:cNvSpPr/>
          <p:nvPr/>
        </p:nvSpPr>
        <p:spPr>
          <a:xfrm>
            <a:off x="1874520" y="1234440"/>
            <a:ext cx="9144000" cy="457200"/>
          </a:xfrm>
          <a:prstGeom prst="rect">
            <a:avLst/>
          </a:prstGeom>
          <a:noFill/>
          <a:ln/>
        </p:spPr>
        <p:txBody>
          <a:bodyPr wrap="square" rtlCol="0" anchor="ctr"/>
          <a:lstStyle/>
          <a:p>
            <a:pPr indent="0" marL="0">
              <a:buNone/>
            </a:pPr>
            <a:r>
              <a:rPr lang="en-US" sz="2200" b="1" dirty="0">
                <a:solidFill>
                  <a:srgbClr val="C9A15A"/>
                </a:solidFill>
                <a:latin typeface="Bookman Old Style" pitchFamily="34" charset="0"/>
                <a:ea typeface="Bookman Old Style" pitchFamily="34" charset="-122"/>
                <a:cs typeface="Bookman Old Style" pitchFamily="34" charset="-120"/>
              </a:rPr>
              <a:t>John 8:31–32 (ESV)</a:t>
            </a:r>
            <a:endParaRPr lang="en-US" sz="2200" dirty="0"/>
          </a:p>
        </p:txBody>
      </p:sp>
      <p:sp>
        <p:nvSpPr>
          <p:cNvPr id="6" name="Text 3"/>
          <p:cNvSpPr/>
          <p:nvPr/>
        </p:nvSpPr>
        <p:spPr>
          <a:xfrm>
            <a:off x="1280160" y="2194560"/>
            <a:ext cx="9601200" cy="4023360"/>
          </a:xfrm>
          <a:prstGeom prst="rect">
            <a:avLst/>
          </a:prstGeom>
          <a:noFill/>
          <a:ln/>
        </p:spPr>
        <p:txBody>
          <a:bodyPr wrap="square" rtlCol="0" anchor="t"/>
          <a:lstStyle/>
          <a:p>
            <a:pPr indent="0" marL="0">
              <a:lnSpc>
                <a:spcPct val="112000"/>
              </a:lnSpc>
              <a:buNone/>
            </a:pPr>
            <a:r>
              <a:rPr lang="en-US" sz="2400" i="1" dirty="0">
                <a:solidFill>
                  <a:srgbClr val="FBF7F0"/>
                </a:solidFill>
                <a:latin typeface="Bookman Old Style" pitchFamily="34" charset="0"/>
                <a:ea typeface="Bookman Old Style" pitchFamily="34" charset="-122"/>
                <a:cs typeface="Bookman Old Style" pitchFamily="34" charset="-120"/>
              </a:rPr>
              <a:t>"Beloved, do not believe every spirit, but test the spirits to see whether they are from God."</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01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Death of Trust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There was a time when truth felt straightforward — we trusted the newspaper and the photograph. That confidence has quietly collapsed.</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02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Information Is Everywhere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Like the agricultural and industrial revolutions before it, the information revolution has reordered how people live and what they believe.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03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Rise of Algorithmic Reality</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Two people searching the same topic now receive different worlds. We no longer share one reality — algorithms curate many.</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04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Deepfakes and Digital Counterfeits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Counterfeiting is ancient, but AI can now fabricate faces, voices, and video — eroding our last instinct to believe our eyes.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05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Digital Bereans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The Bereans were commended for receiving the message eagerly, then examining the Scriptures daily to verify it. That is our model.</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06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Difference Between Facts and Truth</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Facts describe what is the case; truth concerns what is ultimately real and right. Confusing the two leads us astray.</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07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Why Christians Must Love Truth</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The quiet danger is selective truthfulness — seeking what is agreeable rather than what is true, amplifying only what confirms us.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08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Artificial Intelligence and Discernment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AI is not merely a threat. Used wisely, it can summarize, analyze, and teach — but it demands discernment, not blind trust.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09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Testing the Spirits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'Do not believe every spirit, but test the spirits.' Healthy skepticism is commanded — but it must never curdle into cynicism.</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10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Curating the Mind</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Long before smartphones, Paul gave us information stewardship: dwell on whatever is true, honorable, pure, lovely, and worthy of praise.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11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Anchored in Truth</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The challenges are real, but Christ is the Truth. Anchored in Him, we can face algorithms and counterfeits without fear.</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Reflection Questions</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For personal thought or group discussion</a:t>
            </a:r>
            <a:endParaRPr lang="en-US" sz="1500" dirty="0"/>
          </a:p>
        </p:txBody>
      </p:sp>
      <p:sp>
        <p:nvSpPr>
          <p:cNvPr id="6" name="Shape 3"/>
          <p:cNvSpPr/>
          <p:nvPr/>
        </p:nvSpPr>
        <p:spPr>
          <a:xfrm>
            <a:off x="868680" y="1737360"/>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0515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1</a:t>
            </a:r>
            <a:endParaRPr lang="en-US" sz="2000" dirty="0"/>
          </a:p>
        </p:txBody>
      </p:sp>
      <p:sp>
        <p:nvSpPr>
          <p:cNvPr id="8" name="Text 5"/>
          <p:cNvSpPr/>
          <p:nvPr/>
        </p:nvSpPr>
        <p:spPr>
          <a:xfrm>
            <a:off x="1581912" y="1828800"/>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do you typically determine whether information is trustworthy?</a:t>
            </a:r>
            <a:endParaRPr lang="en-US" sz="1300" dirty="0"/>
          </a:p>
        </p:txBody>
      </p:sp>
      <p:sp>
        <p:nvSpPr>
          <p:cNvPr id="9" name="Shape 6"/>
          <p:cNvSpPr/>
          <p:nvPr/>
        </p:nvSpPr>
        <p:spPr>
          <a:xfrm>
            <a:off x="868680" y="2852928"/>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1051560" y="30175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2</a:t>
            </a:r>
            <a:endParaRPr lang="en-US" sz="2000" dirty="0"/>
          </a:p>
        </p:txBody>
      </p:sp>
      <p:sp>
        <p:nvSpPr>
          <p:cNvPr id="11" name="Text 8"/>
          <p:cNvSpPr/>
          <p:nvPr/>
        </p:nvSpPr>
        <p:spPr>
          <a:xfrm>
            <a:off x="1581912" y="2944368"/>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role do algorithms play in shaping your worldview?</a:t>
            </a:r>
            <a:endParaRPr lang="en-US" sz="1300" dirty="0"/>
          </a:p>
        </p:txBody>
      </p:sp>
      <p:sp>
        <p:nvSpPr>
          <p:cNvPr id="12" name="Shape 9"/>
          <p:cNvSpPr/>
          <p:nvPr/>
        </p:nvSpPr>
        <p:spPr>
          <a:xfrm>
            <a:off x="868680" y="3803904"/>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Text 10"/>
          <p:cNvSpPr/>
          <p:nvPr/>
        </p:nvSpPr>
        <p:spPr>
          <a:xfrm>
            <a:off x="1051560" y="396849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3</a:t>
            </a:r>
            <a:endParaRPr lang="en-US" sz="2000" dirty="0"/>
          </a:p>
        </p:txBody>
      </p:sp>
      <p:sp>
        <p:nvSpPr>
          <p:cNvPr id="14" name="Text 11"/>
          <p:cNvSpPr/>
          <p:nvPr/>
        </p:nvSpPr>
        <p:spPr>
          <a:xfrm>
            <a:off x="1581912" y="3895344"/>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Have you ever shared information before verifying it? What was the result?</a:t>
            </a:r>
            <a:endParaRPr lang="en-US" sz="1300" dirty="0"/>
          </a:p>
        </p:txBody>
      </p:sp>
      <p:sp>
        <p:nvSpPr>
          <p:cNvPr id="15" name="Shape 12"/>
          <p:cNvSpPr/>
          <p:nvPr/>
        </p:nvSpPr>
        <p:spPr>
          <a:xfrm>
            <a:off x="868680" y="4919472"/>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6" name="Text 13"/>
          <p:cNvSpPr/>
          <p:nvPr/>
        </p:nvSpPr>
        <p:spPr>
          <a:xfrm>
            <a:off x="1051560" y="5084064"/>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4</a:t>
            </a:r>
            <a:endParaRPr lang="en-US" sz="2000" dirty="0"/>
          </a:p>
        </p:txBody>
      </p:sp>
      <p:sp>
        <p:nvSpPr>
          <p:cNvPr id="17" name="Text 14"/>
          <p:cNvSpPr/>
          <p:nvPr/>
        </p:nvSpPr>
        <p:spPr>
          <a:xfrm>
            <a:off x="1581912" y="5010912"/>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does Scripture influence your evaluation of current events?</a:t>
            </a:r>
            <a:endParaRPr lang="en-US" sz="1300" dirty="0"/>
          </a:p>
        </p:txBody>
      </p:sp>
      <p:sp>
        <p:nvSpPr>
          <p:cNvPr id="18" name="Shape 15"/>
          <p:cNvSpPr/>
          <p:nvPr/>
        </p:nvSpPr>
        <p:spPr>
          <a:xfrm>
            <a:off x="6355080" y="1737360"/>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Text 16"/>
          <p:cNvSpPr/>
          <p:nvPr/>
        </p:nvSpPr>
        <p:spPr>
          <a:xfrm>
            <a:off x="65379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5</a:t>
            </a:r>
            <a:endParaRPr lang="en-US" sz="2000" dirty="0"/>
          </a:p>
        </p:txBody>
      </p:sp>
      <p:sp>
        <p:nvSpPr>
          <p:cNvPr id="20" name="Text 17"/>
          <p:cNvSpPr/>
          <p:nvPr/>
        </p:nvSpPr>
        <p:spPr>
          <a:xfrm>
            <a:off x="7068312" y="1828800"/>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In what ways can AI assist discernment, and in what ways can it hinder it?</a:t>
            </a:r>
            <a:endParaRPr lang="en-US" sz="1300" dirty="0"/>
          </a:p>
        </p:txBody>
      </p:sp>
      <p:sp>
        <p:nvSpPr>
          <p:cNvPr id="21" name="Shape 18"/>
          <p:cNvSpPr/>
          <p:nvPr/>
        </p:nvSpPr>
        <p:spPr>
          <a:xfrm>
            <a:off x="6355080" y="2852928"/>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2" name="Text 19"/>
          <p:cNvSpPr/>
          <p:nvPr/>
        </p:nvSpPr>
        <p:spPr>
          <a:xfrm>
            <a:off x="6537960" y="30175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6</a:t>
            </a:r>
            <a:endParaRPr lang="en-US" sz="2000" dirty="0"/>
          </a:p>
        </p:txBody>
      </p:sp>
      <p:sp>
        <p:nvSpPr>
          <p:cNvPr id="23" name="Text 20"/>
          <p:cNvSpPr/>
          <p:nvPr/>
        </p:nvSpPr>
        <p:spPr>
          <a:xfrm>
            <a:off x="7068312" y="2944368"/>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habits help you pursue truth rather than merely consume information?</a:t>
            </a:r>
            <a:endParaRPr lang="en-US" sz="1300" dirty="0"/>
          </a:p>
        </p:txBody>
      </p:sp>
      <p:sp>
        <p:nvSpPr>
          <p:cNvPr id="24" name="Shape 21"/>
          <p:cNvSpPr/>
          <p:nvPr/>
        </p:nvSpPr>
        <p:spPr>
          <a:xfrm>
            <a:off x="6355080" y="3968496"/>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Text 22"/>
          <p:cNvSpPr/>
          <p:nvPr/>
        </p:nvSpPr>
        <p:spPr>
          <a:xfrm>
            <a:off x="6537960" y="41330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7</a:t>
            </a:r>
            <a:endParaRPr lang="en-US" sz="2000" dirty="0"/>
          </a:p>
        </p:txBody>
      </p:sp>
      <p:sp>
        <p:nvSpPr>
          <p:cNvPr id="26" name="Text 23"/>
          <p:cNvSpPr/>
          <p:nvPr/>
        </p:nvSpPr>
        <p:spPr>
          <a:xfrm>
            <a:off x="7068312" y="4059936"/>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can you become more like the Bereans in your daily life?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8F3B30"/>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600" b="1" spc="200" kern="0" dirty="0">
                <a:solidFill>
                  <a:srgbClr val="C9A15A"/>
                </a:solidFill>
                <a:latin typeface="Bookman Old Style" pitchFamily="34" charset="0"/>
                <a:ea typeface="Bookman Old Style" pitchFamily="34" charset="-122"/>
                <a:cs typeface="Bookman Old Style" pitchFamily="34" charset="-120"/>
              </a:rPr>
              <a:t>PRAYER</a:t>
            </a:r>
            <a:endParaRPr lang="en-US" sz="2600" dirty="0"/>
          </a:p>
        </p:txBody>
      </p:sp>
      <p:sp>
        <p:nvSpPr>
          <p:cNvPr id="6" name="Shape 3"/>
          <p:cNvSpPr/>
          <p:nvPr/>
        </p:nvSpPr>
        <p:spPr>
          <a:xfrm>
            <a:off x="1554480" y="2697480"/>
            <a:ext cx="9052560" cy="3566160"/>
          </a:xfrm>
          <a:prstGeom prst="roundRect">
            <a:avLst>
              <a:gd name="adj" fmla="val 3590"/>
            </a:avLst>
          </a:prstGeom>
          <a:solidFill>
            <a:srgbClr val="8F3B30"/>
          </a:solidFill>
          <a:ln/>
        </p:spPr>
      </p:sp>
      <p:sp>
        <p:nvSpPr>
          <p:cNvPr id="7" name="Text 4"/>
          <p:cNvSpPr/>
          <p:nvPr/>
        </p:nvSpPr>
        <p:spPr>
          <a:xfrm>
            <a:off x="2057400" y="2926080"/>
            <a:ext cx="8046720" cy="3108960"/>
          </a:xfrm>
          <a:prstGeom prst="rect">
            <a:avLst/>
          </a:prstGeom>
          <a:noFill/>
          <a:ln/>
        </p:spPr>
        <p:txBody>
          <a:bodyPr wrap="square" rtlCol="0" anchor="ctr"/>
          <a:lstStyle/>
          <a:p>
            <a:pPr algn="ctr" indent="0" marL="0">
              <a:lnSpc>
                <a:spcPct val="112000"/>
              </a:lnSpc>
              <a:buNone/>
            </a:pPr>
            <a:r>
              <a:rPr lang="en-US" sz="2100" i="1" dirty="0">
                <a:solidFill>
                  <a:srgbClr val="FBF7F0"/>
                </a:solidFill>
                <a:latin typeface="Bookman Old Style" pitchFamily="34" charset="0"/>
                <a:ea typeface="Bookman Old Style" pitchFamily="34" charset="-122"/>
                <a:cs typeface="Bookman Old Style" pitchFamily="34" charset="-120"/>
              </a:rPr>
              <a:t>"Father, thank You for being the God of truth. In a world filled with competing voices, help me remain anchored in Your Word. Give me discernment to recognize deception, wisdom to evaluate information carefully, and humility to pursue truth above personal preferences. Guard my mind from confusion and teach me to love what is true, honorable, and good. May my thoughts, words, and actions reflect Your truth in every area of life. Through Jesus Christ, who is the Way, the Truth, and the Life. Amen."</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Action Challenge</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One step to carry into the week</a:t>
            </a:r>
            <a:endParaRPr lang="en-US" sz="1500" dirty="0"/>
          </a:p>
        </p:txBody>
      </p:sp>
      <p:sp>
        <p:nvSpPr>
          <p:cNvPr id="6" name="Shape 3"/>
          <p:cNvSpPr/>
          <p:nvPr/>
        </p:nvSpPr>
        <p:spPr>
          <a:xfrm>
            <a:off x="868680" y="1920240"/>
            <a:ext cx="10424160" cy="3566160"/>
          </a:xfrm>
          <a:prstGeom prst="roundRect">
            <a:avLst>
              <a:gd name="adj" fmla="val 359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371600" y="2514600"/>
            <a:ext cx="1371600" cy="1371600"/>
          </a:xfrm>
          <a:prstGeom prst="ellipse">
            <a:avLst/>
          </a:prstGeom>
          <a:solidFill>
            <a:srgbClr val="6B7A5E"/>
          </a:solidFill>
          <a:ln/>
          <a:effectLst>
            <a:outerShdw sx="100000" sy="100000" kx="0" ky="0" algn="bl" rotWithShape="0" blurRad="114300" dist="381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1737360" y="2880360"/>
            <a:ext cx="640080" cy="640080"/>
          </a:xfrm>
          <a:prstGeom prst="rect">
            <a:avLst/>
          </a:prstGeom>
        </p:spPr>
      </p:pic>
      <p:sp>
        <p:nvSpPr>
          <p:cNvPr id="9" name="Text 5"/>
          <p:cNvSpPr/>
          <p:nvPr/>
        </p:nvSpPr>
        <p:spPr>
          <a:xfrm>
            <a:off x="3108960" y="2286000"/>
            <a:ext cx="7772400" cy="2834640"/>
          </a:xfrm>
          <a:prstGeom prst="rect">
            <a:avLst/>
          </a:prstGeom>
          <a:noFill/>
          <a:ln/>
        </p:spPr>
        <p:txBody>
          <a:bodyPr wrap="square" rtlCol="0" anchor="ctr"/>
          <a:lstStyle/>
          <a:p>
            <a:pPr indent="0" marL="0">
              <a:lnSpc>
                <a:spcPct val="112000"/>
              </a:lnSpc>
              <a:buNone/>
            </a:pPr>
            <a:r>
              <a:rPr lang="en-US" sz="2000" dirty="0">
                <a:solidFill>
                  <a:srgbClr val="3A342E"/>
                </a:solidFill>
                <a:latin typeface="Calibri" pitchFamily="34" charset="0"/>
                <a:ea typeface="Calibri" pitchFamily="34" charset="-122"/>
                <a:cs typeface="Calibri" pitchFamily="34" charset="-120"/>
              </a:rPr>
              <a:t>Become a "Digital Berean" for the next seven days. Before you share, repost, or react to any piece of information, commit to walking through five simple steps: At the end of the week, take time to reflect on how many assumptions, reactions, or conclusions changed simply because you slowed down and pursued truth intentionally. Then write down one lesson God taught you about discernment during the process, and carry it forward long after the seven days are done.</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5440680" y="1737360"/>
            <a:ext cx="1280160" cy="1280160"/>
          </a:xfrm>
          <a:prstGeom prst="rect">
            <a:avLst/>
          </a:prstGeom>
        </p:spPr>
      </p:pic>
      <p:sp>
        <p:nvSpPr>
          <p:cNvPr id="4" name="Text 1"/>
          <p:cNvSpPr/>
          <p:nvPr/>
        </p:nvSpPr>
        <p:spPr>
          <a:xfrm>
            <a:off x="0" y="324612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Chapter 6</a:t>
            </a:r>
            <a:endParaRPr lang="en-US" sz="1600" dirty="0"/>
          </a:p>
        </p:txBody>
      </p:sp>
      <p:sp>
        <p:nvSpPr>
          <p:cNvPr id="5" name="Text 2"/>
          <p:cNvSpPr/>
          <p:nvPr/>
        </p:nvSpPr>
        <p:spPr>
          <a:xfrm>
            <a:off x="914400" y="3657600"/>
            <a:ext cx="10332720" cy="1005840"/>
          </a:xfrm>
          <a:prstGeom prst="rect">
            <a:avLst/>
          </a:prstGeom>
          <a:noFill/>
          <a:ln/>
        </p:spPr>
        <p:txBody>
          <a:bodyPr wrap="square" rtlCol="0" anchor="t"/>
          <a:lstStyle/>
          <a:p>
            <a:pPr algn="ctr" indent="0" marL="0">
              <a:lnSpc>
                <a:spcPct val="98000"/>
              </a:lnSpc>
              <a:buNone/>
            </a:pPr>
            <a:r>
              <a:rPr lang="en-US" sz="4000" b="1" dirty="0">
                <a:solidFill>
                  <a:srgbClr val="FBF7F0"/>
                </a:solidFill>
                <a:latin typeface="Bookman Old Style" pitchFamily="34" charset="0"/>
                <a:ea typeface="Bookman Old Style" pitchFamily="34" charset="-122"/>
                <a:cs typeface="Bookman Old Style" pitchFamily="34" charset="-120"/>
              </a:rPr>
              <a:t>Truth in an Age of Algorithms</a:t>
            </a:r>
            <a:endParaRPr lang="en-US" sz="4000" dirty="0"/>
          </a:p>
        </p:txBody>
      </p:sp>
      <p:sp>
        <p:nvSpPr>
          <p:cNvPr id="6" name="Text 3"/>
          <p:cNvSpPr/>
          <p:nvPr/>
        </p:nvSpPr>
        <p:spPr>
          <a:xfrm>
            <a:off x="1371600" y="4892040"/>
            <a:ext cx="9418320" cy="822960"/>
          </a:xfrm>
          <a:prstGeom prst="rect">
            <a:avLst/>
          </a:prstGeom>
          <a:noFill/>
          <a:ln/>
        </p:spPr>
        <p:txBody>
          <a:bodyPr wrap="square" rtlCol="0" anchor="ctr"/>
          <a:lstStyle/>
          <a:p>
            <a:pPr algn="ctr" indent="0" marL="0">
              <a:buNone/>
            </a:pPr>
            <a:r>
              <a:rPr lang="en-US" sz="18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for the Digital Age — Chapter 6</dc:title>
  <dc:subject>PptxGenJS Presentation</dc:subject>
  <dc:creator>Rod Trent</dc:creator>
  <cp:lastModifiedBy>Rod Trent</cp:lastModifiedBy>
  <cp:revision>1</cp:revision>
  <dcterms:created xsi:type="dcterms:W3CDTF">2026-07-03T18:17:19Z</dcterms:created>
  <dcterms:modified xsi:type="dcterms:W3CDTF">2026-07-03T18:17:19Z</dcterms:modified>
</cp:coreProperties>
</file>