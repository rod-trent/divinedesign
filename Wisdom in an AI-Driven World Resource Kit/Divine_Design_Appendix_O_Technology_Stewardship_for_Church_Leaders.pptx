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sp>
        <p:nvSpPr>
          <p:cNvPr id="3" name="Shape 1"/>
          <p:cNvSpPr/>
          <p:nvPr/>
        </p:nvSpPr>
        <p:spPr>
          <a:xfrm>
            <a:off x="0" y="5349240"/>
            <a:ext cx="12161520" cy="1508760"/>
          </a:xfrm>
          <a:prstGeom prst="rect">
            <a:avLst/>
          </a:prstGeom>
          <a:solidFill>
            <a:srgbClr val="3E4A33"/>
          </a:solidFill>
          <a:ln/>
        </p:spPr>
      </p:sp>
      <p:sp>
        <p:nvSpPr>
          <p:cNvPr id="4" name="Shape 2"/>
          <p:cNvSpPr/>
          <p:nvPr/>
        </p:nvSpPr>
        <p:spPr>
          <a:xfrm>
            <a:off x="9326880" y="685800"/>
            <a:ext cx="1965960" cy="1965960"/>
          </a:xfrm>
          <a:prstGeom prst="ellipse">
            <a:avLst/>
          </a:prstGeom>
          <a:solidFill>
            <a:srgbClr val="3E4A33"/>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84080" y="1133856"/>
            <a:ext cx="1051560" cy="105156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Companion Resource</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Appendix O</a:t>
            </a:r>
            <a:endParaRPr lang="en-US" sz="3000" dirty="0"/>
          </a:p>
        </p:txBody>
      </p:sp>
      <p:sp>
        <p:nvSpPr>
          <p:cNvPr id="9" name="Text 6"/>
          <p:cNvSpPr/>
          <p:nvPr/>
        </p:nvSpPr>
        <p:spPr>
          <a:xfrm>
            <a:off x="777240" y="2926080"/>
            <a:ext cx="10607040" cy="2194560"/>
          </a:xfrm>
          <a:prstGeom prst="rect">
            <a:avLst/>
          </a:prstGeom>
          <a:noFill/>
          <a:ln/>
        </p:spPr>
        <p:txBody>
          <a:bodyPr wrap="square" rtlCol="0" anchor="t"/>
          <a:lstStyle/>
          <a:p>
            <a:pPr indent="0" marL="0">
              <a:lnSpc>
                <a:spcPct val="96000"/>
              </a:lnSpc>
              <a:buNone/>
            </a:pPr>
            <a:r>
              <a:rPr lang="en-US" sz="4600" b="1" dirty="0">
                <a:solidFill>
                  <a:srgbClr val="FBF9F3"/>
                </a:solidFill>
                <a:latin typeface="Bookman Old Style" pitchFamily="34" charset="0"/>
                <a:ea typeface="Bookman Old Style" pitchFamily="34" charset="-122"/>
                <a:cs typeface="Bookman Old Style" pitchFamily="34" charset="-120"/>
              </a:rPr>
              <a:t>Technology Stewardship for Church Leaders</a:t>
            </a:r>
            <a:endParaRPr lang="en-US" sz="4600" dirty="0"/>
          </a:p>
        </p:txBody>
      </p:sp>
      <p:sp>
        <p:nvSpPr>
          <p:cNvPr id="10" name="Text 7"/>
          <p:cNvSpPr/>
          <p:nvPr/>
        </p:nvSpPr>
        <p:spPr>
          <a:xfrm>
            <a:off x="868680" y="5715000"/>
            <a:ext cx="10058400" cy="822960"/>
          </a:xfrm>
          <a:prstGeom prst="rect">
            <a:avLst/>
          </a:prstGeom>
          <a:noFill/>
          <a:ln/>
        </p:spPr>
        <p:txBody>
          <a:bodyPr wrap="square" rtlCol="0" anchor="ctr"/>
          <a:lstStyle/>
          <a:p>
            <a:pPr indent="0" marL="0">
              <a:buNone/>
            </a:pPr>
            <a:r>
              <a:rPr lang="en-US" sz="1600" i="1" dirty="0">
                <a:solidFill>
                  <a:srgbClr val="E7E8D1"/>
                </a:solidFill>
                <a:latin typeface="Calibri" pitchFamily="34" charset="0"/>
                <a:ea typeface="Calibri" pitchFamily="34" charset="-122"/>
                <a:cs typeface="Calibri" pitchFamily="34" charset="-120"/>
              </a:rPr>
              <a:t>Leading the Church Faithfully in an AI-Driven World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What's Inside</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The sections of this resource</a:t>
            </a:r>
            <a:endParaRPr lang="en-US" sz="1500" dirty="0"/>
          </a:p>
        </p:txBody>
      </p:sp>
      <p:sp>
        <p:nvSpPr>
          <p:cNvPr id="6" name="Shape 3"/>
          <p:cNvSpPr/>
          <p:nvPr/>
        </p:nvSpPr>
        <p:spPr>
          <a:xfrm>
            <a:off x="868680" y="1783080"/>
            <a:ext cx="457200" cy="457200"/>
          </a:xfrm>
          <a:prstGeom prst="ellipse">
            <a:avLst/>
          </a:prstGeom>
          <a:solidFill>
            <a:srgbClr val="B85042"/>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527048" y="173736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Introduction</a:t>
            </a:r>
            <a:endParaRPr lang="en-US" sz="1300" dirty="0"/>
          </a:p>
        </p:txBody>
      </p:sp>
      <p:sp>
        <p:nvSpPr>
          <p:cNvPr id="9" name="Shape 6"/>
          <p:cNvSpPr/>
          <p:nvPr/>
        </p:nvSpPr>
        <p:spPr>
          <a:xfrm>
            <a:off x="868680" y="2350008"/>
            <a:ext cx="457200" cy="457200"/>
          </a:xfrm>
          <a:prstGeom prst="ellipse">
            <a:avLst/>
          </a:prstGeom>
          <a:solidFill>
            <a:srgbClr val="B85042"/>
          </a:solidFill>
          <a:ln/>
        </p:spPr>
      </p:sp>
      <p:sp>
        <p:nvSpPr>
          <p:cNvPr id="10" name="Text 7"/>
          <p:cNvSpPr/>
          <p:nvPr/>
        </p:nvSpPr>
        <p:spPr>
          <a:xfrm>
            <a:off x="868680" y="235000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527048" y="2304288"/>
            <a:ext cx="4937760" cy="548640"/>
          </a:xfrm>
          <a:prstGeom prst="rect">
            <a:avLst/>
          </a:prstGeom>
          <a:noFill/>
          <a:ln/>
        </p:spPr>
        <p:txBody>
          <a:bodyPr wrap="square" rtlCol="0" anchor="ctr"/>
          <a:lstStyle/>
          <a:p>
            <a:pPr indent="0" marL="0">
              <a:buNone/>
            </a:pPr>
            <a:r>
              <a:rPr lang="en-US" sz="1200" b="1" dirty="0">
                <a:solidFill>
                  <a:srgbClr val="37352E"/>
                </a:solidFill>
                <a:latin typeface="Calibri" pitchFamily="34" charset="0"/>
                <a:ea typeface="Calibri" pitchFamily="34" charset="-122"/>
                <a:cs typeface="Calibri" pitchFamily="34" charset="-120"/>
              </a:rPr>
              <a:t>Technology Is a Tool for Ministry, Not the Mission</a:t>
            </a:r>
            <a:endParaRPr lang="en-US" sz="1200" dirty="0"/>
          </a:p>
        </p:txBody>
      </p:sp>
      <p:sp>
        <p:nvSpPr>
          <p:cNvPr id="12" name="Shape 9"/>
          <p:cNvSpPr/>
          <p:nvPr/>
        </p:nvSpPr>
        <p:spPr>
          <a:xfrm>
            <a:off x="868680" y="2916936"/>
            <a:ext cx="457200" cy="457200"/>
          </a:xfrm>
          <a:prstGeom prst="ellipse">
            <a:avLst/>
          </a:prstGeom>
          <a:solidFill>
            <a:srgbClr val="B85042"/>
          </a:solidFill>
          <a:ln/>
        </p:spPr>
      </p:sp>
      <p:sp>
        <p:nvSpPr>
          <p:cNvPr id="13" name="Text 10"/>
          <p:cNvSpPr/>
          <p:nvPr/>
        </p:nvSpPr>
        <p:spPr>
          <a:xfrm>
            <a:off x="868680" y="291693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527048" y="287121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Livestreaming and Embodied Community</a:t>
            </a:r>
            <a:endParaRPr lang="en-US" sz="1300" dirty="0"/>
          </a:p>
        </p:txBody>
      </p:sp>
      <p:sp>
        <p:nvSpPr>
          <p:cNvPr id="15" name="Shape 12"/>
          <p:cNvSpPr/>
          <p:nvPr/>
        </p:nvSpPr>
        <p:spPr>
          <a:xfrm>
            <a:off x="868680" y="3483864"/>
            <a:ext cx="457200" cy="457200"/>
          </a:xfrm>
          <a:prstGeom prst="ellipse">
            <a:avLst/>
          </a:prstGeom>
          <a:solidFill>
            <a:srgbClr val="B85042"/>
          </a:solidFill>
          <a:ln/>
        </p:spPr>
      </p:sp>
      <p:sp>
        <p:nvSpPr>
          <p:cNvPr id="16" name="Text 13"/>
          <p:cNvSpPr/>
          <p:nvPr/>
        </p:nvSpPr>
        <p:spPr>
          <a:xfrm>
            <a:off x="868680" y="348386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527048" y="343814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AI in Ministry</a:t>
            </a:r>
            <a:endParaRPr lang="en-US" sz="1300" dirty="0"/>
          </a:p>
        </p:txBody>
      </p:sp>
      <p:sp>
        <p:nvSpPr>
          <p:cNvPr id="18" name="Shape 15"/>
          <p:cNvSpPr/>
          <p:nvPr/>
        </p:nvSpPr>
        <p:spPr>
          <a:xfrm>
            <a:off x="868680" y="4050792"/>
            <a:ext cx="457200" cy="457200"/>
          </a:xfrm>
          <a:prstGeom prst="ellipse">
            <a:avLst/>
          </a:prstGeom>
          <a:solidFill>
            <a:srgbClr val="B85042"/>
          </a:solidFill>
          <a:ln/>
        </p:spPr>
      </p:sp>
      <p:sp>
        <p:nvSpPr>
          <p:cNvPr id="19" name="Text 16"/>
          <p:cNvSpPr/>
          <p:nvPr/>
        </p:nvSpPr>
        <p:spPr>
          <a:xfrm>
            <a:off x="868680" y="4050792"/>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527048" y="4005072"/>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Sermon Preparation and Integrity</a:t>
            </a:r>
            <a:endParaRPr lang="en-US" sz="1300" dirty="0"/>
          </a:p>
        </p:txBody>
      </p:sp>
      <p:sp>
        <p:nvSpPr>
          <p:cNvPr id="21" name="Shape 18"/>
          <p:cNvSpPr/>
          <p:nvPr/>
        </p:nvSpPr>
        <p:spPr>
          <a:xfrm>
            <a:off x="868680" y="4617720"/>
            <a:ext cx="457200" cy="457200"/>
          </a:xfrm>
          <a:prstGeom prst="ellipse">
            <a:avLst/>
          </a:prstGeom>
          <a:solidFill>
            <a:srgbClr val="B85042"/>
          </a:solidFill>
          <a:ln/>
        </p:spPr>
      </p:sp>
      <p:sp>
        <p:nvSpPr>
          <p:cNvPr id="22" name="Text 19"/>
          <p:cNvSpPr/>
          <p:nvPr/>
        </p:nvSpPr>
        <p:spPr>
          <a:xfrm>
            <a:off x="868680" y="461772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6</a:t>
            </a:r>
            <a:endParaRPr lang="en-US" sz="1400" dirty="0"/>
          </a:p>
        </p:txBody>
      </p:sp>
      <p:sp>
        <p:nvSpPr>
          <p:cNvPr id="23" name="Text 20"/>
          <p:cNvSpPr/>
          <p:nvPr/>
        </p:nvSpPr>
        <p:spPr>
          <a:xfrm>
            <a:off x="1527048" y="457200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Protecting Member Data</a:t>
            </a:r>
            <a:endParaRPr lang="en-US" sz="1300" dirty="0"/>
          </a:p>
        </p:txBody>
      </p:sp>
      <p:sp>
        <p:nvSpPr>
          <p:cNvPr id="24" name="Shape 21"/>
          <p:cNvSpPr/>
          <p:nvPr/>
        </p:nvSpPr>
        <p:spPr>
          <a:xfrm>
            <a:off x="868680" y="5184648"/>
            <a:ext cx="457200" cy="457200"/>
          </a:xfrm>
          <a:prstGeom prst="ellipse">
            <a:avLst/>
          </a:prstGeom>
          <a:solidFill>
            <a:srgbClr val="B85042"/>
          </a:solidFill>
          <a:ln/>
        </p:spPr>
      </p:sp>
      <p:sp>
        <p:nvSpPr>
          <p:cNvPr id="25" name="Text 22"/>
          <p:cNvSpPr/>
          <p:nvPr/>
        </p:nvSpPr>
        <p:spPr>
          <a:xfrm>
            <a:off x="868680" y="518464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7</a:t>
            </a:r>
            <a:endParaRPr lang="en-US" sz="1400" dirty="0"/>
          </a:p>
        </p:txBody>
      </p:sp>
      <p:sp>
        <p:nvSpPr>
          <p:cNvPr id="26" name="Text 23"/>
          <p:cNvSpPr/>
          <p:nvPr/>
        </p:nvSpPr>
        <p:spPr>
          <a:xfrm>
            <a:off x="1527048" y="513892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Church Cybersecurity as Shepherding</a:t>
            </a:r>
            <a:endParaRPr lang="en-US" sz="1300" dirty="0"/>
          </a:p>
        </p:txBody>
      </p:sp>
      <p:sp>
        <p:nvSpPr>
          <p:cNvPr id="27" name="Shape 24"/>
          <p:cNvSpPr/>
          <p:nvPr/>
        </p:nvSpPr>
        <p:spPr>
          <a:xfrm>
            <a:off x="868680" y="5751576"/>
            <a:ext cx="457200" cy="457200"/>
          </a:xfrm>
          <a:prstGeom prst="ellipse">
            <a:avLst/>
          </a:prstGeom>
          <a:solidFill>
            <a:srgbClr val="B85042"/>
          </a:solidFill>
          <a:ln/>
        </p:spPr>
      </p:sp>
      <p:sp>
        <p:nvSpPr>
          <p:cNvPr id="28" name="Text 25"/>
          <p:cNvSpPr/>
          <p:nvPr/>
        </p:nvSpPr>
        <p:spPr>
          <a:xfrm>
            <a:off x="868680" y="575157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8</a:t>
            </a:r>
            <a:endParaRPr lang="en-US" sz="1400" dirty="0"/>
          </a:p>
        </p:txBody>
      </p:sp>
      <p:sp>
        <p:nvSpPr>
          <p:cNvPr id="29" name="Text 26"/>
          <p:cNvSpPr/>
          <p:nvPr/>
        </p:nvSpPr>
        <p:spPr>
          <a:xfrm>
            <a:off x="1527048" y="570585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Social Media Policies</a:t>
            </a:r>
            <a:endParaRPr lang="en-US" sz="1300" dirty="0"/>
          </a:p>
        </p:txBody>
      </p:sp>
      <p:sp>
        <p:nvSpPr>
          <p:cNvPr id="30" name="Shape 27"/>
          <p:cNvSpPr/>
          <p:nvPr/>
        </p:nvSpPr>
        <p:spPr>
          <a:xfrm>
            <a:off x="868680" y="6318504"/>
            <a:ext cx="457200" cy="457200"/>
          </a:xfrm>
          <a:prstGeom prst="ellipse">
            <a:avLst/>
          </a:prstGeom>
          <a:solidFill>
            <a:srgbClr val="B85042"/>
          </a:solidFill>
          <a:ln/>
        </p:spPr>
      </p:sp>
      <p:sp>
        <p:nvSpPr>
          <p:cNvPr id="31" name="Text 28"/>
          <p:cNvSpPr/>
          <p:nvPr/>
        </p:nvSpPr>
        <p:spPr>
          <a:xfrm>
            <a:off x="868680" y="631850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9</a:t>
            </a:r>
            <a:endParaRPr lang="en-US" sz="1400" dirty="0"/>
          </a:p>
        </p:txBody>
      </p:sp>
      <p:sp>
        <p:nvSpPr>
          <p:cNvPr id="32" name="Text 29"/>
          <p:cNvSpPr/>
          <p:nvPr/>
        </p:nvSpPr>
        <p:spPr>
          <a:xfrm>
            <a:off x="1527048" y="627278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Digital Discipleship Strategy</a:t>
            </a:r>
            <a:endParaRPr lang="en-US" sz="1300" dirty="0"/>
          </a:p>
        </p:txBody>
      </p:sp>
      <p:sp>
        <p:nvSpPr>
          <p:cNvPr id="33" name="Shape 30"/>
          <p:cNvSpPr/>
          <p:nvPr/>
        </p:nvSpPr>
        <p:spPr>
          <a:xfrm>
            <a:off x="868680" y="6885432"/>
            <a:ext cx="457200" cy="457200"/>
          </a:xfrm>
          <a:prstGeom prst="ellipse">
            <a:avLst/>
          </a:prstGeom>
          <a:solidFill>
            <a:srgbClr val="B85042"/>
          </a:solidFill>
          <a:ln/>
        </p:spPr>
      </p:sp>
      <p:sp>
        <p:nvSpPr>
          <p:cNvPr id="34" name="Text 31"/>
          <p:cNvSpPr/>
          <p:nvPr/>
        </p:nvSpPr>
        <p:spPr>
          <a:xfrm>
            <a:off x="868680" y="6885432"/>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10</a:t>
            </a:r>
            <a:endParaRPr lang="en-US" sz="1400" dirty="0"/>
          </a:p>
        </p:txBody>
      </p:sp>
      <p:sp>
        <p:nvSpPr>
          <p:cNvPr id="35" name="Text 32"/>
          <p:cNvSpPr/>
          <p:nvPr/>
        </p:nvSpPr>
        <p:spPr>
          <a:xfrm>
            <a:off x="1527048" y="6839712"/>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AI and Pastoral Care</a:t>
            </a:r>
            <a:endParaRPr lang="en-US" sz="1300" dirty="0"/>
          </a:p>
        </p:txBody>
      </p:sp>
      <p:sp>
        <p:nvSpPr>
          <p:cNvPr id="36" name="Shape 33"/>
          <p:cNvSpPr/>
          <p:nvPr/>
        </p:nvSpPr>
        <p:spPr>
          <a:xfrm>
            <a:off x="868680" y="7452360"/>
            <a:ext cx="457200" cy="457200"/>
          </a:xfrm>
          <a:prstGeom prst="ellipse">
            <a:avLst/>
          </a:prstGeom>
          <a:solidFill>
            <a:srgbClr val="B85042"/>
          </a:solidFill>
          <a:ln/>
        </p:spPr>
      </p:sp>
      <p:sp>
        <p:nvSpPr>
          <p:cNvPr id="37" name="Text 34"/>
          <p:cNvSpPr/>
          <p:nvPr/>
        </p:nvSpPr>
        <p:spPr>
          <a:xfrm>
            <a:off x="868680" y="745236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11</a:t>
            </a:r>
            <a:endParaRPr lang="en-US" sz="1400" dirty="0"/>
          </a:p>
        </p:txBody>
      </p:sp>
      <p:sp>
        <p:nvSpPr>
          <p:cNvPr id="38" name="Text 35"/>
          <p:cNvSpPr/>
          <p:nvPr/>
        </p:nvSpPr>
        <p:spPr>
          <a:xfrm>
            <a:off x="1527048" y="740664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Teaching Congregations Digital Wisdom</a:t>
            </a:r>
            <a:endParaRPr lang="en-US" sz="1300" dirty="0"/>
          </a:p>
        </p:txBody>
      </p:sp>
      <p:sp>
        <p:nvSpPr>
          <p:cNvPr id="39" name="Shape 36"/>
          <p:cNvSpPr/>
          <p:nvPr/>
        </p:nvSpPr>
        <p:spPr>
          <a:xfrm>
            <a:off x="868680" y="8019288"/>
            <a:ext cx="457200" cy="457200"/>
          </a:xfrm>
          <a:prstGeom prst="ellipse">
            <a:avLst/>
          </a:prstGeom>
          <a:solidFill>
            <a:srgbClr val="B85042"/>
          </a:solidFill>
          <a:ln/>
        </p:spPr>
      </p:sp>
      <p:sp>
        <p:nvSpPr>
          <p:cNvPr id="40" name="Text 37"/>
          <p:cNvSpPr/>
          <p:nvPr/>
        </p:nvSpPr>
        <p:spPr>
          <a:xfrm>
            <a:off x="868680" y="801928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12</a:t>
            </a:r>
            <a:endParaRPr lang="en-US" sz="1400" dirty="0"/>
          </a:p>
        </p:txBody>
      </p:sp>
      <p:sp>
        <p:nvSpPr>
          <p:cNvPr id="41" name="Text 38"/>
          <p:cNvSpPr/>
          <p:nvPr/>
        </p:nvSpPr>
        <p:spPr>
          <a:xfrm>
            <a:off x="1527048" y="797356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Technology and Church Unity</a:t>
            </a:r>
            <a:endParaRPr lang="en-US" sz="1300" dirty="0"/>
          </a:p>
        </p:txBody>
      </p:sp>
      <p:sp>
        <p:nvSpPr>
          <p:cNvPr id="42" name="Shape 39"/>
          <p:cNvSpPr/>
          <p:nvPr/>
        </p:nvSpPr>
        <p:spPr>
          <a:xfrm>
            <a:off x="6355080" y="1783080"/>
            <a:ext cx="457200" cy="457200"/>
          </a:xfrm>
          <a:prstGeom prst="ellipse">
            <a:avLst/>
          </a:prstGeom>
          <a:solidFill>
            <a:srgbClr val="B85042"/>
          </a:solidFill>
          <a:ln/>
        </p:spPr>
      </p:sp>
      <p:sp>
        <p:nvSpPr>
          <p:cNvPr id="43" name="Text 40"/>
          <p:cNvSpPr/>
          <p:nvPr/>
        </p:nvSpPr>
        <p:spPr>
          <a:xfrm>
            <a:off x="6355080" y="178308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13</a:t>
            </a:r>
            <a:endParaRPr lang="en-US" sz="1400" dirty="0"/>
          </a:p>
        </p:txBody>
      </p:sp>
      <p:sp>
        <p:nvSpPr>
          <p:cNvPr id="44" name="Text 41"/>
          <p:cNvSpPr/>
          <p:nvPr/>
        </p:nvSpPr>
        <p:spPr>
          <a:xfrm>
            <a:off x="7013448" y="1737360"/>
            <a:ext cx="4937760" cy="548640"/>
          </a:xfrm>
          <a:prstGeom prst="rect">
            <a:avLst/>
          </a:prstGeom>
          <a:noFill/>
          <a:ln/>
        </p:spPr>
        <p:txBody>
          <a:bodyPr wrap="square" rtlCol="0" anchor="ctr"/>
          <a:lstStyle/>
          <a:p>
            <a:pPr indent="0" marL="0">
              <a:buNone/>
            </a:pPr>
            <a:r>
              <a:rPr lang="en-US" sz="1200" b="1" dirty="0">
                <a:solidFill>
                  <a:srgbClr val="37352E"/>
                </a:solidFill>
                <a:latin typeface="Calibri" pitchFamily="34" charset="0"/>
                <a:ea typeface="Calibri" pitchFamily="34" charset="-122"/>
                <a:cs typeface="Calibri" pitchFamily="34" charset="-120"/>
              </a:rPr>
              <a:t>Questions Church Leaders Should Ask Before Adopting New Technology</a:t>
            </a:r>
            <a:endParaRPr lang="en-US" sz="1200" dirty="0"/>
          </a:p>
        </p:txBody>
      </p:sp>
      <p:sp>
        <p:nvSpPr>
          <p:cNvPr id="45" name="Shape 42"/>
          <p:cNvSpPr/>
          <p:nvPr/>
        </p:nvSpPr>
        <p:spPr>
          <a:xfrm>
            <a:off x="6355080" y="2350008"/>
            <a:ext cx="457200" cy="457200"/>
          </a:xfrm>
          <a:prstGeom prst="ellipse">
            <a:avLst/>
          </a:prstGeom>
          <a:solidFill>
            <a:srgbClr val="B85042"/>
          </a:solidFill>
          <a:ln/>
        </p:spPr>
      </p:sp>
      <p:sp>
        <p:nvSpPr>
          <p:cNvPr id="46" name="Text 43"/>
          <p:cNvSpPr/>
          <p:nvPr/>
        </p:nvSpPr>
        <p:spPr>
          <a:xfrm>
            <a:off x="6355080" y="235000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14</a:t>
            </a:r>
            <a:endParaRPr lang="en-US" sz="1400" dirty="0"/>
          </a:p>
        </p:txBody>
      </p:sp>
      <p:sp>
        <p:nvSpPr>
          <p:cNvPr id="47" name="Text 44"/>
          <p:cNvSpPr/>
          <p:nvPr/>
        </p:nvSpPr>
        <p:spPr>
          <a:xfrm>
            <a:off x="7013448" y="230428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 Practical Church Technology Checklist</a:t>
            </a:r>
            <a:endParaRPr lang="en-US" sz="1300" dirty="0"/>
          </a:p>
        </p:txBody>
      </p:sp>
      <p:sp>
        <p:nvSpPr>
          <p:cNvPr id="48" name="Shape 45"/>
          <p:cNvSpPr/>
          <p:nvPr/>
        </p:nvSpPr>
        <p:spPr>
          <a:xfrm>
            <a:off x="6355080" y="2916936"/>
            <a:ext cx="457200" cy="457200"/>
          </a:xfrm>
          <a:prstGeom prst="ellipse">
            <a:avLst/>
          </a:prstGeom>
          <a:solidFill>
            <a:srgbClr val="B85042"/>
          </a:solidFill>
          <a:ln/>
        </p:spPr>
      </p:sp>
      <p:sp>
        <p:nvSpPr>
          <p:cNvPr id="49" name="Text 46"/>
          <p:cNvSpPr/>
          <p:nvPr/>
        </p:nvSpPr>
        <p:spPr>
          <a:xfrm>
            <a:off x="6355080" y="291693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15</a:t>
            </a:r>
            <a:endParaRPr lang="en-US" sz="1400" dirty="0"/>
          </a:p>
        </p:txBody>
      </p:sp>
      <p:sp>
        <p:nvSpPr>
          <p:cNvPr id="50" name="Text 47"/>
          <p:cNvSpPr/>
          <p:nvPr/>
        </p:nvSpPr>
        <p:spPr>
          <a:xfrm>
            <a:off x="7013448" y="287121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Mission Alignment</a:t>
            </a:r>
            <a:endParaRPr lang="en-US" sz="1300" dirty="0"/>
          </a:p>
        </p:txBody>
      </p:sp>
      <p:sp>
        <p:nvSpPr>
          <p:cNvPr id="51" name="Shape 48"/>
          <p:cNvSpPr/>
          <p:nvPr/>
        </p:nvSpPr>
        <p:spPr>
          <a:xfrm>
            <a:off x="6355080" y="3483864"/>
            <a:ext cx="457200" cy="457200"/>
          </a:xfrm>
          <a:prstGeom prst="ellipse">
            <a:avLst/>
          </a:prstGeom>
          <a:solidFill>
            <a:srgbClr val="B85042"/>
          </a:solidFill>
          <a:ln/>
        </p:spPr>
      </p:sp>
      <p:sp>
        <p:nvSpPr>
          <p:cNvPr id="52" name="Text 49"/>
          <p:cNvSpPr/>
          <p:nvPr/>
        </p:nvSpPr>
        <p:spPr>
          <a:xfrm>
            <a:off x="6355080" y="348386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16</a:t>
            </a:r>
            <a:endParaRPr lang="en-US" sz="1400" dirty="0"/>
          </a:p>
        </p:txBody>
      </p:sp>
      <p:sp>
        <p:nvSpPr>
          <p:cNvPr id="53" name="Text 50"/>
          <p:cNvSpPr/>
          <p:nvPr/>
        </p:nvSpPr>
        <p:spPr>
          <a:xfrm>
            <a:off x="7013448" y="343814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Security</a:t>
            </a:r>
            <a:endParaRPr lang="en-US" sz="1300" dirty="0"/>
          </a:p>
        </p:txBody>
      </p:sp>
      <p:sp>
        <p:nvSpPr>
          <p:cNvPr id="54" name="Shape 51"/>
          <p:cNvSpPr/>
          <p:nvPr/>
        </p:nvSpPr>
        <p:spPr>
          <a:xfrm>
            <a:off x="6355080" y="4050792"/>
            <a:ext cx="457200" cy="457200"/>
          </a:xfrm>
          <a:prstGeom prst="ellipse">
            <a:avLst/>
          </a:prstGeom>
          <a:solidFill>
            <a:srgbClr val="B85042"/>
          </a:solidFill>
          <a:ln/>
        </p:spPr>
      </p:sp>
      <p:sp>
        <p:nvSpPr>
          <p:cNvPr id="55" name="Text 52"/>
          <p:cNvSpPr/>
          <p:nvPr/>
        </p:nvSpPr>
        <p:spPr>
          <a:xfrm>
            <a:off x="6355080" y="4050792"/>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17</a:t>
            </a:r>
            <a:endParaRPr lang="en-US" sz="1400" dirty="0"/>
          </a:p>
        </p:txBody>
      </p:sp>
      <p:sp>
        <p:nvSpPr>
          <p:cNvPr id="56" name="Text 53"/>
          <p:cNvSpPr/>
          <p:nvPr/>
        </p:nvSpPr>
        <p:spPr>
          <a:xfrm>
            <a:off x="7013448" y="4005072"/>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Privacy</a:t>
            </a:r>
            <a:endParaRPr lang="en-US" sz="1300" dirty="0"/>
          </a:p>
        </p:txBody>
      </p:sp>
      <p:sp>
        <p:nvSpPr>
          <p:cNvPr id="57" name="Shape 54"/>
          <p:cNvSpPr/>
          <p:nvPr/>
        </p:nvSpPr>
        <p:spPr>
          <a:xfrm>
            <a:off x="6355080" y="4617720"/>
            <a:ext cx="457200" cy="457200"/>
          </a:xfrm>
          <a:prstGeom prst="ellipse">
            <a:avLst/>
          </a:prstGeom>
          <a:solidFill>
            <a:srgbClr val="B85042"/>
          </a:solidFill>
          <a:ln/>
        </p:spPr>
      </p:sp>
      <p:sp>
        <p:nvSpPr>
          <p:cNvPr id="58" name="Text 55"/>
          <p:cNvSpPr/>
          <p:nvPr/>
        </p:nvSpPr>
        <p:spPr>
          <a:xfrm>
            <a:off x="6355080" y="461772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18</a:t>
            </a:r>
            <a:endParaRPr lang="en-US" sz="1400" dirty="0"/>
          </a:p>
        </p:txBody>
      </p:sp>
      <p:sp>
        <p:nvSpPr>
          <p:cNvPr id="59" name="Text 56"/>
          <p:cNvSpPr/>
          <p:nvPr/>
        </p:nvSpPr>
        <p:spPr>
          <a:xfrm>
            <a:off x="7013448" y="457200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AI Usage</a:t>
            </a:r>
            <a:endParaRPr lang="en-US" sz="1300" dirty="0"/>
          </a:p>
        </p:txBody>
      </p:sp>
      <p:sp>
        <p:nvSpPr>
          <p:cNvPr id="60" name="Shape 57"/>
          <p:cNvSpPr/>
          <p:nvPr/>
        </p:nvSpPr>
        <p:spPr>
          <a:xfrm>
            <a:off x="6355080" y="5184648"/>
            <a:ext cx="457200" cy="457200"/>
          </a:xfrm>
          <a:prstGeom prst="ellipse">
            <a:avLst/>
          </a:prstGeom>
          <a:solidFill>
            <a:srgbClr val="B85042"/>
          </a:solidFill>
          <a:ln/>
        </p:spPr>
      </p:sp>
      <p:sp>
        <p:nvSpPr>
          <p:cNvPr id="61" name="Text 58"/>
          <p:cNvSpPr/>
          <p:nvPr/>
        </p:nvSpPr>
        <p:spPr>
          <a:xfrm>
            <a:off x="6355080" y="518464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19</a:t>
            </a:r>
            <a:endParaRPr lang="en-US" sz="1400" dirty="0"/>
          </a:p>
        </p:txBody>
      </p:sp>
      <p:sp>
        <p:nvSpPr>
          <p:cNvPr id="62" name="Text 59"/>
          <p:cNvSpPr/>
          <p:nvPr/>
        </p:nvSpPr>
        <p:spPr>
          <a:xfrm>
            <a:off x="7013448" y="513892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Communication</a:t>
            </a:r>
            <a:endParaRPr lang="en-US" sz="1300" dirty="0"/>
          </a:p>
        </p:txBody>
      </p:sp>
      <p:sp>
        <p:nvSpPr>
          <p:cNvPr id="63" name="Shape 60"/>
          <p:cNvSpPr/>
          <p:nvPr/>
        </p:nvSpPr>
        <p:spPr>
          <a:xfrm>
            <a:off x="6355080" y="5751576"/>
            <a:ext cx="457200" cy="457200"/>
          </a:xfrm>
          <a:prstGeom prst="ellipse">
            <a:avLst/>
          </a:prstGeom>
          <a:solidFill>
            <a:srgbClr val="B85042"/>
          </a:solidFill>
          <a:ln/>
        </p:spPr>
      </p:sp>
      <p:sp>
        <p:nvSpPr>
          <p:cNvPr id="64" name="Text 61"/>
          <p:cNvSpPr/>
          <p:nvPr/>
        </p:nvSpPr>
        <p:spPr>
          <a:xfrm>
            <a:off x="6355080" y="575157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20</a:t>
            </a:r>
            <a:endParaRPr lang="en-US" sz="1400" dirty="0"/>
          </a:p>
        </p:txBody>
      </p:sp>
      <p:sp>
        <p:nvSpPr>
          <p:cNvPr id="65" name="Text 62"/>
          <p:cNvSpPr/>
          <p:nvPr/>
        </p:nvSpPr>
        <p:spPr>
          <a:xfrm>
            <a:off x="7013448" y="570585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Discipleship</a:t>
            </a:r>
            <a:endParaRPr lang="en-US" sz="1300" dirty="0"/>
          </a:p>
        </p:txBody>
      </p:sp>
      <p:sp>
        <p:nvSpPr>
          <p:cNvPr id="66" name="Shape 63"/>
          <p:cNvSpPr/>
          <p:nvPr/>
        </p:nvSpPr>
        <p:spPr>
          <a:xfrm>
            <a:off x="6355080" y="6318504"/>
            <a:ext cx="457200" cy="457200"/>
          </a:xfrm>
          <a:prstGeom prst="ellipse">
            <a:avLst/>
          </a:prstGeom>
          <a:solidFill>
            <a:srgbClr val="B85042"/>
          </a:solidFill>
          <a:ln/>
        </p:spPr>
      </p:sp>
      <p:sp>
        <p:nvSpPr>
          <p:cNvPr id="67" name="Text 64"/>
          <p:cNvSpPr/>
          <p:nvPr/>
        </p:nvSpPr>
        <p:spPr>
          <a:xfrm>
            <a:off x="6355080" y="631850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21</a:t>
            </a:r>
            <a:endParaRPr lang="en-US" sz="1400" dirty="0"/>
          </a:p>
        </p:txBody>
      </p:sp>
      <p:sp>
        <p:nvSpPr>
          <p:cNvPr id="68" name="Text 65"/>
          <p:cNvSpPr/>
          <p:nvPr/>
        </p:nvSpPr>
        <p:spPr>
          <a:xfrm>
            <a:off x="7013448" y="627278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 Word to Pastors</a:t>
            </a:r>
            <a:endParaRPr lang="en-US" sz="1300" dirty="0"/>
          </a:p>
        </p:txBody>
      </p:sp>
      <p:sp>
        <p:nvSpPr>
          <p:cNvPr id="69" name="Shape 66"/>
          <p:cNvSpPr/>
          <p:nvPr/>
        </p:nvSpPr>
        <p:spPr>
          <a:xfrm>
            <a:off x="6355080" y="6885432"/>
            <a:ext cx="457200" cy="457200"/>
          </a:xfrm>
          <a:prstGeom prst="ellipse">
            <a:avLst/>
          </a:prstGeom>
          <a:solidFill>
            <a:srgbClr val="B85042"/>
          </a:solidFill>
          <a:ln/>
        </p:spPr>
      </p:sp>
      <p:sp>
        <p:nvSpPr>
          <p:cNvPr id="70" name="Text 67"/>
          <p:cNvSpPr/>
          <p:nvPr/>
        </p:nvSpPr>
        <p:spPr>
          <a:xfrm>
            <a:off x="6355080" y="6885432"/>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22</a:t>
            </a:r>
            <a:endParaRPr lang="en-US" sz="1400" dirty="0"/>
          </a:p>
        </p:txBody>
      </p:sp>
      <p:sp>
        <p:nvSpPr>
          <p:cNvPr id="71" name="Text 68"/>
          <p:cNvSpPr/>
          <p:nvPr/>
        </p:nvSpPr>
        <p:spPr>
          <a:xfrm>
            <a:off x="7013448" y="6839712"/>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 Word to Technology Volunteers and Staff</a:t>
            </a:r>
            <a:endParaRPr lang="en-US" sz="1300" dirty="0"/>
          </a:p>
        </p:txBody>
      </p:sp>
      <p:sp>
        <p:nvSpPr>
          <p:cNvPr id="72" name="Shape 69"/>
          <p:cNvSpPr/>
          <p:nvPr/>
        </p:nvSpPr>
        <p:spPr>
          <a:xfrm>
            <a:off x="6355080" y="7452360"/>
            <a:ext cx="457200" cy="457200"/>
          </a:xfrm>
          <a:prstGeom prst="ellipse">
            <a:avLst/>
          </a:prstGeom>
          <a:solidFill>
            <a:srgbClr val="B85042"/>
          </a:solidFill>
          <a:ln/>
        </p:spPr>
      </p:sp>
      <p:sp>
        <p:nvSpPr>
          <p:cNvPr id="73" name="Text 70"/>
          <p:cNvSpPr/>
          <p:nvPr/>
        </p:nvSpPr>
        <p:spPr>
          <a:xfrm>
            <a:off x="6355080" y="745236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23</a:t>
            </a:r>
            <a:endParaRPr lang="en-US" sz="1400" dirty="0"/>
          </a:p>
        </p:txBody>
      </p:sp>
      <p:sp>
        <p:nvSpPr>
          <p:cNvPr id="74" name="Text 71"/>
          <p:cNvSpPr/>
          <p:nvPr/>
        </p:nvSpPr>
        <p:spPr>
          <a:xfrm>
            <a:off x="7013448" y="740664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Prayer for Church Leaders</a:t>
            </a:r>
            <a:endParaRPr lang="en-US" sz="1300" dirty="0"/>
          </a:p>
        </p:txBody>
      </p:sp>
      <p:sp>
        <p:nvSpPr>
          <p:cNvPr id="75" name="Shape 72"/>
          <p:cNvSpPr/>
          <p:nvPr/>
        </p:nvSpPr>
        <p:spPr>
          <a:xfrm>
            <a:off x="6355080" y="8019288"/>
            <a:ext cx="457200" cy="457200"/>
          </a:xfrm>
          <a:prstGeom prst="ellipse">
            <a:avLst/>
          </a:prstGeom>
          <a:solidFill>
            <a:srgbClr val="B85042"/>
          </a:solidFill>
          <a:ln/>
        </p:spPr>
      </p:sp>
      <p:sp>
        <p:nvSpPr>
          <p:cNvPr id="76" name="Text 73"/>
          <p:cNvSpPr/>
          <p:nvPr/>
        </p:nvSpPr>
        <p:spPr>
          <a:xfrm>
            <a:off x="6355080" y="801928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24</a:t>
            </a:r>
            <a:endParaRPr lang="en-US" sz="1400" dirty="0"/>
          </a:p>
        </p:txBody>
      </p:sp>
      <p:sp>
        <p:nvSpPr>
          <p:cNvPr id="77" name="Text 74"/>
          <p:cNvSpPr/>
          <p:nvPr/>
        </p:nvSpPr>
        <p:spPr>
          <a:xfrm>
            <a:off x="7013448" y="797356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Final Reflection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01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Introduction</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Church leaders have always faced cultural change, from the printing press onward. AI is the newest wave to shepherd through.</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02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2600" b="1" dirty="0">
                <a:solidFill>
                  <a:srgbClr val="3E4A33"/>
                </a:solidFill>
                <a:latin typeface="Bookman Old Style" pitchFamily="34" charset="0"/>
                <a:ea typeface="Bookman Old Style" pitchFamily="34" charset="-122"/>
                <a:cs typeface="Bookman Old Style" pitchFamily="34" charset="-120"/>
              </a:rPr>
              <a:t>Technology Is a Tool for Ministry, Not the Mission</a:t>
            </a:r>
            <a:endParaRPr lang="en-US" sz="26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Technology can support ministry — communication, streaming, discipleship, administration — but it is the tool, never the mission itself.</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03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Livestreaming and Embodied Community</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Livestreaming is a gift to the sick, homebound, and seekers — but it supplements embodied community; it cannot replace it.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04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AI in Ministry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AI can summarize, organize, draft, and translate for church leaders — genuine practical help, used with discernment.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05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Sermon Preparation and Integrity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AI can help brainstorm and outline, but preaching demands integrity — the pastor must do the true work before God.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06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Protecting Member Data</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Churches hold sensitive data — giving records, prayer requests, counseling notes. That data represents people and must be guarded.</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07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Church Cybersecurity as Shepherding</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A breach can expose people and break trust. Protecting church systems is a form of shepherding the vulnerable.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08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Social Media Policies</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Every church post reflects Christian character. Clear social media guidelines protect the church's witness and tone.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09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Digital Discipleship Strategy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Digital discipleship is more than sermon clips — it's intentional formation carried into the spaces where people already live.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10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AI and Pastoral Care</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Pastoral care must stay human. A hurting person needs presence, prayer, and compassion — not an efficient automated reply.</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11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Teaching Congregations Digital Wisdom</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Don't assume members know how to navigate the digital world. Churches should actively teach digital wisdom and discernment.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12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Technology and Church Unity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Technology can strengthen unity or fracture it. Leaders should steer it deliberately toward connection, not division.</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13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2600" b="1" dirty="0">
                <a:solidFill>
                  <a:srgbClr val="3E4A33"/>
                </a:solidFill>
                <a:latin typeface="Bookman Old Style" pitchFamily="34" charset="0"/>
                <a:ea typeface="Bookman Old Style" pitchFamily="34" charset="-122"/>
                <a:cs typeface="Bookman Old Style" pitchFamily="34" charset="-120"/>
              </a:rPr>
              <a:t>Questions Church Leaders Should Ask Before Adopting New Technology</a:t>
            </a:r>
            <a:endParaRPr lang="en-US" sz="26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Before adopting any tool, ask: does it serve the mission of making disciples, and does it strengthen or weaken community?</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14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A Practical Church Technology Checklist</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An annual checklist across mission alignment, security, privacy, AI usage, communication, and discipleship.</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15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Mission Alignment</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Does each major technology serve a clear ministry purpose — and are outdated tools being maintained without reason?</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16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Security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Multi-factor authentication on key systems, secure password management, and protected accounts — basic digital shepherding.</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17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Privacy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Sensitive member data protected and prayer requests handled with care — privacy as an expression of love.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18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AI Usage</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Clear staff guidelines in place, and AI-generated content reviewed carefully before it represents the church.</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19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Communication</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Social media roles clearly assigned and tone kept consistent with Christian character across every channel.</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20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Discipleship</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Members taught digital wisdom and parents equipped — discipleship that reaches into everyone's real digital life.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21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 Word to Pastors</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You needn't master every platform, but you must shepherd people whose hearts are being shaped by technology.</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22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A Word to Technology Volunteers and Staff</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Running sound, securing systems, managing livestreams — this work matters. It is real service to the body of Christ.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96392E"/>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400" b="1" spc="200" kern="0" dirty="0">
                <a:solidFill>
                  <a:srgbClr val="C9A15A"/>
                </a:solidFill>
                <a:latin typeface="Bookman Old Style" pitchFamily="34" charset="0"/>
                <a:ea typeface="Bookman Old Style" pitchFamily="34" charset="-122"/>
                <a:cs typeface="Bookman Old Style" pitchFamily="34" charset="-120"/>
              </a:rPr>
              <a:t>PRAYER FOR CHURCH LEADERS</a:t>
            </a:r>
            <a:endParaRPr lang="en-US" sz="2400" dirty="0"/>
          </a:p>
        </p:txBody>
      </p:sp>
      <p:sp>
        <p:nvSpPr>
          <p:cNvPr id="6" name="Shape 3"/>
          <p:cNvSpPr/>
          <p:nvPr/>
        </p:nvSpPr>
        <p:spPr>
          <a:xfrm>
            <a:off x="1554480" y="2697480"/>
            <a:ext cx="9052560" cy="3611880"/>
          </a:xfrm>
          <a:prstGeom prst="roundRect">
            <a:avLst>
              <a:gd name="adj" fmla="val 3544"/>
            </a:avLst>
          </a:prstGeom>
          <a:solidFill>
            <a:srgbClr val="96392E"/>
          </a:solidFill>
          <a:ln/>
        </p:spPr>
      </p:sp>
      <p:sp>
        <p:nvSpPr>
          <p:cNvPr id="7" name="Text 4"/>
          <p:cNvSpPr/>
          <p:nvPr/>
        </p:nvSpPr>
        <p:spPr>
          <a:xfrm>
            <a:off x="2057400" y="2926080"/>
            <a:ext cx="8046720" cy="3154680"/>
          </a:xfrm>
          <a:prstGeom prst="rect">
            <a:avLst/>
          </a:prstGeom>
          <a:noFill/>
          <a:ln/>
        </p:spPr>
        <p:txBody>
          <a:bodyPr wrap="square" rtlCol="0" anchor="ctr"/>
          <a:lstStyle/>
          <a:p>
            <a:pPr algn="ctr" indent="0" marL="0">
              <a:lnSpc>
                <a:spcPct val="112000"/>
              </a:lnSpc>
              <a:buNone/>
            </a:pPr>
            <a:r>
              <a:rPr lang="en-US" sz="1900" i="1" dirty="0">
                <a:solidFill>
                  <a:srgbClr val="FBF9F3"/>
                </a:solidFill>
                <a:latin typeface="Bookman Old Style" pitchFamily="34" charset="0"/>
                <a:ea typeface="Bookman Old Style" pitchFamily="34" charset="-122"/>
                <a:cs typeface="Bookman Old Style" pitchFamily="34" charset="-120"/>
              </a:rPr>
              <a:t>"Lord Jesus, You are the Head of the church. Give wisdom to pastors, elders, deacons, ministry leaders, staff, and volunteers as they lead in the digital age. Help them use technology faithfully without being ruled by it. Protect churches from distraction, compromise, pride, and fear. Give leaders discernment to adopt what is helpful, reject what is harmful, and guide Your people with clarity. Protect member data. Strengthen digital witness. Deepen embodied community. May every tool serve the mission of making disciples. And may Your church remain faithful until You return. Amen."</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24 / 24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Final Reflection</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The future church will use tools we can't yet imagine — but its calling won't change. Christ will still be Lord.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O</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pic>
        <p:nvPicPr>
          <p:cNvPr id="3" name="Image 0" descr="preencoded.png">    </p:cNvPr>
          <p:cNvPicPr>
            <a:picLocks noChangeAspect="1"/>
          </p:cNvPicPr>
          <p:nvPr/>
        </p:nvPicPr>
        <p:blipFill>
          <a:blip r:embed="rId1"/>
          <a:stretch>
            <a:fillRect/>
          </a:stretch>
        </p:blipFill>
        <p:spPr>
          <a:xfrm>
            <a:off x="5486400" y="1828800"/>
            <a:ext cx="1188720" cy="1188720"/>
          </a:xfrm>
          <a:prstGeom prst="rect">
            <a:avLst/>
          </a:prstGeom>
        </p:spPr>
      </p:pic>
      <p:sp>
        <p:nvSpPr>
          <p:cNvPr id="4" name="Text 1"/>
          <p:cNvSpPr/>
          <p:nvPr/>
        </p:nvSpPr>
        <p:spPr>
          <a:xfrm>
            <a:off x="0" y="320040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Appendix O</a:t>
            </a:r>
            <a:endParaRPr lang="en-US" sz="1600" dirty="0"/>
          </a:p>
        </p:txBody>
      </p:sp>
      <p:sp>
        <p:nvSpPr>
          <p:cNvPr id="5" name="Text 2"/>
          <p:cNvSpPr/>
          <p:nvPr/>
        </p:nvSpPr>
        <p:spPr>
          <a:xfrm>
            <a:off x="914400" y="3611880"/>
            <a:ext cx="10332720" cy="1097280"/>
          </a:xfrm>
          <a:prstGeom prst="rect">
            <a:avLst/>
          </a:prstGeom>
          <a:noFill/>
          <a:ln/>
        </p:spPr>
        <p:txBody>
          <a:bodyPr wrap="square" rtlCol="0" anchor="t"/>
          <a:lstStyle/>
          <a:p>
            <a:pPr algn="ctr" indent="0" marL="0">
              <a:lnSpc>
                <a:spcPct val="98000"/>
              </a:lnSpc>
              <a:buNone/>
            </a:pPr>
            <a:r>
              <a:rPr lang="en-US" sz="3200" b="1" dirty="0">
                <a:solidFill>
                  <a:srgbClr val="FBF9F3"/>
                </a:solidFill>
                <a:latin typeface="Bookman Old Style" pitchFamily="34" charset="0"/>
                <a:ea typeface="Bookman Old Style" pitchFamily="34" charset="-122"/>
                <a:cs typeface="Bookman Old Style" pitchFamily="34" charset="-120"/>
              </a:rPr>
              <a:t>Technology Stewardship for Church Leaders</a:t>
            </a:r>
            <a:endParaRPr lang="en-US" sz="3200" dirty="0"/>
          </a:p>
        </p:txBody>
      </p:sp>
      <p:sp>
        <p:nvSpPr>
          <p:cNvPr id="6" name="Text 3"/>
          <p:cNvSpPr/>
          <p:nvPr/>
        </p:nvSpPr>
        <p:spPr>
          <a:xfrm>
            <a:off x="1371600" y="5074920"/>
            <a:ext cx="9418320" cy="822960"/>
          </a:xfrm>
          <a:prstGeom prst="rect">
            <a:avLst/>
          </a:prstGeom>
          <a:noFill/>
          <a:ln/>
        </p:spPr>
        <p:txBody>
          <a:bodyPr wrap="square" rtlCol="0" anchor="ctr"/>
          <a:lstStyle/>
          <a:p>
            <a:pPr algn="ctr" indent="0" marL="0">
              <a:buNone/>
            </a:pPr>
            <a:r>
              <a:rPr lang="en-US" sz="17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 Appendix O</dc:title>
  <dc:subject>PptxGenJS Presentation</dc:subject>
  <dc:creator>Rod Trent</dc:creator>
  <cp:lastModifiedBy>Rod Trent</cp:lastModifiedBy>
  <cp:revision>1</cp:revision>
  <dcterms:created xsi:type="dcterms:W3CDTF">2026-07-03T18:29:12Z</dcterms:created>
  <dcterms:modified xsi:type="dcterms:W3CDTF">2026-07-03T18:29:12Z</dcterms:modified>
</cp:coreProperties>
</file>