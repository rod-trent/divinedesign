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6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5A6B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49240"/>
            <a:ext cx="12161520" cy="1508760"/>
          </a:xfrm>
          <a:prstGeom prst="rect">
            <a:avLst/>
          </a:prstGeom>
          <a:solidFill>
            <a:srgbClr val="3E4A33"/>
          </a:solidFill>
          <a:ln/>
        </p:spPr>
      </p:sp>
      <p:sp>
        <p:nvSpPr>
          <p:cNvPr id="4" name="Shape 2"/>
          <p:cNvSpPr/>
          <p:nvPr/>
        </p:nvSpPr>
        <p:spPr>
          <a:xfrm>
            <a:off x="9326880" y="685800"/>
            <a:ext cx="1965960" cy="1965960"/>
          </a:xfrm>
          <a:prstGeom prst="ellipse">
            <a:avLst/>
          </a:prstGeom>
          <a:solidFill>
            <a:srgbClr val="3E4A33"/>
          </a:solidFill>
          <a:ln w="19050">
            <a:solidFill>
              <a:srgbClr val="C9A15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1133856"/>
            <a:ext cx="1051560" cy="1051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0515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DIVINE DESIGN FOR THE DIGITAL AGE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137160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Resource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331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1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Appendix A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77240" y="292608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b="1" dirty="0">
                <a:solidFill>
                  <a:srgbClr val="FBF9F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Christian Framework for Evaluating Technology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868680" y="57150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"Testing Every Tool"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1051560" cy="1051560"/>
          </a:xfrm>
          <a:prstGeom prst="ellipse">
            <a:avLst/>
          </a:prstGeom>
          <a:solidFill>
            <a:srgbClr val="5A6B4D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3268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621792"/>
            <a:ext cx="9326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E4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What's Inside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2130552" y="1298448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sections of this resource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27048" y="17373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Framework Matters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8680" y="2350008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350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527048" y="230428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Seven Questions of Digital Discernment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68680" y="2916936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2916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527048" y="2871216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Framework to Artificial Intelligence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68680" y="3483864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3483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527048" y="3438144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Uses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68680" y="4050792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9" name="Text 16"/>
          <p:cNvSpPr/>
          <p:nvPr/>
        </p:nvSpPr>
        <p:spPr>
          <a:xfrm>
            <a:off x="868680" y="4050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527048" y="400507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Requiring Discernment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68680" y="461772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2" name="Text 19"/>
          <p:cNvSpPr/>
          <p:nvPr/>
        </p:nvSpPr>
        <p:spPr>
          <a:xfrm>
            <a:off x="86868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527048" y="45720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Technology Audit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355080" y="178308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5" name="Text 22"/>
          <p:cNvSpPr/>
          <p:nvPr/>
        </p:nvSpPr>
        <p:spPr>
          <a:xfrm>
            <a:off x="63550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013448" y="17373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355080" y="2350008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8" name="Text 25"/>
          <p:cNvSpPr/>
          <p:nvPr/>
        </p:nvSpPr>
        <p:spPr>
          <a:xfrm>
            <a:off x="6355080" y="2350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013448" y="230428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355080" y="2916936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1" name="Text 28"/>
          <p:cNvSpPr/>
          <p:nvPr/>
        </p:nvSpPr>
        <p:spPr>
          <a:xfrm>
            <a:off x="6355080" y="2916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7013448" y="2871216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355080" y="3483864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4" name="Text 31"/>
          <p:cNvSpPr/>
          <p:nvPr/>
        </p:nvSpPr>
        <p:spPr>
          <a:xfrm>
            <a:off x="6355080" y="3483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7013448" y="3438144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Ultimate Question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6355080" y="4050792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7" name="Text 34"/>
          <p:cNvSpPr/>
          <p:nvPr/>
        </p:nvSpPr>
        <p:spPr>
          <a:xfrm>
            <a:off x="6355080" y="4050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7013448" y="400507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Evaluation Worksheet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355080" y="461772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40" name="Text 37"/>
          <p:cNvSpPr/>
          <p:nvPr/>
        </p:nvSpPr>
        <p:spPr>
          <a:xfrm>
            <a:off x="635508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7013448" y="45720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Thought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41280" y="457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777240"/>
            <a:ext cx="1234440" cy="1234440"/>
          </a:xfrm>
          <a:prstGeom prst="ellipse">
            <a:avLst/>
          </a:prstGeom>
          <a:solidFill>
            <a:srgbClr val="5A6B4D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1088136"/>
            <a:ext cx="612648" cy="6126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31720" y="822960"/>
            <a:ext cx="9052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3E4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a Framework Matters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2377440" y="2304288"/>
            <a:ext cx="100584" cy="100584"/>
          </a:xfrm>
          <a:prstGeom prst="ellipse">
            <a:avLst/>
          </a:prstGeom>
          <a:solidFill>
            <a:srgbClr val="C9A15A"/>
          </a:solidFill>
          <a:ln/>
        </p:spPr>
      </p:sp>
      <p:sp>
        <p:nvSpPr>
          <p:cNvPr id="7" name="Shape 4"/>
          <p:cNvSpPr/>
          <p:nvPr/>
        </p:nvSpPr>
        <p:spPr>
          <a:xfrm>
            <a:off x="2606040" y="2304288"/>
            <a:ext cx="100584" cy="10058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Shape 5"/>
          <p:cNvSpPr/>
          <p:nvPr/>
        </p:nvSpPr>
        <p:spPr>
          <a:xfrm>
            <a:off x="2834640" y="2304288"/>
            <a:ext cx="100584" cy="100584"/>
          </a:xfrm>
          <a:prstGeom prst="ellipse">
            <a:avLst/>
          </a:prstGeom>
          <a:solidFill>
            <a:srgbClr val="5A6B4D"/>
          </a:solidFill>
          <a:ln/>
        </p:spPr>
      </p:sp>
      <p:sp>
        <p:nvSpPr>
          <p:cNvPr id="9" name="Shape 6"/>
          <p:cNvSpPr/>
          <p:nvPr/>
        </p:nvSpPr>
        <p:spPr>
          <a:xfrm>
            <a:off x="1554480" y="2788920"/>
            <a:ext cx="9144000" cy="269748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011680" y="3063240"/>
            <a:ext cx="82296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300" dirty="0">
                <a:solidFill>
                  <a:srgbClr val="3735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Technology evolves faster than we can evaluate it. A steady framework lets us think clearly before adopting the next new thing.</a:t>
            </a:r>
            <a:endParaRPr lang="en-US" sz="2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59893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Divine Design for the Digital Age  ·  Appendix 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41280" y="457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777240"/>
            <a:ext cx="1234440" cy="1234440"/>
          </a:xfrm>
          <a:prstGeom prst="ellipse">
            <a:avLst/>
          </a:prstGeom>
          <a:solidFill>
            <a:srgbClr val="5A6B4D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1088136"/>
            <a:ext cx="612648" cy="6126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31720" y="822960"/>
            <a:ext cx="9052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3E4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Seven Questions of Digital Discernment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2377440" y="2304288"/>
            <a:ext cx="100584" cy="100584"/>
          </a:xfrm>
          <a:prstGeom prst="ellipse">
            <a:avLst/>
          </a:prstGeom>
          <a:solidFill>
            <a:srgbClr val="C9A15A"/>
          </a:solidFill>
          <a:ln/>
        </p:spPr>
      </p:sp>
      <p:sp>
        <p:nvSpPr>
          <p:cNvPr id="7" name="Shape 4"/>
          <p:cNvSpPr/>
          <p:nvPr/>
        </p:nvSpPr>
        <p:spPr>
          <a:xfrm>
            <a:off x="2606040" y="2304288"/>
            <a:ext cx="100584" cy="10058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Shape 5"/>
          <p:cNvSpPr/>
          <p:nvPr/>
        </p:nvSpPr>
        <p:spPr>
          <a:xfrm>
            <a:off x="2834640" y="2304288"/>
            <a:ext cx="100584" cy="100584"/>
          </a:xfrm>
          <a:prstGeom prst="ellipse">
            <a:avLst/>
          </a:prstGeom>
          <a:solidFill>
            <a:srgbClr val="5A6B4D"/>
          </a:solidFill>
          <a:ln/>
        </p:spPr>
      </p:sp>
      <p:sp>
        <p:nvSpPr>
          <p:cNvPr id="9" name="Shape 6"/>
          <p:cNvSpPr/>
          <p:nvPr/>
        </p:nvSpPr>
        <p:spPr>
          <a:xfrm>
            <a:off x="1554480" y="2788920"/>
            <a:ext cx="9144000" cy="269748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011680" y="3063240"/>
            <a:ext cx="82296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300" dirty="0">
                <a:solidFill>
                  <a:srgbClr val="3735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Seven questions to ask of any technology: does it help you love God and others, respect dignity, promote truth, build wisdom, avoid dependency, and advance God's purposes?</a:t>
            </a:r>
            <a:endParaRPr lang="en-US" sz="2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59893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Divine Design for the Digital Age  ·  Appendix 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41280" y="457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777240"/>
            <a:ext cx="1234440" cy="1234440"/>
          </a:xfrm>
          <a:prstGeom prst="ellipse">
            <a:avLst/>
          </a:prstGeom>
          <a:solidFill>
            <a:srgbClr val="5A6B4D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1088136"/>
            <a:ext cx="612648" cy="6126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31720" y="822960"/>
            <a:ext cx="9052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3E4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Applying the Framework to Artificial Intelligence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377440" y="2304288"/>
            <a:ext cx="100584" cy="100584"/>
          </a:xfrm>
          <a:prstGeom prst="ellipse">
            <a:avLst/>
          </a:prstGeom>
          <a:solidFill>
            <a:srgbClr val="C9A15A"/>
          </a:solidFill>
          <a:ln/>
        </p:spPr>
      </p:sp>
      <p:sp>
        <p:nvSpPr>
          <p:cNvPr id="7" name="Shape 4"/>
          <p:cNvSpPr/>
          <p:nvPr/>
        </p:nvSpPr>
        <p:spPr>
          <a:xfrm>
            <a:off x="2606040" y="2304288"/>
            <a:ext cx="100584" cy="10058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Shape 5"/>
          <p:cNvSpPr/>
          <p:nvPr/>
        </p:nvSpPr>
        <p:spPr>
          <a:xfrm>
            <a:off x="2834640" y="2304288"/>
            <a:ext cx="100584" cy="100584"/>
          </a:xfrm>
          <a:prstGeom prst="ellipse">
            <a:avLst/>
          </a:prstGeom>
          <a:solidFill>
            <a:srgbClr val="5A6B4D"/>
          </a:solidFill>
          <a:ln/>
        </p:spPr>
      </p:sp>
      <p:sp>
        <p:nvSpPr>
          <p:cNvPr id="9" name="Shape 6"/>
          <p:cNvSpPr/>
          <p:nvPr/>
        </p:nvSpPr>
        <p:spPr>
          <a:xfrm>
            <a:off x="1554480" y="2788920"/>
            <a:ext cx="9144000" cy="269748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011680" y="3063240"/>
            <a:ext cx="82296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300" dirty="0">
                <a:solidFill>
                  <a:srgbClr val="3735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 offers real opportunity and raises real questions. The framework helps sort genuine benefit from areas that demand caution.</a:t>
            </a:r>
            <a:endParaRPr lang="en-US" sz="2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59893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Divine Design for the Digital Age  ·  Appendix 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41280" y="457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777240"/>
            <a:ext cx="1234440" cy="1234440"/>
          </a:xfrm>
          <a:prstGeom prst="ellipse">
            <a:avLst/>
          </a:prstGeom>
          <a:solidFill>
            <a:srgbClr val="5A6B4D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1088136"/>
            <a:ext cx="612648" cy="6126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31720" y="822960"/>
            <a:ext cx="9052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3E4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Positive Uses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2377440" y="2304288"/>
            <a:ext cx="100584" cy="100584"/>
          </a:xfrm>
          <a:prstGeom prst="ellipse">
            <a:avLst/>
          </a:prstGeom>
          <a:solidFill>
            <a:srgbClr val="C9A15A"/>
          </a:solidFill>
          <a:ln/>
        </p:spPr>
      </p:sp>
      <p:sp>
        <p:nvSpPr>
          <p:cNvPr id="7" name="Shape 4"/>
          <p:cNvSpPr/>
          <p:nvPr/>
        </p:nvSpPr>
        <p:spPr>
          <a:xfrm>
            <a:off x="2606040" y="2304288"/>
            <a:ext cx="100584" cy="10058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Shape 5"/>
          <p:cNvSpPr/>
          <p:nvPr/>
        </p:nvSpPr>
        <p:spPr>
          <a:xfrm>
            <a:off x="2834640" y="2304288"/>
            <a:ext cx="100584" cy="100584"/>
          </a:xfrm>
          <a:prstGeom prst="ellipse">
            <a:avLst/>
          </a:prstGeom>
          <a:solidFill>
            <a:srgbClr val="5A6B4D"/>
          </a:solidFill>
          <a:ln/>
        </p:spPr>
      </p:sp>
      <p:sp>
        <p:nvSpPr>
          <p:cNvPr id="9" name="Shape 6"/>
          <p:cNvSpPr/>
          <p:nvPr/>
        </p:nvSpPr>
        <p:spPr>
          <a:xfrm>
            <a:off x="1554480" y="2788920"/>
            <a:ext cx="9144000" cy="269748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011680" y="3063240"/>
            <a:ext cx="82296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300" dirty="0">
                <a:solidFill>
                  <a:srgbClr val="3735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Translation, accessibility, research, education, cybersecurity defense, and administrative help — places where AI can genuinely serve.</a:t>
            </a:r>
            <a:endParaRPr lang="en-US" sz="2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59893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Divine Design for the Digital Age  ·  Appendix 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41280" y="457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777240"/>
            <a:ext cx="1234440" cy="1234440"/>
          </a:xfrm>
          <a:prstGeom prst="ellipse">
            <a:avLst/>
          </a:prstGeom>
          <a:solidFill>
            <a:srgbClr val="5A6B4D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1088136"/>
            <a:ext cx="612648" cy="6126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31720" y="822960"/>
            <a:ext cx="9052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3E4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Areas Requiring Discernment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2377440" y="2304288"/>
            <a:ext cx="100584" cy="100584"/>
          </a:xfrm>
          <a:prstGeom prst="ellipse">
            <a:avLst/>
          </a:prstGeom>
          <a:solidFill>
            <a:srgbClr val="C9A15A"/>
          </a:solidFill>
          <a:ln/>
        </p:spPr>
      </p:sp>
      <p:sp>
        <p:nvSpPr>
          <p:cNvPr id="7" name="Shape 4"/>
          <p:cNvSpPr/>
          <p:nvPr/>
        </p:nvSpPr>
        <p:spPr>
          <a:xfrm>
            <a:off x="2606040" y="2304288"/>
            <a:ext cx="100584" cy="10058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Shape 5"/>
          <p:cNvSpPr/>
          <p:nvPr/>
        </p:nvSpPr>
        <p:spPr>
          <a:xfrm>
            <a:off x="2834640" y="2304288"/>
            <a:ext cx="100584" cy="100584"/>
          </a:xfrm>
          <a:prstGeom prst="ellipse">
            <a:avLst/>
          </a:prstGeom>
          <a:solidFill>
            <a:srgbClr val="5A6B4D"/>
          </a:solidFill>
          <a:ln/>
        </p:spPr>
      </p:sp>
      <p:sp>
        <p:nvSpPr>
          <p:cNvPr id="9" name="Shape 6"/>
          <p:cNvSpPr/>
          <p:nvPr/>
        </p:nvSpPr>
        <p:spPr>
          <a:xfrm>
            <a:off x="1554480" y="2788920"/>
            <a:ext cx="9144000" cy="269748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011680" y="3063240"/>
            <a:ext cx="82296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300" dirty="0">
                <a:solidFill>
                  <a:srgbClr val="3735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Deepfakes, misinformation, manipulation, privacy loss, job displacement, overdependence. The goal is neither fear nor blind acceptance, but stewardship.</a:t>
            </a:r>
            <a:endParaRPr lang="en-US" sz="2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59893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Divine Design for the Digital Age  ·  Appendix 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41280" y="457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777240"/>
            <a:ext cx="1234440" cy="1234440"/>
          </a:xfrm>
          <a:prstGeom prst="ellipse">
            <a:avLst/>
          </a:prstGeom>
          <a:solidFill>
            <a:srgbClr val="5A6B4D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1088136"/>
            <a:ext cx="612648" cy="6126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31720" y="822960"/>
            <a:ext cx="9052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3E4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Personal Technology Audit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2377440" y="2304288"/>
            <a:ext cx="100584" cy="100584"/>
          </a:xfrm>
          <a:prstGeom prst="ellipse">
            <a:avLst/>
          </a:prstGeom>
          <a:solidFill>
            <a:srgbClr val="C9A15A"/>
          </a:solidFill>
          <a:ln/>
        </p:spPr>
      </p:sp>
      <p:sp>
        <p:nvSpPr>
          <p:cNvPr id="7" name="Shape 4"/>
          <p:cNvSpPr/>
          <p:nvPr/>
        </p:nvSpPr>
        <p:spPr>
          <a:xfrm>
            <a:off x="2606040" y="2304288"/>
            <a:ext cx="100584" cy="10058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Shape 5"/>
          <p:cNvSpPr/>
          <p:nvPr/>
        </p:nvSpPr>
        <p:spPr>
          <a:xfrm>
            <a:off x="2834640" y="2304288"/>
            <a:ext cx="100584" cy="100584"/>
          </a:xfrm>
          <a:prstGeom prst="ellipse">
            <a:avLst/>
          </a:prstGeom>
          <a:solidFill>
            <a:srgbClr val="5A6B4D"/>
          </a:solidFill>
          <a:ln/>
        </p:spPr>
      </p:sp>
      <p:sp>
        <p:nvSpPr>
          <p:cNvPr id="9" name="Shape 6"/>
          <p:cNvSpPr/>
          <p:nvPr/>
        </p:nvSpPr>
        <p:spPr>
          <a:xfrm>
            <a:off x="1554480" y="2788920"/>
            <a:ext cx="9144000" cy="269748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011680" y="3063240"/>
            <a:ext cx="82296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300" dirty="0">
                <a:solidFill>
                  <a:srgbClr val="3735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Once a year, review your devices, platforms, and habits honestly — asking what helps you flourish and what quietly distracts.</a:t>
            </a:r>
            <a:endParaRPr lang="en-US" sz="2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59893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Divine Design for the Digital Age  ·  Appendix 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41280" y="457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777240"/>
            <a:ext cx="1234440" cy="1234440"/>
          </a:xfrm>
          <a:prstGeom prst="ellipse">
            <a:avLst/>
          </a:prstGeom>
          <a:solidFill>
            <a:srgbClr val="5A6B4D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1088136"/>
            <a:ext cx="612648" cy="6126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31720" y="822960"/>
            <a:ext cx="9052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3E4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Devices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2377440" y="2304288"/>
            <a:ext cx="100584" cy="100584"/>
          </a:xfrm>
          <a:prstGeom prst="ellipse">
            <a:avLst/>
          </a:prstGeom>
          <a:solidFill>
            <a:srgbClr val="C9A15A"/>
          </a:solidFill>
          <a:ln/>
        </p:spPr>
      </p:sp>
      <p:sp>
        <p:nvSpPr>
          <p:cNvPr id="7" name="Shape 4"/>
          <p:cNvSpPr/>
          <p:nvPr/>
        </p:nvSpPr>
        <p:spPr>
          <a:xfrm>
            <a:off x="2606040" y="2304288"/>
            <a:ext cx="100584" cy="10058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Shape 5"/>
          <p:cNvSpPr/>
          <p:nvPr/>
        </p:nvSpPr>
        <p:spPr>
          <a:xfrm>
            <a:off x="2834640" y="2304288"/>
            <a:ext cx="100584" cy="100584"/>
          </a:xfrm>
          <a:prstGeom prst="ellipse">
            <a:avLst/>
          </a:prstGeom>
          <a:solidFill>
            <a:srgbClr val="5A6B4D"/>
          </a:solidFill>
          <a:ln/>
        </p:spPr>
      </p:sp>
      <p:sp>
        <p:nvSpPr>
          <p:cNvPr id="9" name="Shape 6"/>
          <p:cNvSpPr/>
          <p:nvPr/>
        </p:nvSpPr>
        <p:spPr>
          <a:xfrm>
            <a:off x="1554480" y="2788920"/>
            <a:ext cx="9144000" cy="269748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011680" y="3063240"/>
            <a:ext cx="82296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300" dirty="0">
                <a:solidFill>
                  <a:srgbClr val="3735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Smartphone, tablet, laptop, wearables, smart-home systems — the tools closest to daily life deserve the closest examination.</a:t>
            </a:r>
            <a:endParaRPr lang="en-US" sz="2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59893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Divine Design for the Digital Age  ·  Appendix 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41280" y="457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777240"/>
            <a:ext cx="1234440" cy="1234440"/>
          </a:xfrm>
          <a:prstGeom prst="ellipse">
            <a:avLst/>
          </a:prstGeom>
          <a:solidFill>
            <a:srgbClr val="5A6B4D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1088136"/>
            <a:ext cx="612648" cy="6126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31720" y="822960"/>
            <a:ext cx="9052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3E4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Platforms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2377440" y="2304288"/>
            <a:ext cx="100584" cy="100584"/>
          </a:xfrm>
          <a:prstGeom prst="ellipse">
            <a:avLst/>
          </a:prstGeom>
          <a:solidFill>
            <a:srgbClr val="C9A15A"/>
          </a:solidFill>
          <a:ln/>
        </p:spPr>
      </p:sp>
      <p:sp>
        <p:nvSpPr>
          <p:cNvPr id="7" name="Shape 4"/>
          <p:cNvSpPr/>
          <p:nvPr/>
        </p:nvSpPr>
        <p:spPr>
          <a:xfrm>
            <a:off x="2606040" y="2304288"/>
            <a:ext cx="100584" cy="10058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Shape 5"/>
          <p:cNvSpPr/>
          <p:nvPr/>
        </p:nvSpPr>
        <p:spPr>
          <a:xfrm>
            <a:off x="2834640" y="2304288"/>
            <a:ext cx="100584" cy="100584"/>
          </a:xfrm>
          <a:prstGeom prst="ellipse">
            <a:avLst/>
          </a:prstGeom>
          <a:solidFill>
            <a:srgbClr val="5A6B4D"/>
          </a:solidFill>
          <a:ln/>
        </p:spPr>
      </p:sp>
      <p:sp>
        <p:nvSpPr>
          <p:cNvPr id="9" name="Shape 6"/>
          <p:cNvSpPr/>
          <p:nvPr/>
        </p:nvSpPr>
        <p:spPr>
          <a:xfrm>
            <a:off x="1554480" y="2788920"/>
            <a:ext cx="9144000" cy="269748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011680" y="3063240"/>
            <a:ext cx="82296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dirty="0">
                <a:solidFill>
                  <a:srgbClr val="3735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Social media, streaming, news sources, AI tools — the environments that shape attention and belief, audited on purpose.</a:t>
            </a:r>
            <a:endParaRPr lang="en-US" sz="26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59893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Divine Design for the Digital Age  ·  Appendix 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41280" y="457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777240"/>
            <a:ext cx="1234440" cy="1234440"/>
          </a:xfrm>
          <a:prstGeom prst="ellipse">
            <a:avLst/>
          </a:prstGeom>
          <a:solidFill>
            <a:srgbClr val="5A6B4D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1088136"/>
            <a:ext cx="612648" cy="6126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31720" y="822960"/>
            <a:ext cx="9052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3E4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Habits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2377440" y="2304288"/>
            <a:ext cx="100584" cy="100584"/>
          </a:xfrm>
          <a:prstGeom prst="ellipse">
            <a:avLst/>
          </a:prstGeom>
          <a:solidFill>
            <a:srgbClr val="C9A15A"/>
          </a:solidFill>
          <a:ln/>
        </p:spPr>
      </p:sp>
      <p:sp>
        <p:nvSpPr>
          <p:cNvPr id="7" name="Shape 4"/>
          <p:cNvSpPr/>
          <p:nvPr/>
        </p:nvSpPr>
        <p:spPr>
          <a:xfrm>
            <a:off x="2606040" y="2304288"/>
            <a:ext cx="100584" cy="10058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Shape 5"/>
          <p:cNvSpPr/>
          <p:nvPr/>
        </p:nvSpPr>
        <p:spPr>
          <a:xfrm>
            <a:off x="2834640" y="2304288"/>
            <a:ext cx="100584" cy="100584"/>
          </a:xfrm>
          <a:prstGeom prst="ellipse">
            <a:avLst/>
          </a:prstGeom>
          <a:solidFill>
            <a:srgbClr val="5A6B4D"/>
          </a:solidFill>
          <a:ln/>
        </p:spPr>
      </p:sp>
      <p:sp>
        <p:nvSpPr>
          <p:cNvPr id="9" name="Shape 6"/>
          <p:cNvSpPr/>
          <p:nvPr/>
        </p:nvSpPr>
        <p:spPr>
          <a:xfrm>
            <a:off x="1554480" y="2788920"/>
            <a:ext cx="9144000" cy="269748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011680" y="3063240"/>
            <a:ext cx="82296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300" dirty="0">
                <a:solidFill>
                  <a:srgbClr val="3735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Screen time, information consumption, entertainment, online interaction. Ask of each: is this helping me flourish, or distracting me?</a:t>
            </a:r>
            <a:endParaRPr lang="en-US" sz="2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59893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Divine Design for the Digital Age  ·  Appendix A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41280" y="457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777240"/>
            <a:ext cx="1234440" cy="1234440"/>
          </a:xfrm>
          <a:prstGeom prst="ellipse">
            <a:avLst/>
          </a:prstGeom>
          <a:solidFill>
            <a:srgbClr val="5A6B4D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1088136"/>
            <a:ext cx="612648" cy="6126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31720" y="822960"/>
            <a:ext cx="9052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3E4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Ultimate Question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2377440" y="2304288"/>
            <a:ext cx="100584" cy="100584"/>
          </a:xfrm>
          <a:prstGeom prst="ellipse">
            <a:avLst/>
          </a:prstGeom>
          <a:solidFill>
            <a:srgbClr val="C9A15A"/>
          </a:solidFill>
          <a:ln/>
        </p:spPr>
      </p:sp>
      <p:sp>
        <p:nvSpPr>
          <p:cNvPr id="7" name="Shape 4"/>
          <p:cNvSpPr/>
          <p:nvPr/>
        </p:nvSpPr>
        <p:spPr>
          <a:xfrm>
            <a:off x="2606040" y="2304288"/>
            <a:ext cx="100584" cy="10058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Shape 5"/>
          <p:cNvSpPr/>
          <p:nvPr/>
        </p:nvSpPr>
        <p:spPr>
          <a:xfrm>
            <a:off x="2834640" y="2304288"/>
            <a:ext cx="100584" cy="100584"/>
          </a:xfrm>
          <a:prstGeom prst="ellipse">
            <a:avLst/>
          </a:prstGeom>
          <a:solidFill>
            <a:srgbClr val="5A6B4D"/>
          </a:solidFill>
          <a:ln/>
        </p:spPr>
      </p:sp>
      <p:sp>
        <p:nvSpPr>
          <p:cNvPr id="9" name="Shape 6"/>
          <p:cNvSpPr/>
          <p:nvPr/>
        </p:nvSpPr>
        <p:spPr>
          <a:xfrm>
            <a:off x="1554480" y="2788920"/>
            <a:ext cx="9144000" cy="269748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011680" y="3063240"/>
            <a:ext cx="82296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300" dirty="0">
                <a:solidFill>
                  <a:srgbClr val="3735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Beneath every evaluation lies one question: will this help me become more like Christ? Not merely faster, cheaper, or more convenient.</a:t>
            </a:r>
            <a:endParaRPr lang="en-US" sz="2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59893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Divine Design for the Digital Age  ·  Appendix A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41280" y="457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777240"/>
            <a:ext cx="1234440" cy="1234440"/>
          </a:xfrm>
          <a:prstGeom prst="ellipse">
            <a:avLst/>
          </a:prstGeom>
          <a:solidFill>
            <a:srgbClr val="5A6B4D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1088136"/>
            <a:ext cx="612648" cy="6126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31720" y="822960"/>
            <a:ext cx="9052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3E4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Technology Evaluation Worksheet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2377440" y="2304288"/>
            <a:ext cx="100584" cy="100584"/>
          </a:xfrm>
          <a:prstGeom prst="ellipse">
            <a:avLst/>
          </a:prstGeom>
          <a:solidFill>
            <a:srgbClr val="C9A15A"/>
          </a:solidFill>
          <a:ln/>
        </p:spPr>
      </p:sp>
      <p:sp>
        <p:nvSpPr>
          <p:cNvPr id="7" name="Shape 4"/>
          <p:cNvSpPr/>
          <p:nvPr/>
        </p:nvSpPr>
        <p:spPr>
          <a:xfrm>
            <a:off x="2606040" y="2304288"/>
            <a:ext cx="100584" cy="10058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Shape 5"/>
          <p:cNvSpPr/>
          <p:nvPr/>
        </p:nvSpPr>
        <p:spPr>
          <a:xfrm>
            <a:off x="2834640" y="2304288"/>
            <a:ext cx="100584" cy="100584"/>
          </a:xfrm>
          <a:prstGeom prst="ellipse">
            <a:avLst/>
          </a:prstGeom>
          <a:solidFill>
            <a:srgbClr val="5A6B4D"/>
          </a:solidFill>
          <a:ln/>
        </p:spPr>
      </p:sp>
      <p:sp>
        <p:nvSpPr>
          <p:cNvPr id="9" name="Shape 6"/>
          <p:cNvSpPr/>
          <p:nvPr/>
        </p:nvSpPr>
        <p:spPr>
          <a:xfrm>
            <a:off x="1554480" y="2788920"/>
            <a:ext cx="9144000" cy="269748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011680" y="3063240"/>
            <a:ext cx="82296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300" dirty="0">
                <a:solidFill>
                  <a:srgbClr val="3735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short checklist to run before adopting anything new — does it strengthen your walk with God and your ability to serve others?</a:t>
            </a:r>
            <a:endParaRPr lang="en-US" sz="2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59893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Divine Design for the Digital Age  ·  Appendix A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41280" y="457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777240"/>
            <a:ext cx="1234440" cy="1234440"/>
          </a:xfrm>
          <a:prstGeom prst="ellipse">
            <a:avLst/>
          </a:prstGeom>
          <a:solidFill>
            <a:srgbClr val="5A6B4D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1088136"/>
            <a:ext cx="612648" cy="6126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31720" y="822960"/>
            <a:ext cx="9052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3E4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Final Thought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2377440" y="2304288"/>
            <a:ext cx="100584" cy="100584"/>
          </a:xfrm>
          <a:prstGeom prst="ellipse">
            <a:avLst/>
          </a:prstGeom>
          <a:solidFill>
            <a:srgbClr val="C9A15A"/>
          </a:solidFill>
          <a:ln/>
        </p:spPr>
      </p:sp>
      <p:sp>
        <p:nvSpPr>
          <p:cNvPr id="7" name="Shape 4"/>
          <p:cNvSpPr/>
          <p:nvPr/>
        </p:nvSpPr>
        <p:spPr>
          <a:xfrm>
            <a:off x="2606040" y="2304288"/>
            <a:ext cx="100584" cy="10058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Shape 5"/>
          <p:cNvSpPr/>
          <p:nvPr/>
        </p:nvSpPr>
        <p:spPr>
          <a:xfrm>
            <a:off x="2834640" y="2304288"/>
            <a:ext cx="100584" cy="100584"/>
          </a:xfrm>
          <a:prstGeom prst="ellipse">
            <a:avLst/>
          </a:prstGeom>
          <a:solidFill>
            <a:srgbClr val="5A6B4D"/>
          </a:solidFill>
          <a:ln/>
        </p:spPr>
      </p:sp>
      <p:sp>
        <p:nvSpPr>
          <p:cNvPr id="9" name="Shape 6"/>
          <p:cNvSpPr/>
          <p:nvPr/>
        </p:nvSpPr>
        <p:spPr>
          <a:xfrm>
            <a:off x="1554480" y="2788920"/>
            <a:ext cx="9144000" cy="269748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011680" y="3063240"/>
            <a:ext cx="82296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300" dirty="0">
                <a:solidFill>
                  <a:srgbClr val="3735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Technology keeps changing; God's truth does not. The believer's task remains: use every tool with wisdom, humility, and discernment.</a:t>
            </a:r>
            <a:endParaRPr lang="en-US" sz="2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59893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Divine Design for the Digital Age  ·  Appendix A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E4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3E4A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8288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20040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14400" y="361188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BF9F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Christian Framework for Evaluating Technology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371600" y="507492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E7E8D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Technology will keep changing.  The wisdom to navigate it faithfully will not.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Divine Design — Appendix A</dc:title>
  <dc:subject>PptxGenJS Presentation</dc:subject>
  <dc:creator>Rod Trent</dc:creator>
  <cp:lastModifiedBy>Rod Trent</cp:lastModifiedBy>
  <cp:revision>1</cp:revision>
  <dcterms:created xsi:type="dcterms:W3CDTF">2026-07-03T18:29:11Z</dcterms:created>
  <dcterms:modified xsi:type="dcterms:W3CDTF">2026-07-03T18:29:11Z</dcterms:modified>
</cp:coreProperties>
</file>