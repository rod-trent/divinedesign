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10: The Sabbath in a 24/7 World. Open by welcoming the group and reading the key scripture, Exodus 20:8–11 (ESV), aloud together. Set the theme for this session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group a quick map of the session. You don't need to read every item — just show the arc from opening idea to reflection, prayer, and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slowly, perhaps twice. Ask: what stands out to you here? Let a few people respond before you begin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World Never Sleeps. For most of history, darkness ended the workday. Technology erased that boundary — now the world, and our work, never sleeps.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Forgotten Commandment. We remember the commands against lying, stealing, and murder — and quietly ignore the one about rest.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Why We Resist Rest. Almost everyone says they value rest; far fewer practice it. The gap between what we claim and how we live is worth examining.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Digital Pharaoh. Egypt demanded bricks and more bricks, endless production with no rest. The digital age can become a Pharaoh of the same kind.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Illusion of Constant Availability. Technology sells the lie that availability equals faithfulness — that every message demands an instant reply.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Anxiety Behind Overwork. Overwork is rarely just ambition. More often it is anxiety — the fear that there will not be enough if we ever stop.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Artificial Intelligence and the Promise of More. AI promises efficiency so we can work less. History suggests we simply fill the freed time with still more work.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Rest Is Not Laziness. Rewarded all our lives for activity, we mistake stillness for failure. But biblical rest is not idleness — it is trust.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Digital Sabbath. The ancients rested from physical labor; we must reckon with digital labor, where the mind never truly clocks out.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Rediscovering Wonder. When every spare moment is filled, wonder has no room to grow. Waiting becomes scrolling; awe quietly disappears.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Rest as Worship. We think of worship as activity — singing, serving, giving. But stopping itself can be a profound act of worship.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A Taste of Eternity. Sabbath points beyond itself. Each true rest is a rehearsal, a foretaste of the eternal rest found in God Himself.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point: The Gift We Keep Rejecting. Sabbath is a gift chosen in love. Yet many leave it wrapped on the shelf, year after year, and call the refusal virtue. Expand from the book here, then invite a question or example from the group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two or three of these to discuss rather than rushing all of them. Leave silence after each — the best answers often come after a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teaching portion by praying this together, or invite someone to read it aloud. Feel free to add the group's own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everyone to commit to this challenge before the next session. You might ask people to share how it went when you gather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by restating the one idea you most want people to remember, then point ahead to the next chapter in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0" y="5257800"/>
            <a:ext cx="12161520" cy="1600200"/>
          </a:xfrm>
          <a:prstGeom prst="rect">
            <a:avLst/>
          </a:prstGeom>
          <a:solidFill>
            <a:srgbClr val="8F3B30"/>
          </a:solidFill>
          <a:ln/>
        </p:spPr>
      </p:sp>
      <p:sp>
        <p:nvSpPr>
          <p:cNvPr id="4" name="Shape 2"/>
          <p:cNvSpPr/>
          <p:nvPr/>
        </p:nvSpPr>
        <p:spPr>
          <a:xfrm>
            <a:off x="9326880" y="640080"/>
            <a:ext cx="1965960" cy="1965960"/>
          </a:xfrm>
          <a:prstGeom prst="ellipse">
            <a:avLst/>
          </a:prstGeom>
          <a:solidFill>
            <a:srgbClr val="8F3B30"/>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65792" y="1078992"/>
            <a:ext cx="1097280" cy="109728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A Talk &amp; Discussion Series</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Chapter 10</a:t>
            </a:r>
            <a:endParaRPr lang="en-US" sz="3000" dirty="0"/>
          </a:p>
        </p:txBody>
      </p:sp>
      <p:sp>
        <p:nvSpPr>
          <p:cNvPr id="9" name="Text 6"/>
          <p:cNvSpPr/>
          <p:nvPr/>
        </p:nvSpPr>
        <p:spPr>
          <a:xfrm>
            <a:off x="777240" y="2880360"/>
            <a:ext cx="10424160" cy="1828800"/>
          </a:xfrm>
          <a:prstGeom prst="rect">
            <a:avLst/>
          </a:prstGeom>
          <a:noFill/>
          <a:ln/>
        </p:spPr>
        <p:txBody>
          <a:bodyPr wrap="square" rtlCol="0" anchor="t"/>
          <a:lstStyle/>
          <a:p>
            <a:pPr indent="0" marL="0">
              <a:lnSpc>
                <a:spcPct val="95000"/>
              </a:lnSpc>
              <a:buNone/>
            </a:pPr>
            <a:r>
              <a:rPr lang="en-US" sz="5200" b="1" dirty="0">
                <a:solidFill>
                  <a:srgbClr val="FBF7F0"/>
                </a:solidFill>
                <a:latin typeface="Bookman Old Style" pitchFamily="34" charset="0"/>
                <a:ea typeface="Bookman Old Style" pitchFamily="34" charset="-122"/>
                <a:cs typeface="Bookman Old Style" pitchFamily="34" charset="-120"/>
              </a:rPr>
              <a:t>The Sabbath in a 24/7 World</a:t>
            </a:r>
            <a:endParaRPr lang="en-US" sz="5200" dirty="0"/>
          </a:p>
        </p:txBody>
      </p:sp>
      <p:pic>
        <p:nvPicPr>
          <p:cNvPr id="10" name="Image 1" descr="preencoded.png">    </p:cNvPr>
          <p:cNvPicPr>
            <a:picLocks noChangeAspect="1"/>
          </p:cNvPicPr>
          <p:nvPr/>
        </p:nvPicPr>
        <p:blipFill>
          <a:blip r:embed="rId2"/>
          <a:stretch>
            <a:fillRect/>
          </a:stretch>
        </p:blipFill>
        <p:spPr>
          <a:xfrm>
            <a:off x="868680" y="5623560"/>
            <a:ext cx="457200" cy="457200"/>
          </a:xfrm>
          <a:prstGeom prst="rect">
            <a:avLst/>
          </a:prstGeom>
        </p:spPr>
      </p:pic>
      <p:sp>
        <p:nvSpPr>
          <p:cNvPr id="11" name="Text 7"/>
          <p:cNvSpPr/>
          <p:nvPr/>
        </p:nvSpPr>
        <p:spPr>
          <a:xfrm>
            <a:off x="1463040" y="5623560"/>
            <a:ext cx="10058400" cy="457200"/>
          </a:xfrm>
          <a:prstGeom prst="rect">
            <a:avLst/>
          </a:prstGeom>
          <a:noFill/>
          <a:ln/>
        </p:spPr>
        <p:txBody>
          <a:bodyPr wrap="square" rtlCol="0" anchor="ctr"/>
          <a:lstStyle/>
          <a:p>
            <a:pPr indent="0" marL="0">
              <a:buNone/>
            </a:pPr>
            <a:r>
              <a:rPr lang="en-US" sz="1600" b="1" dirty="0">
                <a:solidFill>
                  <a:srgbClr val="E7E8D1"/>
                </a:solidFill>
                <a:latin typeface="Calibri" pitchFamily="34" charset="0"/>
                <a:ea typeface="Calibri" pitchFamily="34" charset="-122"/>
                <a:cs typeface="Calibri" pitchFamily="34" charset="-120"/>
              </a:rPr>
              <a:t>Key Scripture   </a:t>
            </a:r>
            <a:pPr indent="0" marL="0">
              <a:buNone/>
            </a:pPr>
            <a:r>
              <a:rPr lang="en-US" sz="1600" i="1" dirty="0">
                <a:solidFill>
                  <a:srgbClr val="FBF7F0"/>
                </a:solidFill>
                <a:latin typeface="Calibri" pitchFamily="34" charset="0"/>
                <a:ea typeface="Calibri" pitchFamily="34" charset="-122"/>
                <a:cs typeface="Calibri" pitchFamily="34" charset="-120"/>
              </a:rPr>
              <a:t>Exodus 20:8–11 (ESV)</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In This Session</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What we'll walk through together</a:t>
            </a:r>
            <a:endParaRPr lang="en-US" sz="1500" dirty="0"/>
          </a:p>
        </p:txBody>
      </p:sp>
      <p:sp>
        <p:nvSpPr>
          <p:cNvPr id="6" name="Shape 3"/>
          <p:cNvSpPr/>
          <p:nvPr/>
        </p:nvSpPr>
        <p:spPr>
          <a:xfrm>
            <a:off x="868680" y="1783080"/>
            <a:ext cx="457200" cy="457200"/>
          </a:xfrm>
          <a:prstGeom prst="ellipse">
            <a:avLst/>
          </a:prstGeom>
          <a:solidFill>
            <a:srgbClr val="6B7A5E"/>
          </a:solidFill>
          <a:ln/>
        </p:spPr>
      </p:sp>
      <p:sp>
        <p:nvSpPr>
          <p:cNvPr id="7" name="Text 4"/>
          <p:cNvSpPr/>
          <p:nvPr/>
        </p:nvSpPr>
        <p:spPr>
          <a:xfrm>
            <a:off x="8686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5270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World Never Sleeps</a:t>
            </a:r>
            <a:endParaRPr lang="en-US" sz="1500" dirty="0"/>
          </a:p>
        </p:txBody>
      </p:sp>
      <p:sp>
        <p:nvSpPr>
          <p:cNvPr id="9" name="Shape 6"/>
          <p:cNvSpPr/>
          <p:nvPr/>
        </p:nvSpPr>
        <p:spPr>
          <a:xfrm>
            <a:off x="868680" y="2441448"/>
            <a:ext cx="457200" cy="457200"/>
          </a:xfrm>
          <a:prstGeom prst="ellipse">
            <a:avLst/>
          </a:prstGeom>
          <a:solidFill>
            <a:srgbClr val="6B7A5E"/>
          </a:solidFill>
          <a:ln/>
        </p:spPr>
      </p:sp>
      <p:sp>
        <p:nvSpPr>
          <p:cNvPr id="10" name="Text 7"/>
          <p:cNvSpPr/>
          <p:nvPr/>
        </p:nvSpPr>
        <p:spPr>
          <a:xfrm>
            <a:off x="8686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15270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Forgotten Commandment</a:t>
            </a:r>
            <a:endParaRPr lang="en-US" sz="1500" dirty="0"/>
          </a:p>
        </p:txBody>
      </p:sp>
      <p:sp>
        <p:nvSpPr>
          <p:cNvPr id="12" name="Shape 9"/>
          <p:cNvSpPr/>
          <p:nvPr/>
        </p:nvSpPr>
        <p:spPr>
          <a:xfrm>
            <a:off x="868680" y="3099816"/>
            <a:ext cx="457200" cy="457200"/>
          </a:xfrm>
          <a:prstGeom prst="ellipse">
            <a:avLst/>
          </a:prstGeom>
          <a:solidFill>
            <a:srgbClr val="6B7A5E"/>
          </a:solidFill>
          <a:ln/>
        </p:spPr>
      </p:sp>
      <p:sp>
        <p:nvSpPr>
          <p:cNvPr id="13" name="Text 10"/>
          <p:cNvSpPr/>
          <p:nvPr/>
        </p:nvSpPr>
        <p:spPr>
          <a:xfrm>
            <a:off x="8686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3</a:t>
            </a:r>
            <a:endParaRPr lang="en-US" sz="1500" dirty="0"/>
          </a:p>
        </p:txBody>
      </p:sp>
      <p:sp>
        <p:nvSpPr>
          <p:cNvPr id="14" name="Text 11"/>
          <p:cNvSpPr/>
          <p:nvPr/>
        </p:nvSpPr>
        <p:spPr>
          <a:xfrm>
            <a:off x="15270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Why We Resist Rest</a:t>
            </a:r>
            <a:endParaRPr lang="en-US" sz="1500" dirty="0"/>
          </a:p>
        </p:txBody>
      </p:sp>
      <p:sp>
        <p:nvSpPr>
          <p:cNvPr id="15" name="Shape 12"/>
          <p:cNvSpPr/>
          <p:nvPr/>
        </p:nvSpPr>
        <p:spPr>
          <a:xfrm>
            <a:off x="868680" y="3758184"/>
            <a:ext cx="457200" cy="457200"/>
          </a:xfrm>
          <a:prstGeom prst="ellipse">
            <a:avLst/>
          </a:prstGeom>
          <a:solidFill>
            <a:srgbClr val="6B7A5E"/>
          </a:solidFill>
          <a:ln/>
        </p:spPr>
      </p:sp>
      <p:sp>
        <p:nvSpPr>
          <p:cNvPr id="16" name="Text 13"/>
          <p:cNvSpPr/>
          <p:nvPr/>
        </p:nvSpPr>
        <p:spPr>
          <a:xfrm>
            <a:off x="8686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4</a:t>
            </a:r>
            <a:endParaRPr lang="en-US" sz="1500" dirty="0"/>
          </a:p>
        </p:txBody>
      </p:sp>
      <p:sp>
        <p:nvSpPr>
          <p:cNvPr id="17" name="Text 14"/>
          <p:cNvSpPr/>
          <p:nvPr/>
        </p:nvSpPr>
        <p:spPr>
          <a:xfrm>
            <a:off x="15270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Digital Pharaoh</a:t>
            </a:r>
            <a:endParaRPr lang="en-US" sz="1500" dirty="0"/>
          </a:p>
        </p:txBody>
      </p:sp>
      <p:sp>
        <p:nvSpPr>
          <p:cNvPr id="18" name="Shape 15"/>
          <p:cNvSpPr/>
          <p:nvPr/>
        </p:nvSpPr>
        <p:spPr>
          <a:xfrm>
            <a:off x="868680" y="4416552"/>
            <a:ext cx="457200" cy="457200"/>
          </a:xfrm>
          <a:prstGeom prst="ellipse">
            <a:avLst/>
          </a:prstGeom>
          <a:solidFill>
            <a:srgbClr val="6B7A5E"/>
          </a:solidFill>
          <a:ln/>
        </p:spPr>
      </p:sp>
      <p:sp>
        <p:nvSpPr>
          <p:cNvPr id="19" name="Text 16"/>
          <p:cNvSpPr/>
          <p:nvPr/>
        </p:nvSpPr>
        <p:spPr>
          <a:xfrm>
            <a:off x="8686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5</a:t>
            </a:r>
            <a:endParaRPr lang="en-US" sz="1500" dirty="0"/>
          </a:p>
        </p:txBody>
      </p:sp>
      <p:sp>
        <p:nvSpPr>
          <p:cNvPr id="20" name="Text 17"/>
          <p:cNvSpPr/>
          <p:nvPr/>
        </p:nvSpPr>
        <p:spPr>
          <a:xfrm>
            <a:off x="15270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Illusion of Constant Availability</a:t>
            </a:r>
            <a:endParaRPr lang="en-US" sz="1500" dirty="0"/>
          </a:p>
        </p:txBody>
      </p:sp>
      <p:sp>
        <p:nvSpPr>
          <p:cNvPr id="21" name="Shape 18"/>
          <p:cNvSpPr/>
          <p:nvPr/>
        </p:nvSpPr>
        <p:spPr>
          <a:xfrm>
            <a:off x="868680" y="5074920"/>
            <a:ext cx="457200" cy="457200"/>
          </a:xfrm>
          <a:prstGeom prst="ellipse">
            <a:avLst/>
          </a:prstGeom>
          <a:solidFill>
            <a:srgbClr val="6B7A5E"/>
          </a:solidFill>
          <a:ln/>
        </p:spPr>
      </p:sp>
      <p:sp>
        <p:nvSpPr>
          <p:cNvPr id="22" name="Text 19"/>
          <p:cNvSpPr/>
          <p:nvPr/>
        </p:nvSpPr>
        <p:spPr>
          <a:xfrm>
            <a:off x="8686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6</a:t>
            </a:r>
            <a:endParaRPr lang="en-US" sz="1500" dirty="0"/>
          </a:p>
        </p:txBody>
      </p:sp>
      <p:sp>
        <p:nvSpPr>
          <p:cNvPr id="23" name="Text 20"/>
          <p:cNvSpPr/>
          <p:nvPr/>
        </p:nvSpPr>
        <p:spPr>
          <a:xfrm>
            <a:off x="15270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Anxiety Behind Overwork</a:t>
            </a:r>
            <a:endParaRPr lang="en-US" sz="1500" dirty="0"/>
          </a:p>
        </p:txBody>
      </p:sp>
      <p:sp>
        <p:nvSpPr>
          <p:cNvPr id="24" name="Shape 21"/>
          <p:cNvSpPr/>
          <p:nvPr/>
        </p:nvSpPr>
        <p:spPr>
          <a:xfrm>
            <a:off x="868680" y="5733288"/>
            <a:ext cx="457200" cy="457200"/>
          </a:xfrm>
          <a:prstGeom prst="ellipse">
            <a:avLst/>
          </a:prstGeom>
          <a:solidFill>
            <a:srgbClr val="6B7A5E"/>
          </a:solidFill>
          <a:ln/>
        </p:spPr>
      </p:sp>
      <p:sp>
        <p:nvSpPr>
          <p:cNvPr id="25" name="Text 22"/>
          <p:cNvSpPr/>
          <p:nvPr/>
        </p:nvSpPr>
        <p:spPr>
          <a:xfrm>
            <a:off x="868680" y="573328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7</a:t>
            </a:r>
            <a:endParaRPr lang="en-US" sz="1500" dirty="0"/>
          </a:p>
        </p:txBody>
      </p:sp>
      <p:sp>
        <p:nvSpPr>
          <p:cNvPr id="26" name="Text 23"/>
          <p:cNvSpPr/>
          <p:nvPr/>
        </p:nvSpPr>
        <p:spPr>
          <a:xfrm>
            <a:off x="1527048" y="570585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Artificial Intelligence and the Promise of More</a:t>
            </a:r>
            <a:endParaRPr lang="en-US" sz="1500" dirty="0"/>
          </a:p>
        </p:txBody>
      </p:sp>
      <p:sp>
        <p:nvSpPr>
          <p:cNvPr id="27" name="Shape 24"/>
          <p:cNvSpPr/>
          <p:nvPr/>
        </p:nvSpPr>
        <p:spPr>
          <a:xfrm>
            <a:off x="6355080" y="1783080"/>
            <a:ext cx="457200" cy="457200"/>
          </a:xfrm>
          <a:prstGeom prst="ellipse">
            <a:avLst/>
          </a:prstGeom>
          <a:solidFill>
            <a:srgbClr val="6B7A5E"/>
          </a:solidFill>
          <a:ln/>
        </p:spPr>
      </p:sp>
      <p:sp>
        <p:nvSpPr>
          <p:cNvPr id="28" name="Text 25"/>
          <p:cNvSpPr/>
          <p:nvPr/>
        </p:nvSpPr>
        <p:spPr>
          <a:xfrm>
            <a:off x="6355080" y="178308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8</a:t>
            </a:r>
            <a:endParaRPr lang="en-US" sz="1500" dirty="0"/>
          </a:p>
        </p:txBody>
      </p:sp>
      <p:sp>
        <p:nvSpPr>
          <p:cNvPr id="29" name="Text 26"/>
          <p:cNvSpPr/>
          <p:nvPr/>
        </p:nvSpPr>
        <p:spPr>
          <a:xfrm>
            <a:off x="7013448" y="175564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Rest Is Not Laziness</a:t>
            </a:r>
            <a:endParaRPr lang="en-US" sz="1500" dirty="0"/>
          </a:p>
        </p:txBody>
      </p:sp>
      <p:sp>
        <p:nvSpPr>
          <p:cNvPr id="30" name="Shape 27"/>
          <p:cNvSpPr/>
          <p:nvPr/>
        </p:nvSpPr>
        <p:spPr>
          <a:xfrm>
            <a:off x="6355080" y="2441448"/>
            <a:ext cx="457200" cy="457200"/>
          </a:xfrm>
          <a:prstGeom prst="ellipse">
            <a:avLst/>
          </a:prstGeom>
          <a:solidFill>
            <a:srgbClr val="6B7A5E"/>
          </a:solidFill>
          <a:ln/>
        </p:spPr>
      </p:sp>
      <p:sp>
        <p:nvSpPr>
          <p:cNvPr id="31" name="Text 28"/>
          <p:cNvSpPr/>
          <p:nvPr/>
        </p:nvSpPr>
        <p:spPr>
          <a:xfrm>
            <a:off x="6355080" y="2441448"/>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9</a:t>
            </a:r>
            <a:endParaRPr lang="en-US" sz="1500" dirty="0"/>
          </a:p>
        </p:txBody>
      </p:sp>
      <p:sp>
        <p:nvSpPr>
          <p:cNvPr id="32" name="Text 29"/>
          <p:cNvSpPr/>
          <p:nvPr/>
        </p:nvSpPr>
        <p:spPr>
          <a:xfrm>
            <a:off x="7013448" y="2414016"/>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Digital Sabbath</a:t>
            </a:r>
            <a:endParaRPr lang="en-US" sz="1500" dirty="0"/>
          </a:p>
        </p:txBody>
      </p:sp>
      <p:sp>
        <p:nvSpPr>
          <p:cNvPr id="33" name="Shape 30"/>
          <p:cNvSpPr/>
          <p:nvPr/>
        </p:nvSpPr>
        <p:spPr>
          <a:xfrm>
            <a:off x="6355080" y="3099816"/>
            <a:ext cx="457200" cy="457200"/>
          </a:xfrm>
          <a:prstGeom prst="ellipse">
            <a:avLst/>
          </a:prstGeom>
          <a:solidFill>
            <a:srgbClr val="6B7A5E"/>
          </a:solidFill>
          <a:ln/>
        </p:spPr>
      </p:sp>
      <p:sp>
        <p:nvSpPr>
          <p:cNvPr id="34" name="Text 31"/>
          <p:cNvSpPr/>
          <p:nvPr/>
        </p:nvSpPr>
        <p:spPr>
          <a:xfrm>
            <a:off x="6355080" y="3099816"/>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10</a:t>
            </a:r>
            <a:endParaRPr lang="en-US" sz="1500" dirty="0"/>
          </a:p>
        </p:txBody>
      </p:sp>
      <p:sp>
        <p:nvSpPr>
          <p:cNvPr id="35" name="Text 32"/>
          <p:cNvSpPr/>
          <p:nvPr/>
        </p:nvSpPr>
        <p:spPr>
          <a:xfrm>
            <a:off x="7013448" y="3072384"/>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Rediscovering Wonder</a:t>
            </a:r>
            <a:endParaRPr lang="en-US" sz="1500" dirty="0"/>
          </a:p>
        </p:txBody>
      </p:sp>
      <p:sp>
        <p:nvSpPr>
          <p:cNvPr id="36" name="Shape 33"/>
          <p:cNvSpPr/>
          <p:nvPr/>
        </p:nvSpPr>
        <p:spPr>
          <a:xfrm>
            <a:off x="6355080" y="3758184"/>
            <a:ext cx="457200" cy="457200"/>
          </a:xfrm>
          <a:prstGeom prst="ellipse">
            <a:avLst/>
          </a:prstGeom>
          <a:solidFill>
            <a:srgbClr val="6B7A5E"/>
          </a:solidFill>
          <a:ln/>
        </p:spPr>
      </p:sp>
      <p:sp>
        <p:nvSpPr>
          <p:cNvPr id="37" name="Text 34"/>
          <p:cNvSpPr/>
          <p:nvPr/>
        </p:nvSpPr>
        <p:spPr>
          <a:xfrm>
            <a:off x="6355080" y="3758184"/>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11</a:t>
            </a:r>
            <a:endParaRPr lang="en-US" sz="1500" dirty="0"/>
          </a:p>
        </p:txBody>
      </p:sp>
      <p:sp>
        <p:nvSpPr>
          <p:cNvPr id="38" name="Text 35"/>
          <p:cNvSpPr/>
          <p:nvPr/>
        </p:nvSpPr>
        <p:spPr>
          <a:xfrm>
            <a:off x="7013448" y="3730752"/>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Rest as Worship</a:t>
            </a:r>
            <a:endParaRPr lang="en-US" sz="1500" dirty="0"/>
          </a:p>
        </p:txBody>
      </p:sp>
      <p:sp>
        <p:nvSpPr>
          <p:cNvPr id="39" name="Shape 36"/>
          <p:cNvSpPr/>
          <p:nvPr/>
        </p:nvSpPr>
        <p:spPr>
          <a:xfrm>
            <a:off x="6355080" y="4416552"/>
            <a:ext cx="457200" cy="457200"/>
          </a:xfrm>
          <a:prstGeom prst="ellipse">
            <a:avLst/>
          </a:prstGeom>
          <a:solidFill>
            <a:srgbClr val="6B7A5E"/>
          </a:solidFill>
          <a:ln/>
        </p:spPr>
      </p:sp>
      <p:sp>
        <p:nvSpPr>
          <p:cNvPr id="40" name="Text 37"/>
          <p:cNvSpPr/>
          <p:nvPr/>
        </p:nvSpPr>
        <p:spPr>
          <a:xfrm>
            <a:off x="6355080" y="4416552"/>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12</a:t>
            </a:r>
            <a:endParaRPr lang="en-US" sz="1500" dirty="0"/>
          </a:p>
        </p:txBody>
      </p:sp>
      <p:sp>
        <p:nvSpPr>
          <p:cNvPr id="41" name="Text 38"/>
          <p:cNvSpPr/>
          <p:nvPr/>
        </p:nvSpPr>
        <p:spPr>
          <a:xfrm>
            <a:off x="7013448" y="4389120"/>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A Taste of Eternity</a:t>
            </a:r>
            <a:endParaRPr lang="en-US" sz="1500" dirty="0"/>
          </a:p>
        </p:txBody>
      </p:sp>
      <p:sp>
        <p:nvSpPr>
          <p:cNvPr id="42" name="Shape 39"/>
          <p:cNvSpPr/>
          <p:nvPr/>
        </p:nvSpPr>
        <p:spPr>
          <a:xfrm>
            <a:off x="6355080" y="5074920"/>
            <a:ext cx="457200" cy="457200"/>
          </a:xfrm>
          <a:prstGeom prst="ellipse">
            <a:avLst/>
          </a:prstGeom>
          <a:solidFill>
            <a:srgbClr val="6B7A5E"/>
          </a:solidFill>
          <a:ln/>
        </p:spPr>
      </p:sp>
      <p:sp>
        <p:nvSpPr>
          <p:cNvPr id="43" name="Text 40"/>
          <p:cNvSpPr/>
          <p:nvPr/>
        </p:nvSpPr>
        <p:spPr>
          <a:xfrm>
            <a:off x="6355080" y="5074920"/>
            <a:ext cx="457200" cy="457200"/>
          </a:xfrm>
          <a:prstGeom prst="rect">
            <a:avLst/>
          </a:prstGeom>
          <a:noFill/>
          <a:ln/>
        </p:spPr>
        <p:txBody>
          <a:bodyPr wrap="square" rtlCol="0" anchor="ctr"/>
          <a:lstStyle/>
          <a:p>
            <a:pPr algn="ctr" indent="0" marL="0">
              <a:buNone/>
            </a:pPr>
            <a:r>
              <a:rPr lang="en-US" sz="1500" b="1" dirty="0">
                <a:solidFill>
                  <a:srgbClr val="FBF7F0"/>
                </a:solidFill>
                <a:latin typeface="Calibri" pitchFamily="34" charset="0"/>
                <a:ea typeface="Calibri" pitchFamily="34" charset="-122"/>
                <a:cs typeface="Calibri" pitchFamily="34" charset="-120"/>
              </a:rPr>
              <a:t>13</a:t>
            </a:r>
            <a:endParaRPr lang="en-US" sz="1500" dirty="0"/>
          </a:p>
        </p:txBody>
      </p:sp>
      <p:sp>
        <p:nvSpPr>
          <p:cNvPr id="44" name="Text 41"/>
          <p:cNvSpPr/>
          <p:nvPr/>
        </p:nvSpPr>
        <p:spPr>
          <a:xfrm>
            <a:off x="7013448" y="5047488"/>
            <a:ext cx="5029200" cy="512064"/>
          </a:xfrm>
          <a:prstGeom prst="rect">
            <a:avLst/>
          </a:prstGeom>
          <a:noFill/>
          <a:ln/>
        </p:spPr>
        <p:txBody>
          <a:bodyPr wrap="square" rtlCol="0" anchor="ctr"/>
          <a:lstStyle/>
          <a:p>
            <a:pPr indent="0" marL="0">
              <a:buNone/>
            </a:pPr>
            <a:r>
              <a:rPr lang="en-US" sz="1500" b="1" dirty="0">
                <a:solidFill>
                  <a:srgbClr val="3A342E"/>
                </a:solidFill>
                <a:latin typeface="Calibri" pitchFamily="34" charset="0"/>
                <a:ea typeface="Calibri" pitchFamily="34" charset="-122"/>
                <a:cs typeface="Calibri" pitchFamily="34" charset="-120"/>
              </a:rPr>
              <a:t>The Gift We Keep Rejecting</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822960" y="731520"/>
            <a:ext cx="914400" cy="914400"/>
          </a:xfrm>
          <a:prstGeom prst="rect">
            <a:avLst/>
          </a:prstGeom>
        </p:spPr>
      </p:pic>
      <p:sp>
        <p:nvSpPr>
          <p:cNvPr id="4" name="Text 1"/>
          <p:cNvSpPr/>
          <p:nvPr/>
        </p:nvSpPr>
        <p:spPr>
          <a:xfrm>
            <a:off x="1874520" y="868680"/>
            <a:ext cx="7315200" cy="365760"/>
          </a:xfrm>
          <a:prstGeom prst="rect">
            <a:avLst/>
          </a:prstGeom>
          <a:noFill/>
          <a:ln/>
        </p:spPr>
        <p:txBody>
          <a:bodyPr wrap="square" rtlCol="0" anchor="ctr"/>
          <a:lstStyle/>
          <a:p>
            <a:pPr indent="0" marL="0">
              <a:buNone/>
            </a:pPr>
            <a:r>
              <a:rPr lang="en-US" sz="1500" b="1" spc="300" kern="0" dirty="0">
                <a:solidFill>
                  <a:srgbClr val="E7E8D1"/>
                </a:solidFill>
                <a:latin typeface="Calibri" pitchFamily="34" charset="0"/>
                <a:ea typeface="Calibri" pitchFamily="34" charset="-122"/>
                <a:cs typeface="Calibri" pitchFamily="34" charset="-120"/>
              </a:rPr>
              <a:t>KEY SCRIPTURE</a:t>
            </a:r>
            <a:endParaRPr lang="en-US" sz="1500" dirty="0"/>
          </a:p>
        </p:txBody>
      </p:sp>
      <p:sp>
        <p:nvSpPr>
          <p:cNvPr id="5" name="Text 2"/>
          <p:cNvSpPr/>
          <p:nvPr/>
        </p:nvSpPr>
        <p:spPr>
          <a:xfrm>
            <a:off x="1874520" y="1234440"/>
            <a:ext cx="9144000" cy="457200"/>
          </a:xfrm>
          <a:prstGeom prst="rect">
            <a:avLst/>
          </a:prstGeom>
          <a:noFill/>
          <a:ln/>
        </p:spPr>
        <p:txBody>
          <a:bodyPr wrap="square" rtlCol="0" anchor="ctr"/>
          <a:lstStyle/>
          <a:p>
            <a:pPr indent="0" marL="0">
              <a:buNone/>
            </a:pPr>
            <a:r>
              <a:rPr lang="en-US" sz="2200" b="1" dirty="0">
                <a:solidFill>
                  <a:srgbClr val="C9A15A"/>
                </a:solidFill>
                <a:latin typeface="Bookman Old Style" pitchFamily="34" charset="0"/>
                <a:ea typeface="Bookman Old Style" pitchFamily="34" charset="-122"/>
                <a:cs typeface="Bookman Old Style" pitchFamily="34" charset="-120"/>
              </a:rPr>
              <a:t>Exodus 20:8–11 (ESV)</a:t>
            </a:r>
            <a:endParaRPr lang="en-US" sz="2200" dirty="0"/>
          </a:p>
        </p:txBody>
      </p:sp>
      <p:sp>
        <p:nvSpPr>
          <p:cNvPr id="6" name="Text 3"/>
          <p:cNvSpPr/>
          <p:nvPr/>
        </p:nvSpPr>
        <p:spPr>
          <a:xfrm>
            <a:off x="1280160" y="2194560"/>
            <a:ext cx="9601200" cy="4023360"/>
          </a:xfrm>
          <a:prstGeom prst="rect">
            <a:avLst/>
          </a:prstGeom>
          <a:noFill/>
          <a:ln/>
        </p:spPr>
        <p:txBody>
          <a:bodyPr wrap="square" rtlCol="0" anchor="t"/>
          <a:lstStyle/>
          <a:p>
            <a:pPr indent="0" marL="0">
              <a:lnSpc>
                <a:spcPct val="112000"/>
              </a:lnSpc>
              <a:buNone/>
            </a:pPr>
            <a:r>
              <a:rPr lang="en-US" sz="2400" i="1" dirty="0">
                <a:solidFill>
                  <a:srgbClr val="FBF7F0"/>
                </a:solidFill>
                <a:latin typeface="Bookman Old Style" pitchFamily="34" charset="0"/>
                <a:ea typeface="Bookman Old Style" pitchFamily="34" charset="-122"/>
                <a:cs typeface="Bookman Old Style" pitchFamily="34" charset="-120"/>
              </a:rPr>
              <a:t>"It is in vain that you rise up early and go late to rest, eating the bread of anxious toil; for he gives to his beloved sleep."</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01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World Never Sleeps</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For most of history, darkness ended the workday. Technology erased that boundary — now the world, and our work, never sleeps.</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02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Forgotten Commandment</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We remember the commands against lying, stealing, and murder — and quietly ignore the one about rest.</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03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Why We Resist Rest</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Almost everyone says they value rest; far fewer practice it. The gap between what we claim and how we live is worth examining.</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04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Digital Pharaoh</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300" dirty="0">
                <a:solidFill>
                  <a:srgbClr val="3A342E"/>
                </a:solidFill>
                <a:latin typeface="Bookman Old Style" pitchFamily="34" charset="0"/>
                <a:ea typeface="Bookman Old Style" pitchFamily="34" charset="-122"/>
                <a:cs typeface="Bookman Old Style" pitchFamily="34" charset="-120"/>
              </a:rPr>
              <a:t>Egypt demanded bricks and more bricks, endless production with no rest. The digital age can become a Pharaoh of the same kind.</a:t>
            </a:r>
            <a:endParaRPr lang="en-US" sz="23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05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Illusion of Constant Availability</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Technology sells the lie that availability equals faithfulness — that every message demands an instant reply.</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06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Anxiety Behind Overwork</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Overwork is rarely just ambition. More often it is anxiety — the fear that there will not be enough if we ever stop.</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07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Artificial Intelligence and the Promise of More</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AI promises efficiency so we can work less. History suggests we simply fill the freed time with still more work.</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08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Rest Is Not Laziness</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Rewarded all our lives for activity, we mistake stillness for failure. But biblical rest is not idleness — it is trust.</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09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Digital Sabbath</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The ancients rested from physical labor; we must reckon with digital labor, where the mind never truly clocks out.</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10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Rediscovering Wonder</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When every spare moment is filled, wonder has no room to grow. Waiting becomes scrolling; awe quietly disappears.</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11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Rest as Worship</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We think of worship as activity — singing, serving, giving. But stopping itself can be a profound act of worship.</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12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A Taste of Eternity</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Sabbath points beyond itself. Each true rest is a rehearsal, a foretaste of the eternal rest found in God Himself.</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7F0"/>
        </a:solidFill>
      </p:bgPr>
    </p:bg>
    <p:spTree>
      <p:nvGrpSpPr>
        <p:cNvPr id="1" name=""/>
        <p:cNvGrpSpPr/>
        <p:nvPr/>
      </p:nvGrpSpPr>
      <p:grpSpPr>
        <a:xfrm>
          <a:off x="0" y="0"/>
          <a:ext cx="0" cy="0"/>
          <a:chOff x="0" y="0"/>
          <a:chExt cx="0" cy="0"/>
        </a:xfrm>
      </p:grpSpPr>
      <p:sp>
        <p:nvSpPr>
          <p:cNvPr id="2" name="Text 0"/>
          <p:cNvSpPr/>
          <p:nvPr/>
        </p:nvSpPr>
        <p:spPr>
          <a:xfrm>
            <a:off x="10241280" y="457200"/>
            <a:ext cx="1463040" cy="320040"/>
          </a:xfrm>
          <a:prstGeom prst="rect">
            <a:avLst/>
          </a:prstGeom>
          <a:noFill/>
          <a:ln/>
        </p:spPr>
        <p:txBody>
          <a:bodyPr wrap="square" rtlCol="0" anchor="ctr"/>
          <a:lstStyle/>
          <a:p>
            <a:pPr algn="r" indent="0" marL="0">
              <a:buNone/>
            </a:pPr>
            <a:r>
              <a:rPr lang="en-US" sz="1200" b="1" dirty="0">
                <a:solidFill>
                  <a:srgbClr val="6E655C"/>
                </a:solidFill>
                <a:latin typeface="Calibri" pitchFamily="34" charset="0"/>
                <a:ea typeface="Calibri" pitchFamily="34" charset="-122"/>
                <a:cs typeface="Calibri" pitchFamily="34" charset="-120"/>
              </a:rPr>
              <a:t>13 / 13</a:t>
            </a:r>
            <a:endParaRPr lang="en-US" sz="1200" dirty="0"/>
          </a:p>
        </p:txBody>
      </p:sp>
      <p:sp>
        <p:nvSpPr>
          <p:cNvPr id="3" name="Shape 1"/>
          <p:cNvSpPr/>
          <p:nvPr/>
        </p:nvSpPr>
        <p:spPr>
          <a:xfrm>
            <a:off x="822960" y="777240"/>
            <a:ext cx="1234440" cy="123444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4" name="Image 0" descr="preencoded.png">    </p:cNvPr>
          <p:cNvPicPr>
            <a:picLocks noChangeAspect="1"/>
          </p:cNvPicPr>
          <p:nvPr/>
        </p:nvPicPr>
        <p:blipFill>
          <a:blip r:embed="rId1"/>
          <a:stretch>
            <a:fillRect/>
          </a:stretch>
        </p:blipFill>
        <p:spPr>
          <a:xfrm>
            <a:off x="1133856" y="1088136"/>
            <a:ext cx="612648" cy="612648"/>
          </a:xfrm>
          <a:prstGeom prst="rect">
            <a:avLst/>
          </a:prstGeom>
        </p:spPr>
      </p:pic>
      <p:sp>
        <p:nvSpPr>
          <p:cNvPr id="5" name="Text 2"/>
          <p:cNvSpPr/>
          <p:nvPr/>
        </p:nvSpPr>
        <p:spPr>
          <a:xfrm>
            <a:off x="2331720" y="822960"/>
            <a:ext cx="9052560" cy="1188720"/>
          </a:xfrm>
          <a:prstGeom prst="rect">
            <a:avLst/>
          </a:prstGeom>
          <a:noFill/>
          <a:ln/>
        </p:spPr>
        <p:txBody>
          <a:bodyPr wrap="square" rtlCol="0" anchor="ctr"/>
          <a:lstStyle/>
          <a:p>
            <a:pPr indent="0" marL="0">
              <a:lnSpc>
                <a:spcPct val="98000"/>
              </a:lnSpc>
              <a:buNone/>
            </a:pPr>
            <a:r>
              <a:rPr lang="en-US" sz="3200" b="1" dirty="0">
                <a:solidFill>
                  <a:srgbClr val="8F3B30"/>
                </a:solidFill>
                <a:latin typeface="Bookman Old Style" pitchFamily="34" charset="0"/>
                <a:ea typeface="Bookman Old Style" pitchFamily="34" charset="-122"/>
                <a:cs typeface="Bookman Old Style" pitchFamily="34" charset="-120"/>
              </a:rPr>
              <a:t>The Gift We Keep Rejecting</a:t>
            </a:r>
            <a:endParaRPr lang="en-US" sz="3200" dirty="0"/>
          </a:p>
        </p:txBody>
      </p:sp>
      <p:sp>
        <p:nvSpPr>
          <p:cNvPr id="6" name="Shape 3"/>
          <p:cNvSpPr/>
          <p:nvPr/>
        </p:nvSpPr>
        <p:spPr>
          <a:xfrm>
            <a:off x="2377440" y="2286000"/>
            <a:ext cx="100584" cy="100584"/>
          </a:xfrm>
          <a:prstGeom prst="ellipse">
            <a:avLst/>
          </a:prstGeom>
          <a:solidFill>
            <a:srgbClr val="C9A15A"/>
          </a:solidFill>
          <a:ln/>
        </p:spPr>
      </p:sp>
      <p:sp>
        <p:nvSpPr>
          <p:cNvPr id="7" name="Shape 4"/>
          <p:cNvSpPr/>
          <p:nvPr/>
        </p:nvSpPr>
        <p:spPr>
          <a:xfrm>
            <a:off x="2606040" y="2286000"/>
            <a:ext cx="100584" cy="100584"/>
          </a:xfrm>
          <a:prstGeom prst="ellipse">
            <a:avLst/>
          </a:prstGeom>
          <a:solidFill>
            <a:srgbClr val="6B7A5E"/>
          </a:solidFill>
          <a:ln/>
        </p:spPr>
      </p:sp>
      <p:sp>
        <p:nvSpPr>
          <p:cNvPr id="8" name="Shape 5"/>
          <p:cNvSpPr/>
          <p:nvPr/>
        </p:nvSpPr>
        <p:spPr>
          <a:xfrm>
            <a:off x="2834640" y="2286000"/>
            <a:ext cx="100584" cy="100584"/>
          </a:xfrm>
          <a:prstGeom prst="ellipse">
            <a:avLst/>
          </a:prstGeom>
          <a:solidFill>
            <a:srgbClr val="B85042"/>
          </a:solidFill>
          <a:ln/>
        </p:spPr>
      </p:sp>
      <p:sp>
        <p:nvSpPr>
          <p:cNvPr id="9" name="Shape 6"/>
          <p:cNvSpPr/>
          <p:nvPr/>
        </p:nvSpPr>
        <p:spPr>
          <a:xfrm>
            <a:off x="1554480" y="2788920"/>
            <a:ext cx="9144000" cy="2651760"/>
          </a:xfrm>
          <a:prstGeom prst="roundRect">
            <a:avLst>
              <a:gd name="adj" fmla="val 4828"/>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2011680" y="3063240"/>
            <a:ext cx="8229600" cy="2103120"/>
          </a:xfrm>
          <a:prstGeom prst="rect">
            <a:avLst/>
          </a:prstGeom>
          <a:noFill/>
          <a:ln/>
        </p:spPr>
        <p:txBody>
          <a:bodyPr wrap="square" rtlCol="0" anchor="ctr"/>
          <a:lstStyle/>
          <a:p>
            <a:pPr indent="0" marL="0">
              <a:lnSpc>
                <a:spcPct val="110000"/>
              </a:lnSpc>
              <a:buNone/>
            </a:pPr>
            <a:r>
              <a:rPr lang="en-US" sz="2600" dirty="0">
                <a:solidFill>
                  <a:srgbClr val="3A342E"/>
                </a:solidFill>
                <a:latin typeface="Bookman Old Style" pitchFamily="34" charset="0"/>
                <a:ea typeface="Bookman Old Style" pitchFamily="34" charset="-122"/>
                <a:cs typeface="Bookman Old Style" pitchFamily="34" charset="-120"/>
              </a:rPr>
              <a:t>Sabbath is a gift chosen in love. Yet many leave it wrapped on the shelf, year after year, and call the refusal virtue.</a:t>
            </a:r>
            <a:endParaRPr lang="en-US" sz="2600" dirty="0"/>
          </a:p>
        </p:txBody>
      </p:sp>
      <p:pic>
        <p:nvPicPr>
          <p:cNvPr id="11" name="Image 1" descr="preencoded.png">    </p:cNvPr>
          <p:cNvPicPr>
            <a:picLocks noChangeAspect="1"/>
          </p:cNvPicPr>
          <p:nvPr/>
        </p:nvPicPr>
        <p:blipFill>
          <a:blip r:embed="rId2"/>
          <a:stretch>
            <a:fillRect/>
          </a:stretch>
        </p:blipFill>
        <p:spPr>
          <a:xfrm>
            <a:off x="10378440" y="5989320"/>
            <a:ext cx="502920" cy="502920"/>
          </a:xfrm>
          <a:prstGeom prst="rect">
            <a:avLst/>
          </a:prstGeom>
        </p:spPr>
      </p:pic>
      <p:sp>
        <p:nvSpPr>
          <p:cNvPr id="12" name="Text 8"/>
          <p:cNvSpPr/>
          <p:nvPr/>
        </p:nvSpPr>
        <p:spPr>
          <a:xfrm>
            <a:off x="822960" y="6355080"/>
            <a:ext cx="6400800" cy="274320"/>
          </a:xfrm>
          <a:prstGeom prst="rect">
            <a:avLst/>
          </a:prstGeom>
          <a:noFill/>
          <a:ln/>
        </p:spPr>
        <p:txBody>
          <a:bodyPr wrap="square" rtlCol="0" anchor="ctr"/>
          <a:lstStyle/>
          <a:p>
            <a:pPr indent="0" marL="0">
              <a:buNone/>
            </a:pPr>
            <a:r>
              <a:rPr lang="en-US" sz="1000" i="1" dirty="0">
                <a:solidFill>
                  <a:srgbClr val="6E655C"/>
                </a:solidFill>
                <a:latin typeface="Calibri" pitchFamily="34" charset="0"/>
                <a:ea typeface="Calibri" pitchFamily="34" charset="-122"/>
                <a:cs typeface="Calibri" pitchFamily="34" charset="-120"/>
              </a:rPr>
              <a:t>Divine Design for the Digital Age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Reflection Questions</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For personal thought or group discussion</a:t>
            </a:r>
            <a:endParaRPr lang="en-US" sz="1500" dirty="0"/>
          </a:p>
        </p:txBody>
      </p:sp>
      <p:sp>
        <p:nvSpPr>
          <p:cNvPr id="6" name="Shape 3"/>
          <p:cNvSpPr/>
          <p:nvPr/>
        </p:nvSpPr>
        <p:spPr>
          <a:xfrm>
            <a:off x="868680" y="1737360"/>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Text 4"/>
          <p:cNvSpPr/>
          <p:nvPr/>
        </p:nvSpPr>
        <p:spPr>
          <a:xfrm>
            <a:off x="10515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1</a:t>
            </a:r>
            <a:endParaRPr lang="en-US" sz="2000" dirty="0"/>
          </a:p>
        </p:txBody>
      </p:sp>
      <p:sp>
        <p:nvSpPr>
          <p:cNvPr id="8" name="Text 5"/>
          <p:cNvSpPr/>
          <p:nvPr/>
        </p:nvSpPr>
        <p:spPr>
          <a:xfrm>
            <a:off x="1581912" y="1828800"/>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makes it difficult for you to rest?</a:t>
            </a:r>
            <a:endParaRPr lang="en-US" sz="1300" dirty="0"/>
          </a:p>
        </p:txBody>
      </p:sp>
      <p:sp>
        <p:nvSpPr>
          <p:cNvPr id="9" name="Shape 6"/>
          <p:cNvSpPr/>
          <p:nvPr/>
        </p:nvSpPr>
        <p:spPr>
          <a:xfrm>
            <a:off x="868680" y="2688336"/>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0" name="Text 7"/>
          <p:cNvSpPr/>
          <p:nvPr/>
        </p:nvSpPr>
        <p:spPr>
          <a:xfrm>
            <a:off x="1051560" y="285292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2</a:t>
            </a:r>
            <a:endParaRPr lang="en-US" sz="2000" dirty="0"/>
          </a:p>
        </p:txBody>
      </p:sp>
      <p:sp>
        <p:nvSpPr>
          <p:cNvPr id="11" name="Text 8"/>
          <p:cNvSpPr/>
          <p:nvPr/>
        </p:nvSpPr>
        <p:spPr>
          <a:xfrm>
            <a:off x="1581912" y="2779776"/>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has technology blurred the boundaries between work and personal life?</a:t>
            </a:r>
            <a:endParaRPr lang="en-US" sz="1300" dirty="0"/>
          </a:p>
        </p:txBody>
      </p:sp>
      <p:sp>
        <p:nvSpPr>
          <p:cNvPr id="12" name="Shape 9"/>
          <p:cNvSpPr/>
          <p:nvPr/>
        </p:nvSpPr>
        <p:spPr>
          <a:xfrm>
            <a:off x="868680" y="3803904"/>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3" name="Text 10"/>
          <p:cNvSpPr/>
          <p:nvPr/>
        </p:nvSpPr>
        <p:spPr>
          <a:xfrm>
            <a:off x="1051560" y="3968496"/>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3</a:t>
            </a:r>
            <a:endParaRPr lang="en-US" sz="2000" dirty="0"/>
          </a:p>
        </p:txBody>
      </p:sp>
      <p:sp>
        <p:nvSpPr>
          <p:cNvPr id="14" name="Text 11"/>
          <p:cNvSpPr/>
          <p:nvPr/>
        </p:nvSpPr>
        <p:spPr>
          <a:xfrm>
            <a:off x="1581912" y="3895344"/>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fears emerge when you disconnect from work?</a:t>
            </a:r>
            <a:endParaRPr lang="en-US" sz="1300" dirty="0"/>
          </a:p>
        </p:txBody>
      </p:sp>
      <p:sp>
        <p:nvSpPr>
          <p:cNvPr id="15" name="Shape 12"/>
          <p:cNvSpPr/>
          <p:nvPr/>
        </p:nvSpPr>
        <p:spPr>
          <a:xfrm>
            <a:off x="868680" y="4754880"/>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6" name="Text 13"/>
          <p:cNvSpPr/>
          <p:nvPr/>
        </p:nvSpPr>
        <p:spPr>
          <a:xfrm>
            <a:off x="1051560" y="491947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4</a:t>
            </a:r>
            <a:endParaRPr lang="en-US" sz="2000" dirty="0"/>
          </a:p>
        </p:txBody>
      </p:sp>
      <p:sp>
        <p:nvSpPr>
          <p:cNvPr id="17" name="Text 14"/>
          <p:cNvSpPr/>
          <p:nvPr/>
        </p:nvSpPr>
        <p:spPr>
          <a:xfrm>
            <a:off x="1581912" y="4846320"/>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would you define a healthy Sabbath rhythm?</a:t>
            </a:r>
            <a:endParaRPr lang="en-US" sz="1300" dirty="0"/>
          </a:p>
        </p:txBody>
      </p:sp>
      <p:sp>
        <p:nvSpPr>
          <p:cNvPr id="18" name="Shape 15"/>
          <p:cNvSpPr/>
          <p:nvPr/>
        </p:nvSpPr>
        <p:spPr>
          <a:xfrm>
            <a:off x="6355080" y="1737360"/>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9" name="Text 16"/>
          <p:cNvSpPr/>
          <p:nvPr/>
        </p:nvSpPr>
        <p:spPr>
          <a:xfrm>
            <a:off x="6537960" y="1901952"/>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5</a:t>
            </a:r>
            <a:endParaRPr lang="en-US" sz="2000" dirty="0"/>
          </a:p>
        </p:txBody>
      </p:sp>
      <p:sp>
        <p:nvSpPr>
          <p:cNvPr id="20" name="Text 17"/>
          <p:cNvSpPr/>
          <p:nvPr/>
        </p:nvSpPr>
        <p:spPr>
          <a:xfrm>
            <a:off x="7068312" y="1828800"/>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role does anxiety play in your productivity?</a:t>
            </a:r>
            <a:endParaRPr lang="en-US" sz="1300" dirty="0"/>
          </a:p>
        </p:txBody>
      </p:sp>
      <p:sp>
        <p:nvSpPr>
          <p:cNvPr id="21" name="Shape 18"/>
          <p:cNvSpPr/>
          <p:nvPr/>
        </p:nvSpPr>
        <p:spPr>
          <a:xfrm>
            <a:off x="6355080" y="2688336"/>
            <a:ext cx="4983480" cy="749808"/>
          </a:xfrm>
          <a:prstGeom prst="roundRect">
            <a:avLst>
              <a:gd name="adj" fmla="val 10976"/>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2" name="Text 19"/>
          <p:cNvSpPr/>
          <p:nvPr/>
        </p:nvSpPr>
        <p:spPr>
          <a:xfrm>
            <a:off x="6537960" y="2852928"/>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6</a:t>
            </a:r>
            <a:endParaRPr lang="en-US" sz="2000" dirty="0"/>
          </a:p>
        </p:txBody>
      </p:sp>
      <p:sp>
        <p:nvSpPr>
          <p:cNvPr id="23" name="Text 20"/>
          <p:cNvSpPr/>
          <p:nvPr/>
        </p:nvSpPr>
        <p:spPr>
          <a:xfrm>
            <a:off x="7068312" y="2779776"/>
            <a:ext cx="4114800" cy="566928"/>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How might a digital Sabbath improve your spiritual life?</a:t>
            </a:r>
            <a:endParaRPr lang="en-US" sz="1300" dirty="0"/>
          </a:p>
        </p:txBody>
      </p:sp>
      <p:sp>
        <p:nvSpPr>
          <p:cNvPr id="24" name="Shape 21"/>
          <p:cNvSpPr/>
          <p:nvPr/>
        </p:nvSpPr>
        <p:spPr>
          <a:xfrm>
            <a:off x="6355080" y="3639312"/>
            <a:ext cx="4983480" cy="914400"/>
          </a:xfrm>
          <a:prstGeom prst="roundRect">
            <a:avLst>
              <a:gd name="adj" fmla="val 900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5" name="Text 22"/>
          <p:cNvSpPr/>
          <p:nvPr/>
        </p:nvSpPr>
        <p:spPr>
          <a:xfrm>
            <a:off x="6537960" y="3803904"/>
            <a:ext cx="457200" cy="457200"/>
          </a:xfrm>
          <a:prstGeom prst="rect">
            <a:avLst/>
          </a:prstGeom>
          <a:noFill/>
          <a:ln/>
        </p:spPr>
        <p:txBody>
          <a:bodyPr wrap="square" rtlCol="0" anchor="ctr"/>
          <a:lstStyle/>
          <a:p>
            <a:pPr indent="0" marL="0">
              <a:buNone/>
            </a:pPr>
            <a:r>
              <a:rPr lang="en-US" sz="2000" b="1" dirty="0">
                <a:solidFill>
                  <a:srgbClr val="B85042"/>
                </a:solidFill>
                <a:latin typeface="Bookman Old Style" pitchFamily="34" charset="0"/>
                <a:ea typeface="Bookman Old Style" pitchFamily="34" charset="-122"/>
                <a:cs typeface="Bookman Old Style" pitchFamily="34" charset="-120"/>
              </a:rPr>
              <a:t>7</a:t>
            </a:r>
            <a:endParaRPr lang="en-US" sz="2000" dirty="0"/>
          </a:p>
        </p:txBody>
      </p:sp>
      <p:sp>
        <p:nvSpPr>
          <p:cNvPr id="26" name="Text 23"/>
          <p:cNvSpPr/>
          <p:nvPr/>
        </p:nvSpPr>
        <p:spPr>
          <a:xfrm>
            <a:off x="7068312" y="3730752"/>
            <a:ext cx="4114800" cy="731520"/>
          </a:xfrm>
          <a:prstGeom prst="rect">
            <a:avLst/>
          </a:prstGeom>
          <a:noFill/>
          <a:ln/>
        </p:spPr>
        <p:txBody>
          <a:bodyPr wrap="square" rtlCol="0" anchor="ctr"/>
          <a:lstStyle/>
          <a:p>
            <a:pPr indent="0" marL="0">
              <a:lnSpc>
                <a:spcPct val="103000"/>
              </a:lnSpc>
              <a:buNone/>
            </a:pPr>
            <a:r>
              <a:rPr lang="en-US" sz="1300" dirty="0">
                <a:solidFill>
                  <a:srgbClr val="3A342E"/>
                </a:solidFill>
                <a:latin typeface="Calibri" pitchFamily="34" charset="0"/>
                <a:ea typeface="Calibri" pitchFamily="34" charset="-122"/>
                <a:cs typeface="Calibri" pitchFamily="34" charset="-120"/>
              </a:rPr>
              <a:t>What practical steps could help you embrace God's gift of rest?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B85042"/>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B85042"/>
          </a:solidFill>
          <a:ln/>
        </p:spPr>
      </p:sp>
      <p:sp>
        <p:nvSpPr>
          <p:cNvPr id="3" name="Shape 1"/>
          <p:cNvSpPr/>
          <p:nvPr/>
        </p:nvSpPr>
        <p:spPr>
          <a:xfrm>
            <a:off x="5486400" y="640080"/>
            <a:ext cx="1188720" cy="1188720"/>
          </a:xfrm>
          <a:prstGeom prst="ellipse">
            <a:avLst/>
          </a:prstGeom>
          <a:solidFill>
            <a:srgbClr val="8F3B30"/>
          </a:solidFill>
          <a:ln w="15875">
            <a:solidFill>
              <a:srgbClr val="C9A15A"/>
            </a:solidFill>
            <a:prstDash val="solid"/>
          </a:ln>
        </p:spPr>
      </p:sp>
      <p:pic>
        <p:nvPicPr>
          <p:cNvPr id="4" name="Image 0" descr="preencoded.png">    </p:cNvPr>
          <p:cNvPicPr>
            <a:picLocks noChangeAspect="1"/>
          </p:cNvPicPr>
          <p:nvPr/>
        </p:nvPicPr>
        <p:blipFill>
          <a:blip r:embed="rId1"/>
          <a:stretch>
            <a:fillRect/>
          </a:stretch>
        </p:blipFill>
        <p:spPr>
          <a:xfrm>
            <a:off x="5788152" y="941832"/>
            <a:ext cx="585216" cy="585216"/>
          </a:xfrm>
          <a:prstGeom prst="rect">
            <a:avLst/>
          </a:prstGeom>
        </p:spPr>
      </p:pic>
      <p:sp>
        <p:nvSpPr>
          <p:cNvPr id="5" name="Text 2"/>
          <p:cNvSpPr/>
          <p:nvPr/>
        </p:nvSpPr>
        <p:spPr>
          <a:xfrm>
            <a:off x="0" y="1965960"/>
            <a:ext cx="12161520" cy="457200"/>
          </a:xfrm>
          <a:prstGeom prst="rect">
            <a:avLst/>
          </a:prstGeom>
          <a:noFill/>
          <a:ln/>
        </p:spPr>
        <p:txBody>
          <a:bodyPr wrap="square" rtlCol="0" anchor="ctr"/>
          <a:lstStyle/>
          <a:p>
            <a:pPr algn="ctr" indent="0" marL="0">
              <a:buNone/>
            </a:pPr>
            <a:r>
              <a:rPr lang="en-US" sz="2600" b="1" spc="200" kern="0" dirty="0">
                <a:solidFill>
                  <a:srgbClr val="C9A15A"/>
                </a:solidFill>
                <a:latin typeface="Bookman Old Style" pitchFamily="34" charset="0"/>
                <a:ea typeface="Bookman Old Style" pitchFamily="34" charset="-122"/>
                <a:cs typeface="Bookman Old Style" pitchFamily="34" charset="-120"/>
              </a:rPr>
              <a:t>PRAYER</a:t>
            </a:r>
            <a:endParaRPr lang="en-US" sz="2600" dirty="0"/>
          </a:p>
        </p:txBody>
      </p:sp>
      <p:sp>
        <p:nvSpPr>
          <p:cNvPr id="6" name="Shape 3"/>
          <p:cNvSpPr/>
          <p:nvPr/>
        </p:nvSpPr>
        <p:spPr>
          <a:xfrm>
            <a:off x="1554480" y="2697480"/>
            <a:ext cx="9052560" cy="3566160"/>
          </a:xfrm>
          <a:prstGeom prst="roundRect">
            <a:avLst>
              <a:gd name="adj" fmla="val 3590"/>
            </a:avLst>
          </a:prstGeom>
          <a:solidFill>
            <a:srgbClr val="8F3B30"/>
          </a:solidFill>
          <a:ln/>
        </p:spPr>
      </p:sp>
      <p:sp>
        <p:nvSpPr>
          <p:cNvPr id="7" name="Text 4"/>
          <p:cNvSpPr/>
          <p:nvPr/>
        </p:nvSpPr>
        <p:spPr>
          <a:xfrm>
            <a:off x="2057400" y="2926080"/>
            <a:ext cx="8046720" cy="3108960"/>
          </a:xfrm>
          <a:prstGeom prst="rect">
            <a:avLst/>
          </a:prstGeom>
          <a:noFill/>
          <a:ln/>
        </p:spPr>
        <p:txBody>
          <a:bodyPr wrap="square" rtlCol="0" anchor="ctr"/>
          <a:lstStyle/>
          <a:p>
            <a:pPr algn="ctr" indent="0" marL="0">
              <a:lnSpc>
                <a:spcPct val="112000"/>
              </a:lnSpc>
              <a:buNone/>
            </a:pPr>
            <a:r>
              <a:rPr lang="en-US" sz="1900" i="1" dirty="0">
                <a:solidFill>
                  <a:srgbClr val="FBF7F0"/>
                </a:solidFill>
                <a:latin typeface="Bookman Old Style" pitchFamily="34" charset="0"/>
                <a:ea typeface="Bookman Old Style" pitchFamily="34" charset="-122"/>
                <a:cs typeface="Bookman Old Style" pitchFamily="34" charset="-120"/>
              </a:rPr>
              <a:t>"Father, thank You for the gift of Sabbath and for the reminder that my life does not depend entirely upon my own efforts. Forgive me for the times I have trusted productivity more than I have trusted You, and for the moments I have treated rest as weakness rather than as Your good design. Teach me to rest without guilt, to stop without fear, and to embrace the rhythms You established for my good. Help me to create healthy boundaries around work and technology, so that I may enjoy deeper fellowship with You, with my family, and with the people You have placed in my life. May my rest become an act of worship and a living testimony of my trust in Your faithful provision. Through Jesus Christ, my Lord and Savior. Amen."</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7F0"/>
        </a:solidFill>
      </p:bgPr>
    </p:bg>
    <p:spTree>
      <p:nvGrpSpPr>
        <p:cNvPr id="1" name=""/>
        <p:cNvGrpSpPr/>
        <p:nvPr/>
      </p:nvGrpSpPr>
      <p:grpSpPr>
        <a:xfrm>
          <a:off x="0" y="0"/>
          <a:ext cx="0" cy="0"/>
          <a:chOff x="0" y="0"/>
          <a:chExt cx="0" cy="0"/>
        </a:xfrm>
      </p:grpSpPr>
      <p:sp>
        <p:nvSpPr>
          <p:cNvPr id="2" name="Shape 0"/>
          <p:cNvSpPr/>
          <p:nvPr/>
        </p:nvSpPr>
        <p:spPr>
          <a:xfrm>
            <a:off x="822960" y="685800"/>
            <a:ext cx="1051560" cy="1051560"/>
          </a:xfrm>
          <a:prstGeom prst="ellipse">
            <a:avLst/>
          </a:prstGeom>
          <a:solidFill>
            <a:srgbClr val="B85042"/>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60120"/>
            <a:ext cx="502920" cy="502920"/>
          </a:xfrm>
          <a:prstGeom prst="rect">
            <a:avLst/>
          </a:prstGeom>
        </p:spPr>
      </p:pic>
      <p:sp>
        <p:nvSpPr>
          <p:cNvPr id="4" name="Text 1"/>
          <p:cNvSpPr/>
          <p:nvPr/>
        </p:nvSpPr>
        <p:spPr>
          <a:xfrm>
            <a:off x="2103120" y="658368"/>
            <a:ext cx="9144000" cy="658368"/>
          </a:xfrm>
          <a:prstGeom prst="rect">
            <a:avLst/>
          </a:prstGeom>
          <a:noFill/>
          <a:ln/>
        </p:spPr>
        <p:txBody>
          <a:bodyPr wrap="square" rtlCol="0" anchor="ctr"/>
          <a:lstStyle/>
          <a:p>
            <a:pPr indent="0" marL="0">
              <a:buNone/>
            </a:pPr>
            <a:r>
              <a:rPr lang="en-US" sz="3400" b="1" dirty="0">
                <a:solidFill>
                  <a:srgbClr val="8F3B30"/>
                </a:solidFill>
                <a:latin typeface="Bookman Old Style" pitchFamily="34" charset="0"/>
                <a:ea typeface="Bookman Old Style" pitchFamily="34" charset="-122"/>
                <a:cs typeface="Bookman Old Style" pitchFamily="34" charset="-120"/>
              </a:rPr>
              <a:t>Action Challenge</a:t>
            </a:r>
            <a:endParaRPr lang="en-US" sz="3400" dirty="0"/>
          </a:p>
        </p:txBody>
      </p:sp>
      <p:sp>
        <p:nvSpPr>
          <p:cNvPr id="5" name="Text 2"/>
          <p:cNvSpPr/>
          <p:nvPr/>
        </p:nvSpPr>
        <p:spPr>
          <a:xfrm>
            <a:off x="2130552" y="1316736"/>
            <a:ext cx="9144000" cy="365760"/>
          </a:xfrm>
          <a:prstGeom prst="rect">
            <a:avLst/>
          </a:prstGeom>
          <a:noFill/>
          <a:ln/>
        </p:spPr>
        <p:txBody>
          <a:bodyPr wrap="square" rtlCol="0" anchor="ctr"/>
          <a:lstStyle/>
          <a:p>
            <a:pPr indent="0" marL="0">
              <a:buNone/>
            </a:pPr>
            <a:r>
              <a:rPr lang="en-US" sz="1500" i="1" dirty="0">
                <a:solidFill>
                  <a:srgbClr val="6E655C"/>
                </a:solidFill>
                <a:latin typeface="Calibri" pitchFamily="34" charset="0"/>
                <a:ea typeface="Calibri" pitchFamily="34" charset="-122"/>
                <a:cs typeface="Calibri" pitchFamily="34" charset="-120"/>
              </a:rPr>
              <a:t>One step to carry into the week</a:t>
            </a:r>
            <a:endParaRPr lang="en-US" sz="1500" dirty="0"/>
          </a:p>
        </p:txBody>
      </p:sp>
      <p:sp>
        <p:nvSpPr>
          <p:cNvPr id="6" name="Shape 3"/>
          <p:cNvSpPr/>
          <p:nvPr/>
        </p:nvSpPr>
        <p:spPr>
          <a:xfrm>
            <a:off x="868680" y="1920240"/>
            <a:ext cx="10424160" cy="3566160"/>
          </a:xfrm>
          <a:prstGeom prst="roundRect">
            <a:avLst>
              <a:gd name="adj" fmla="val 3590"/>
            </a:avLst>
          </a:prstGeom>
          <a:solidFill>
            <a:srgbClr val="FBF7F0"/>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1371600" y="2514600"/>
            <a:ext cx="1371600" cy="1371600"/>
          </a:xfrm>
          <a:prstGeom prst="ellipse">
            <a:avLst/>
          </a:prstGeom>
          <a:solidFill>
            <a:srgbClr val="6B7A5E"/>
          </a:solidFill>
          <a:ln/>
          <a:effectLst>
            <a:outerShdw sx="100000" sy="100000" kx="0" ky="0" algn="bl" rotWithShape="0" blurRad="114300" dist="38100" dir="5400000">
              <a:srgbClr val="000000">
                <a:alpha val="12000"/>
              </a:srgbClr>
            </a:outerShdw>
          </a:effectLst>
        </p:spPr>
      </p:sp>
      <p:pic>
        <p:nvPicPr>
          <p:cNvPr id="8" name="Image 1" descr="preencoded.png">    </p:cNvPr>
          <p:cNvPicPr>
            <a:picLocks noChangeAspect="1"/>
          </p:cNvPicPr>
          <p:nvPr/>
        </p:nvPicPr>
        <p:blipFill>
          <a:blip r:embed="rId2"/>
          <a:stretch>
            <a:fillRect/>
          </a:stretch>
        </p:blipFill>
        <p:spPr>
          <a:xfrm>
            <a:off x="1737360" y="2880360"/>
            <a:ext cx="640080" cy="640080"/>
          </a:xfrm>
          <a:prstGeom prst="rect">
            <a:avLst/>
          </a:prstGeom>
        </p:spPr>
      </p:pic>
      <p:sp>
        <p:nvSpPr>
          <p:cNvPr id="9" name="Text 5"/>
          <p:cNvSpPr/>
          <p:nvPr/>
        </p:nvSpPr>
        <p:spPr>
          <a:xfrm>
            <a:off x="3108960" y="2286000"/>
            <a:ext cx="7772400" cy="2834640"/>
          </a:xfrm>
          <a:prstGeom prst="rect">
            <a:avLst/>
          </a:prstGeom>
          <a:noFill/>
          <a:ln/>
        </p:spPr>
        <p:txBody>
          <a:bodyPr wrap="square" rtlCol="0" anchor="ctr"/>
          <a:lstStyle/>
          <a:p>
            <a:pPr indent="0" marL="0">
              <a:lnSpc>
                <a:spcPct val="112000"/>
              </a:lnSpc>
              <a:buNone/>
            </a:pPr>
            <a:r>
              <a:rPr lang="en-US" sz="1800" dirty="0">
                <a:solidFill>
                  <a:srgbClr val="3A342E"/>
                </a:solidFill>
                <a:latin typeface="Calibri" pitchFamily="34" charset="0"/>
                <a:ea typeface="Calibri" pitchFamily="34" charset="-122"/>
                <a:cs typeface="Calibri" pitchFamily="34" charset="-120"/>
              </a:rPr>
              <a:t>This week, put the ideas of this chapter into practice by observing a deliberate "Digital Sabbath." You do not need to begin with an entire day; start with whatever feels both meaningful and achievable. Choose a four-hour block, a full evening, or, if you are ready, an entire day set apart for rest. During that time, commit to the following: Turn off all nonessential notifications. Avoid social media entirely. Stay away from work email. Limit your overall screen usage. Spend intentional, unhurried time in prayer and Scripture. Take a walk or spend time enjoying creation. Share a meal with family or friends. Afterward, take a few minutes to reflect on the experience and answer these questions honestly: Finally, write down one practical Sabbath commitment, a specific, concrete decision about how you will build rest into your life, and put it into practice over the coming month. Begin small, remain consistent, and allow God to teach your soul the rhythm it was made for.</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4E5B44"/>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4E5B44"/>
          </a:solidFill>
          <a:ln/>
        </p:spPr>
      </p:sp>
      <p:pic>
        <p:nvPicPr>
          <p:cNvPr id="3" name="Image 0" descr="preencoded.png">    </p:cNvPr>
          <p:cNvPicPr>
            <a:picLocks noChangeAspect="1"/>
          </p:cNvPicPr>
          <p:nvPr/>
        </p:nvPicPr>
        <p:blipFill>
          <a:blip r:embed="rId1"/>
          <a:stretch>
            <a:fillRect/>
          </a:stretch>
        </p:blipFill>
        <p:spPr>
          <a:xfrm>
            <a:off x="5440680" y="1737360"/>
            <a:ext cx="1280160" cy="1280160"/>
          </a:xfrm>
          <a:prstGeom prst="rect">
            <a:avLst/>
          </a:prstGeom>
        </p:spPr>
      </p:pic>
      <p:sp>
        <p:nvSpPr>
          <p:cNvPr id="4" name="Text 1"/>
          <p:cNvSpPr/>
          <p:nvPr/>
        </p:nvSpPr>
        <p:spPr>
          <a:xfrm>
            <a:off x="0" y="324612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Chapter 10</a:t>
            </a:r>
            <a:endParaRPr lang="en-US" sz="1600" dirty="0"/>
          </a:p>
        </p:txBody>
      </p:sp>
      <p:sp>
        <p:nvSpPr>
          <p:cNvPr id="5" name="Text 2"/>
          <p:cNvSpPr/>
          <p:nvPr/>
        </p:nvSpPr>
        <p:spPr>
          <a:xfrm>
            <a:off x="914400" y="3657600"/>
            <a:ext cx="10332720" cy="1005840"/>
          </a:xfrm>
          <a:prstGeom prst="rect">
            <a:avLst/>
          </a:prstGeom>
          <a:noFill/>
          <a:ln/>
        </p:spPr>
        <p:txBody>
          <a:bodyPr wrap="square" rtlCol="0" anchor="t"/>
          <a:lstStyle/>
          <a:p>
            <a:pPr algn="ctr" indent="0" marL="0">
              <a:lnSpc>
                <a:spcPct val="98000"/>
              </a:lnSpc>
              <a:buNone/>
            </a:pPr>
            <a:r>
              <a:rPr lang="en-US" sz="4000" b="1" dirty="0">
                <a:solidFill>
                  <a:srgbClr val="FBF7F0"/>
                </a:solidFill>
                <a:latin typeface="Bookman Old Style" pitchFamily="34" charset="0"/>
                <a:ea typeface="Bookman Old Style" pitchFamily="34" charset="-122"/>
                <a:cs typeface="Bookman Old Style" pitchFamily="34" charset="-120"/>
              </a:rPr>
              <a:t>The Sabbath in a 24/7 World</a:t>
            </a:r>
            <a:endParaRPr lang="en-US" sz="4000" dirty="0"/>
          </a:p>
        </p:txBody>
      </p:sp>
      <p:sp>
        <p:nvSpPr>
          <p:cNvPr id="6" name="Text 3"/>
          <p:cNvSpPr/>
          <p:nvPr/>
        </p:nvSpPr>
        <p:spPr>
          <a:xfrm>
            <a:off x="1371600" y="4892040"/>
            <a:ext cx="9418320" cy="822960"/>
          </a:xfrm>
          <a:prstGeom prst="rect">
            <a:avLst/>
          </a:prstGeom>
          <a:noFill/>
          <a:ln/>
        </p:spPr>
        <p:txBody>
          <a:bodyPr wrap="square" rtlCol="0" anchor="ctr"/>
          <a:lstStyle/>
          <a:p>
            <a:pPr algn="ctr" indent="0" marL="0">
              <a:buNone/>
            </a:pPr>
            <a:r>
              <a:rPr lang="en-US" sz="18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for the Digital Age — Chapter 10</dc:title>
  <dc:subject>PptxGenJS Presentation</dc:subject>
  <dc:creator>Rod Trent</dc:creator>
  <cp:lastModifiedBy>Rod Trent</cp:lastModifiedBy>
  <cp:revision>1</cp:revision>
  <dcterms:created xsi:type="dcterms:W3CDTF">2026-07-03T18:17:19Z</dcterms:created>
  <dcterms:modified xsi:type="dcterms:W3CDTF">2026-07-03T18:17:19Z</dcterms:modified>
</cp:coreProperties>
</file>