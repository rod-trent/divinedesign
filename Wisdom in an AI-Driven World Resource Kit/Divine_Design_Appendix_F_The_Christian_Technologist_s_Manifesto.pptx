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F</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The Christian Technologist's Manifesto</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A Declaration for Faithful Innovation in the Digital 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Why a Manifesto?</a:t>
            </a:r>
            <a:endParaRPr lang="en-US" sz="3300" dirty="0"/>
          </a:p>
        </p:txBody>
      </p:sp>
      <p:sp>
        <p:nvSpPr>
          <p:cNvPr id="5" name="Shape 2"/>
          <p:cNvSpPr/>
          <p:nvPr/>
        </p:nvSpPr>
        <p:spPr>
          <a:xfrm>
            <a:off x="868680" y="2011680"/>
            <a:ext cx="10424160" cy="3566160"/>
          </a:xfrm>
          <a:prstGeom prst="roundRect">
            <a:avLst>
              <a:gd name="adj" fmla="val 359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6" name="Text 3"/>
          <p:cNvSpPr/>
          <p:nvPr/>
        </p:nvSpPr>
        <p:spPr>
          <a:xfrm>
            <a:off x="1417320" y="2331720"/>
            <a:ext cx="9326880" cy="2926080"/>
          </a:xfrm>
          <a:prstGeom prst="rect">
            <a:avLst/>
          </a:prstGeom>
          <a:noFill/>
          <a:ln/>
        </p:spPr>
        <p:txBody>
          <a:bodyPr wrap="square" rtlCol="0" anchor="ctr"/>
          <a:lstStyle/>
          <a:p>
            <a:pPr indent="0" marL="0">
              <a:lnSpc>
                <a:spcPct val="114000"/>
              </a:lnSpc>
              <a:buNone/>
            </a:pPr>
            <a:r>
              <a:rPr lang="en-US" sz="1800" dirty="0">
                <a:solidFill>
                  <a:srgbClr val="37352E"/>
                </a:solidFill>
                <a:latin typeface="Calibri" pitchFamily="34" charset="0"/>
                <a:ea typeface="Calibri" pitchFamily="34" charset="-122"/>
                <a:cs typeface="Calibri" pitchFamily="34" charset="-120"/>
              </a:rPr>
              <a:t>Every profession develops guiding principles. Doctors embrace ethical standards. Teachers commit themselves to the formation of students. Engineers follow principles designed to protect life and safety. Pilots operate under strict codes of responsibility. Technology professionals need guiding principles as well, especially now that the systems we build increasingly influence how people communicate, work, learn, worship, buy, travel, think, and make decisions. Artificial intelligence, cybersecurity, cloud computing, software development, data science, and digital infrastructure now shape much of modern life. With influence comes responsibility. For Christians working in technology, that responsibility extends beyond professional excellence, it includes faithful stewardship before God. This manifesto is not a replacement for Scripture. It is an attempt to apply biblical principles to modern technological work.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1</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Technology Is a Gift, Not a God</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Technology reflects humanity's God-given creativity. It can improve lives. Solve problems.</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2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2</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2600" b="1" dirty="0">
                <a:solidFill>
                  <a:srgbClr val="3E4A33"/>
                </a:solidFill>
                <a:latin typeface="Bookman Old Style" pitchFamily="34" charset="0"/>
                <a:ea typeface="Bookman Old Style" pitchFamily="34" charset="-122"/>
                <a:cs typeface="Bookman Old Style" pitchFamily="34" charset="-120"/>
              </a:rPr>
              <a:t>We Believe Every Human Being Bears God's Image</a:t>
            </a:r>
            <a:endParaRPr lang="en-US" sz="26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People are not products. Not users. Not metrics.</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3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3</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Truth Matters</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Technology increasingly shapes information. Algorithms influence attention. Platforms influence perception.</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4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4</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Power Requires Stewardship</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The more powerful a tool becomes, the more carefully it must be governed. Technology creates influence. Influence creates responsibility.</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5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5</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Security Is an Expression of Love</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Cybersecurity is not merely a technical discipline. It is a ministry of protection. Every secure system protects people.</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6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6</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Privacy Reflects Human Dignity</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People deserve respect. That includes respect for personal information. We reject unnecessary surveillance.</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7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7</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2600" b="1" dirty="0">
                <a:solidFill>
                  <a:srgbClr val="3E4A33"/>
                </a:solidFill>
                <a:latin typeface="Bookman Old Style" pitchFamily="34" charset="0"/>
                <a:ea typeface="Bookman Old Style" pitchFamily="34" charset="-122"/>
                <a:cs typeface="Bookman Old Style" pitchFamily="34" charset="-120"/>
              </a:rPr>
              <a:t>We Believe Artificial Intelligence Requires Wisdom</a:t>
            </a:r>
            <a:endParaRPr lang="en-US" sz="26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Artificial intelligence offers extraordinary opportunities. It also creates significant risks. We affirm that AI can assist human flourishing.</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8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8</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Work Is Worship</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Our daily work matters to God. Coding matters. Architecture matters.</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9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9</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2600" b="1" dirty="0">
                <a:solidFill>
                  <a:srgbClr val="3E4A33"/>
                </a:solidFill>
                <a:latin typeface="Bookman Old Style" pitchFamily="34" charset="0"/>
                <a:ea typeface="Bookman Old Style" pitchFamily="34" charset="-122"/>
                <a:cs typeface="Bookman Old Style" pitchFamily="34" charset="-120"/>
              </a:rPr>
              <a:t>We Believe Rest Is a Requirement, Not a Weakness</a:t>
            </a:r>
            <a:endParaRPr lang="en-US" sz="26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The digital age rewards constant availability. God commands rest. We reject the lie that our value depends upon productivity.</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10</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Technology Must Serve People</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000" dirty="0">
                <a:solidFill>
                  <a:srgbClr val="37352E"/>
                </a:solidFill>
                <a:latin typeface="Bookman Old Style" pitchFamily="34" charset="0"/>
                <a:ea typeface="Bookman Old Style" pitchFamily="34" charset="-122"/>
                <a:cs typeface="Bookman Old Style" pitchFamily="34" charset="-120"/>
              </a:rPr>
              <a:t>People are not created to serve technology. Technology is created to serve people. Every innovation should ultimately be evaluated through this question: Does this help people flourish?</a:t>
            </a:r>
            <a:endParaRPr lang="en-US" sz="20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11</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2600" b="1" dirty="0">
                <a:solidFill>
                  <a:srgbClr val="3E4A33"/>
                </a:solidFill>
                <a:latin typeface="Bookman Old Style" pitchFamily="34" charset="0"/>
                <a:ea typeface="Bookman Old Style" pitchFamily="34" charset="-122"/>
                <a:cs typeface="Bookman Old Style" pitchFamily="34" charset="-120"/>
              </a:rPr>
              <a:t>We Believe Character Matters More Than Capability</a:t>
            </a:r>
            <a:endParaRPr lang="en-US" sz="26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The digital world often celebrates skill. Scripture emphasizes character. Competence is valuable.</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of 12</a:t>
            </a:r>
            <a:endParaRPr lang="en-US" sz="1200" dirty="0"/>
          </a:p>
        </p:txBody>
      </p:sp>
      <p:sp>
        <p:nvSpPr>
          <p:cNvPr id="3" name="Shape 1"/>
          <p:cNvSpPr/>
          <p:nvPr/>
        </p:nvSpPr>
        <p:spPr>
          <a:xfrm>
            <a:off x="822960" y="777240"/>
            <a:ext cx="1371600" cy="1371600"/>
          </a:xfrm>
          <a:prstGeom prst="ellipse">
            <a:avLst/>
          </a:prstGeom>
          <a:solidFill>
            <a:srgbClr val="B85042"/>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77240"/>
            <a:ext cx="1371600" cy="1371600"/>
          </a:xfrm>
          <a:prstGeom prst="rect">
            <a:avLst/>
          </a:prstGeom>
          <a:noFill/>
          <a:ln/>
        </p:spPr>
        <p:txBody>
          <a:bodyPr wrap="square" rtlCol="0" anchor="ctr"/>
          <a:lstStyle/>
          <a:p>
            <a:pPr algn="ctr" indent="0" marL="0">
              <a:buNone/>
            </a:pPr>
            <a:r>
              <a:rPr lang="en-US" sz="4000" b="1" dirty="0">
                <a:solidFill>
                  <a:srgbClr val="FBF9F3"/>
                </a:solidFill>
                <a:latin typeface="Bookman Old Style" pitchFamily="34" charset="0"/>
                <a:ea typeface="Bookman Old Style" pitchFamily="34" charset="-122"/>
                <a:cs typeface="Bookman Old Style" pitchFamily="34" charset="-120"/>
              </a:rPr>
              <a:t>12</a:t>
            </a:r>
            <a:endParaRPr lang="en-US" sz="4000" dirty="0"/>
          </a:p>
        </p:txBody>
      </p:sp>
      <p:sp>
        <p:nvSpPr>
          <p:cNvPr id="5" name="Text 3"/>
          <p:cNvSpPr/>
          <p:nvPr/>
        </p:nvSpPr>
        <p:spPr>
          <a:xfrm>
            <a:off x="2377440" y="868680"/>
            <a:ext cx="8229600" cy="320040"/>
          </a:xfrm>
          <a:prstGeom prst="rect">
            <a:avLst/>
          </a:prstGeom>
          <a:noFill/>
          <a:ln/>
        </p:spPr>
        <p:txBody>
          <a:bodyPr wrap="square" rtlCol="0" anchor="ctr"/>
          <a:lstStyle/>
          <a:p>
            <a:pPr indent="0" marL="0">
              <a:buNone/>
            </a:pPr>
            <a:r>
              <a:rPr lang="en-US" sz="1300" b="1" spc="300" kern="0" dirty="0">
                <a:solidFill>
                  <a:srgbClr val="C9A15A"/>
                </a:solidFill>
                <a:latin typeface="Calibri" pitchFamily="34" charset="0"/>
                <a:ea typeface="Calibri" pitchFamily="34" charset="-122"/>
                <a:cs typeface="Calibri" pitchFamily="34" charset="-120"/>
              </a:rPr>
              <a:t>WE BELIEVE</a:t>
            </a:r>
            <a:endParaRPr lang="en-US" sz="1300" dirty="0"/>
          </a:p>
        </p:txBody>
      </p:sp>
      <p:sp>
        <p:nvSpPr>
          <p:cNvPr id="6" name="Text 4"/>
          <p:cNvSpPr/>
          <p:nvPr/>
        </p:nvSpPr>
        <p:spPr>
          <a:xfrm>
            <a:off x="2377440" y="1188720"/>
            <a:ext cx="8961120" cy="1005840"/>
          </a:xfrm>
          <a:prstGeom prst="rect">
            <a:avLst/>
          </a:prstGeom>
          <a:noFill/>
          <a:ln/>
        </p:spPr>
        <p:txBody>
          <a:bodyPr wrap="square" rtlCol="0" anchor="t"/>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We Believe Hope Is Found Beyond Innovation</a:t>
            </a:r>
            <a:endParaRPr lang="en-US" sz="3000" dirty="0"/>
          </a:p>
        </p:txBody>
      </p:sp>
      <p:sp>
        <p:nvSpPr>
          <p:cNvPr id="7" name="Shape 5"/>
          <p:cNvSpPr/>
          <p:nvPr/>
        </p:nvSpPr>
        <p:spPr>
          <a:xfrm>
            <a:off x="1554480" y="2880360"/>
            <a:ext cx="9144000" cy="2606040"/>
          </a:xfrm>
          <a:prstGeom prst="roundRect">
            <a:avLst>
              <a:gd name="adj" fmla="val 4912"/>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2057400" y="3154680"/>
            <a:ext cx="8138160" cy="2057400"/>
          </a:xfrm>
          <a:prstGeom prst="rect">
            <a:avLst/>
          </a:prstGeom>
          <a:noFill/>
          <a:ln/>
        </p:spPr>
        <p:txBody>
          <a:bodyPr wrap="square" rtlCol="0" anchor="ctr"/>
          <a:lstStyle/>
          <a:p>
            <a:pPr indent="0" marL="0">
              <a:lnSpc>
                <a:spcPct val="110000"/>
              </a:lnSpc>
              <a:buNone/>
            </a:pPr>
            <a:r>
              <a:rPr lang="en-US" sz="2200" dirty="0">
                <a:solidFill>
                  <a:srgbClr val="37352E"/>
                </a:solidFill>
                <a:latin typeface="Bookman Old Style" pitchFamily="34" charset="0"/>
                <a:ea typeface="Bookman Old Style" pitchFamily="34" charset="-122"/>
                <a:cs typeface="Bookman Old Style" pitchFamily="34" charset="-120"/>
              </a:rPr>
              <a:t>Every generation has been tempted to place ultimate hope in human achievement. Technology cannot solve sin. Innovation cannot eliminate brokenness.</a:t>
            </a:r>
            <a:endParaRPr lang="en-US" sz="2200" dirty="0"/>
          </a:p>
        </p:txBody>
      </p:sp>
      <p:pic>
        <p:nvPicPr>
          <p:cNvPr id="9" name="Image 0" descr="preencoded.png">    </p:cNvPr>
          <p:cNvPicPr>
            <a:picLocks noChangeAspect="1"/>
          </p:cNvPicPr>
          <p:nvPr/>
        </p:nvPicPr>
        <p:blipFill>
          <a:blip r:embed="rId1"/>
          <a:stretch>
            <a:fillRect/>
          </a:stretch>
        </p:blipFill>
        <p:spPr>
          <a:xfrm>
            <a:off x="10378440" y="5943600"/>
            <a:ext cx="457200" cy="457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F</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The Christian Technologist's Manifesto</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F</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