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11: Online Witness and Digital Discipleship. Open by welcoming the group and reading the key scripture, Matthew 5:14–16 (ESV), aloud together. Set the theme for this session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group a quick map of the session. You don't need to read every item — just show the arc from opening idea to reflection, prayer, and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passage slowly, perhaps twice. Ask: what stands out to you here? Let a few people respond before you begin teaching.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Every Christian Has a Platform. Influence once belonged to institutions. Now every believer with a phone carries a platform — and a responsibility that comes with it.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Your Digital Footprint Is Your Testimony. Every post, comment, and share leaves a trace. Your digital footprint is a running testimony, whether you intend it or not.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Mission Field in Your Pocket. We picture missions as distant places requiring a passport. But a vast mission field now fits inside your pocket.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Problem with Christian Outrage. The greatest threat to online witness is not compromise but character — truth delivered with a spirit that contradicts it.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Difference Between Influence and Impact. Platforms push us to chase followers and likes. But visibility is not impact — being seen is not the same as making a difference.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Truth Without Love and Love Without Truth. Digital talk drifts to extremes: truth wielded as a weapon, or love that will not name what is real. Christ held both together.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Temptation to Perform. Social media rewards performance — curated identities and managed impressions. Witness becomes theater when we perform our faith.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Artificial Intelligence and Ministry. AI already shapes ministry, from research to preparation. It can serve the work — but it cannot replace the shepherd's heart.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Digital Discipleship. Discipleship has always meant helping people follow Jesus. Only the methods change — and the newest methods are digital.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Ministry of Encouragement. The simplest online ministry may be the most powerful: a timely word of encouragement, requiring no platform, only willingness.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Representing the King. An ambassador speaks not for himself but for his King. Online, our conduct reflects on the Sovereign who sent us.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Salt and Light in Digital Spaces. Jesus called us salt and light — humble, common, indispensable. Digital spaces need both preservation and illumination.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two or three of these to discuss rather than rushing all of them. Leave silence after each — the best answers often come after a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teaching portion by praying this together, or invite someone to read it aloud. Feel free to add the group's own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everyone to commit to this challenge before the next session. You might ask people to share how it went when you gather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by restating the one idea you most want people to remember, then point ahead to the next chapter in the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B85042"/>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B85042"/>
          </a:solidFill>
          <a:ln/>
        </p:spPr>
      </p:sp>
      <p:sp>
        <p:nvSpPr>
          <p:cNvPr id="3" name="Shape 1"/>
          <p:cNvSpPr/>
          <p:nvPr/>
        </p:nvSpPr>
        <p:spPr>
          <a:xfrm>
            <a:off x="0" y="5257800"/>
            <a:ext cx="12161520" cy="1600200"/>
          </a:xfrm>
          <a:prstGeom prst="rect">
            <a:avLst/>
          </a:prstGeom>
          <a:solidFill>
            <a:srgbClr val="8F3B30"/>
          </a:solidFill>
          <a:ln/>
        </p:spPr>
      </p:sp>
      <p:sp>
        <p:nvSpPr>
          <p:cNvPr id="4" name="Shape 2"/>
          <p:cNvSpPr/>
          <p:nvPr/>
        </p:nvSpPr>
        <p:spPr>
          <a:xfrm>
            <a:off x="9326880" y="640080"/>
            <a:ext cx="1965960" cy="1965960"/>
          </a:xfrm>
          <a:prstGeom prst="ellipse">
            <a:avLst/>
          </a:prstGeom>
          <a:solidFill>
            <a:srgbClr val="8F3B30"/>
          </a:solidFill>
          <a:ln w="19050">
            <a:solidFill>
              <a:srgbClr val="C9A15A"/>
            </a:solidFill>
            <a:prstDash val="solid"/>
          </a:ln>
        </p:spPr>
      </p:sp>
      <p:pic>
        <p:nvPicPr>
          <p:cNvPr id="5" name="Image 0" descr="preencoded.png">    </p:cNvPr>
          <p:cNvPicPr>
            <a:picLocks noChangeAspect="1"/>
          </p:cNvPicPr>
          <p:nvPr/>
        </p:nvPicPr>
        <p:blipFill>
          <a:blip r:embed="rId1"/>
          <a:stretch>
            <a:fillRect/>
          </a:stretch>
        </p:blipFill>
        <p:spPr>
          <a:xfrm>
            <a:off x="9765792" y="1078992"/>
            <a:ext cx="1097280" cy="1097280"/>
          </a:xfrm>
          <a:prstGeom prst="rect">
            <a:avLst/>
          </a:prstGeom>
        </p:spPr>
      </p:pic>
      <p:sp>
        <p:nvSpPr>
          <p:cNvPr id="6" name="Text 3"/>
          <p:cNvSpPr/>
          <p:nvPr/>
        </p:nvSpPr>
        <p:spPr>
          <a:xfrm>
            <a:off x="822960" y="1051560"/>
            <a:ext cx="8686800" cy="365760"/>
          </a:xfrm>
          <a:prstGeom prst="rect">
            <a:avLst/>
          </a:prstGeom>
          <a:noFill/>
          <a:ln/>
        </p:spPr>
        <p:txBody>
          <a:bodyPr wrap="square" rtlCol="0" anchor="ctr"/>
          <a:lstStyle/>
          <a:p>
            <a:pPr indent="0" marL="0">
              <a:buNone/>
            </a:pPr>
            <a:r>
              <a:rPr lang="en-US" sz="1400" b="1" spc="300" kern="0" dirty="0">
                <a:solidFill>
                  <a:srgbClr val="E7E8D1"/>
                </a:solidFill>
                <a:latin typeface="Calibri" pitchFamily="34" charset="0"/>
                <a:ea typeface="Calibri" pitchFamily="34" charset="-122"/>
                <a:cs typeface="Calibri" pitchFamily="34" charset="-120"/>
              </a:rPr>
              <a:t>DIVINE DESIGN FOR THE DIGITAL AGE</a:t>
            </a:r>
            <a:endParaRPr lang="en-US" sz="1400" dirty="0"/>
          </a:p>
        </p:txBody>
      </p:sp>
      <p:sp>
        <p:nvSpPr>
          <p:cNvPr id="7" name="Text 4"/>
          <p:cNvSpPr/>
          <p:nvPr/>
        </p:nvSpPr>
        <p:spPr>
          <a:xfrm>
            <a:off x="822960" y="1371600"/>
            <a:ext cx="8686800" cy="320040"/>
          </a:xfrm>
          <a:prstGeom prst="rect">
            <a:avLst/>
          </a:prstGeom>
          <a:noFill/>
          <a:ln/>
        </p:spPr>
        <p:txBody>
          <a:bodyPr wrap="square" rtlCol="0" anchor="ctr"/>
          <a:lstStyle/>
          <a:p>
            <a:pPr indent="0" marL="0">
              <a:buNone/>
            </a:pPr>
            <a:r>
              <a:rPr lang="en-US" sz="1300" i="1" dirty="0">
                <a:solidFill>
                  <a:srgbClr val="C9A15A"/>
                </a:solidFill>
                <a:latin typeface="Calibri" pitchFamily="34" charset="0"/>
                <a:ea typeface="Calibri" pitchFamily="34" charset="-122"/>
                <a:cs typeface="Calibri" pitchFamily="34" charset="-120"/>
              </a:rPr>
              <a:t>A Talk &amp; Discussion Series</a:t>
            </a:r>
            <a:endParaRPr lang="en-US" sz="1300" dirty="0"/>
          </a:p>
        </p:txBody>
      </p:sp>
      <p:sp>
        <p:nvSpPr>
          <p:cNvPr id="8" name="Text 5"/>
          <p:cNvSpPr/>
          <p:nvPr/>
        </p:nvSpPr>
        <p:spPr>
          <a:xfrm>
            <a:off x="822960" y="2331720"/>
            <a:ext cx="8229600" cy="640080"/>
          </a:xfrm>
          <a:prstGeom prst="rect">
            <a:avLst/>
          </a:prstGeom>
          <a:noFill/>
          <a:ln/>
        </p:spPr>
        <p:txBody>
          <a:bodyPr wrap="square" rtlCol="0" anchor="ctr"/>
          <a:lstStyle/>
          <a:p>
            <a:pPr indent="0" marL="0">
              <a:buNone/>
            </a:pPr>
            <a:r>
              <a:rPr lang="en-US" sz="3000" b="1" dirty="0">
                <a:solidFill>
                  <a:srgbClr val="C9A15A"/>
                </a:solidFill>
                <a:latin typeface="Bookman Old Style" pitchFamily="34" charset="0"/>
                <a:ea typeface="Bookman Old Style" pitchFamily="34" charset="-122"/>
                <a:cs typeface="Bookman Old Style" pitchFamily="34" charset="-120"/>
              </a:rPr>
              <a:t>Chapter 11</a:t>
            </a:r>
            <a:endParaRPr lang="en-US" sz="3000" dirty="0"/>
          </a:p>
        </p:txBody>
      </p:sp>
      <p:sp>
        <p:nvSpPr>
          <p:cNvPr id="9" name="Text 6"/>
          <p:cNvSpPr/>
          <p:nvPr/>
        </p:nvSpPr>
        <p:spPr>
          <a:xfrm>
            <a:off x="777240" y="2880360"/>
            <a:ext cx="10424160" cy="1828800"/>
          </a:xfrm>
          <a:prstGeom prst="rect">
            <a:avLst/>
          </a:prstGeom>
          <a:noFill/>
          <a:ln/>
        </p:spPr>
        <p:txBody>
          <a:bodyPr wrap="square" rtlCol="0" anchor="t"/>
          <a:lstStyle/>
          <a:p>
            <a:pPr indent="0" marL="0">
              <a:lnSpc>
                <a:spcPct val="95000"/>
              </a:lnSpc>
              <a:buNone/>
            </a:pPr>
            <a:r>
              <a:rPr lang="en-US" sz="5200" b="1" dirty="0">
                <a:solidFill>
                  <a:srgbClr val="FBF7F0"/>
                </a:solidFill>
                <a:latin typeface="Bookman Old Style" pitchFamily="34" charset="0"/>
                <a:ea typeface="Bookman Old Style" pitchFamily="34" charset="-122"/>
                <a:cs typeface="Bookman Old Style" pitchFamily="34" charset="-120"/>
              </a:rPr>
              <a:t>Online Witness and Digital Discipleship</a:t>
            </a:r>
            <a:endParaRPr lang="en-US" sz="5200" dirty="0"/>
          </a:p>
        </p:txBody>
      </p:sp>
      <p:pic>
        <p:nvPicPr>
          <p:cNvPr id="10" name="Image 1" descr="preencoded.png">    </p:cNvPr>
          <p:cNvPicPr>
            <a:picLocks noChangeAspect="1"/>
          </p:cNvPicPr>
          <p:nvPr/>
        </p:nvPicPr>
        <p:blipFill>
          <a:blip r:embed="rId2"/>
          <a:stretch>
            <a:fillRect/>
          </a:stretch>
        </p:blipFill>
        <p:spPr>
          <a:xfrm>
            <a:off x="868680" y="5623560"/>
            <a:ext cx="457200" cy="457200"/>
          </a:xfrm>
          <a:prstGeom prst="rect">
            <a:avLst/>
          </a:prstGeom>
        </p:spPr>
      </p:pic>
      <p:sp>
        <p:nvSpPr>
          <p:cNvPr id="11" name="Text 7"/>
          <p:cNvSpPr/>
          <p:nvPr/>
        </p:nvSpPr>
        <p:spPr>
          <a:xfrm>
            <a:off x="1463040" y="5623560"/>
            <a:ext cx="10058400" cy="457200"/>
          </a:xfrm>
          <a:prstGeom prst="rect">
            <a:avLst/>
          </a:prstGeom>
          <a:noFill/>
          <a:ln/>
        </p:spPr>
        <p:txBody>
          <a:bodyPr wrap="square" rtlCol="0" anchor="ctr"/>
          <a:lstStyle/>
          <a:p>
            <a:pPr indent="0" marL="0">
              <a:buNone/>
            </a:pPr>
            <a:r>
              <a:rPr lang="en-US" sz="1600" b="1" dirty="0">
                <a:solidFill>
                  <a:srgbClr val="E7E8D1"/>
                </a:solidFill>
                <a:latin typeface="Calibri" pitchFamily="34" charset="0"/>
                <a:ea typeface="Calibri" pitchFamily="34" charset="-122"/>
                <a:cs typeface="Calibri" pitchFamily="34" charset="-120"/>
              </a:rPr>
              <a:t>Key Scripture   </a:t>
            </a:r>
            <a:pPr indent="0" marL="0">
              <a:buNone/>
            </a:pPr>
            <a:r>
              <a:rPr lang="en-US" sz="1600" i="1" dirty="0">
                <a:solidFill>
                  <a:srgbClr val="FBF7F0"/>
                </a:solidFill>
                <a:latin typeface="Calibri" pitchFamily="34" charset="0"/>
                <a:ea typeface="Calibri" pitchFamily="34" charset="-122"/>
                <a:cs typeface="Calibri" pitchFamily="34" charset="-120"/>
              </a:rPr>
              <a:t>Matthew 5:14–16 (ESV)</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822960" y="685800"/>
            <a:ext cx="1051560" cy="105156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60120"/>
            <a:ext cx="502920" cy="502920"/>
          </a:xfrm>
          <a:prstGeom prst="rect">
            <a:avLst/>
          </a:prstGeom>
        </p:spPr>
      </p:pic>
      <p:sp>
        <p:nvSpPr>
          <p:cNvPr id="4" name="Text 1"/>
          <p:cNvSpPr/>
          <p:nvPr/>
        </p:nvSpPr>
        <p:spPr>
          <a:xfrm>
            <a:off x="2103120" y="658368"/>
            <a:ext cx="9144000" cy="658368"/>
          </a:xfrm>
          <a:prstGeom prst="rect">
            <a:avLst/>
          </a:prstGeom>
          <a:noFill/>
          <a:ln/>
        </p:spPr>
        <p:txBody>
          <a:bodyPr wrap="square" rtlCol="0" anchor="ctr"/>
          <a:lstStyle/>
          <a:p>
            <a:pPr indent="0" marL="0">
              <a:buNone/>
            </a:pPr>
            <a:r>
              <a:rPr lang="en-US" sz="3400" b="1" dirty="0">
                <a:solidFill>
                  <a:srgbClr val="8F3B30"/>
                </a:solidFill>
                <a:latin typeface="Bookman Old Style" pitchFamily="34" charset="0"/>
                <a:ea typeface="Bookman Old Style" pitchFamily="34" charset="-122"/>
                <a:cs typeface="Bookman Old Style" pitchFamily="34" charset="-120"/>
              </a:rPr>
              <a:t>In This Session</a:t>
            </a:r>
            <a:endParaRPr lang="en-US" sz="3400" dirty="0"/>
          </a:p>
        </p:txBody>
      </p:sp>
      <p:sp>
        <p:nvSpPr>
          <p:cNvPr id="5" name="Text 2"/>
          <p:cNvSpPr/>
          <p:nvPr/>
        </p:nvSpPr>
        <p:spPr>
          <a:xfrm>
            <a:off x="2130552" y="1316736"/>
            <a:ext cx="9144000" cy="365760"/>
          </a:xfrm>
          <a:prstGeom prst="rect">
            <a:avLst/>
          </a:prstGeom>
          <a:noFill/>
          <a:ln/>
        </p:spPr>
        <p:txBody>
          <a:bodyPr wrap="square" rtlCol="0" anchor="ctr"/>
          <a:lstStyle/>
          <a:p>
            <a:pPr indent="0" marL="0">
              <a:buNone/>
            </a:pPr>
            <a:r>
              <a:rPr lang="en-US" sz="1500" i="1" dirty="0">
                <a:solidFill>
                  <a:srgbClr val="6E655C"/>
                </a:solidFill>
                <a:latin typeface="Calibri" pitchFamily="34" charset="0"/>
                <a:ea typeface="Calibri" pitchFamily="34" charset="-122"/>
                <a:cs typeface="Calibri" pitchFamily="34" charset="-120"/>
              </a:rPr>
              <a:t>What we'll walk through together</a:t>
            </a:r>
            <a:endParaRPr lang="en-US" sz="1500" dirty="0"/>
          </a:p>
        </p:txBody>
      </p:sp>
      <p:sp>
        <p:nvSpPr>
          <p:cNvPr id="6" name="Shape 3"/>
          <p:cNvSpPr/>
          <p:nvPr/>
        </p:nvSpPr>
        <p:spPr>
          <a:xfrm>
            <a:off x="868680" y="1783080"/>
            <a:ext cx="457200" cy="457200"/>
          </a:xfrm>
          <a:prstGeom prst="ellipse">
            <a:avLst/>
          </a:prstGeom>
          <a:solidFill>
            <a:srgbClr val="6B7A5E"/>
          </a:solidFill>
          <a:ln/>
        </p:spPr>
      </p:sp>
      <p:sp>
        <p:nvSpPr>
          <p:cNvPr id="7" name="Text 4"/>
          <p:cNvSpPr/>
          <p:nvPr/>
        </p:nvSpPr>
        <p:spPr>
          <a:xfrm>
            <a:off x="868680" y="178308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a:t>
            </a:r>
            <a:endParaRPr lang="en-US" sz="1500" dirty="0"/>
          </a:p>
        </p:txBody>
      </p:sp>
      <p:sp>
        <p:nvSpPr>
          <p:cNvPr id="8" name="Text 5"/>
          <p:cNvSpPr/>
          <p:nvPr/>
        </p:nvSpPr>
        <p:spPr>
          <a:xfrm>
            <a:off x="1527048" y="175564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Every Christian Has a Platform</a:t>
            </a:r>
            <a:endParaRPr lang="en-US" sz="1500" dirty="0"/>
          </a:p>
        </p:txBody>
      </p:sp>
      <p:sp>
        <p:nvSpPr>
          <p:cNvPr id="9" name="Shape 6"/>
          <p:cNvSpPr/>
          <p:nvPr/>
        </p:nvSpPr>
        <p:spPr>
          <a:xfrm>
            <a:off x="868680" y="2441448"/>
            <a:ext cx="457200" cy="457200"/>
          </a:xfrm>
          <a:prstGeom prst="ellipse">
            <a:avLst/>
          </a:prstGeom>
          <a:solidFill>
            <a:srgbClr val="6B7A5E"/>
          </a:solidFill>
          <a:ln/>
        </p:spPr>
      </p:sp>
      <p:sp>
        <p:nvSpPr>
          <p:cNvPr id="10" name="Text 7"/>
          <p:cNvSpPr/>
          <p:nvPr/>
        </p:nvSpPr>
        <p:spPr>
          <a:xfrm>
            <a:off x="868680" y="2441448"/>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2</a:t>
            </a:r>
            <a:endParaRPr lang="en-US" sz="1500" dirty="0"/>
          </a:p>
        </p:txBody>
      </p:sp>
      <p:sp>
        <p:nvSpPr>
          <p:cNvPr id="11" name="Text 8"/>
          <p:cNvSpPr/>
          <p:nvPr/>
        </p:nvSpPr>
        <p:spPr>
          <a:xfrm>
            <a:off x="1527048" y="2414016"/>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Your Digital Footprint Is Your Testimony</a:t>
            </a:r>
            <a:endParaRPr lang="en-US" sz="1500" dirty="0"/>
          </a:p>
        </p:txBody>
      </p:sp>
      <p:sp>
        <p:nvSpPr>
          <p:cNvPr id="12" name="Shape 9"/>
          <p:cNvSpPr/>
          <p:nvPr/>
        </p:nvSpPr>
        <p:spPr>
          <a:xfrm>
            <a:off x="868680" y="3099816"/>
            <a:ext cx="457200" cy="457200"/>
          </a:xfrm>
          <a:prstGeom prst="ellipse">
            <a:avLst/>
          </a:prstGeom>
          <a:solidFill>
            <a:srgbClr val="6B7A5E"/>
          </a:solidFill>
          <a:ln/>
        </p:spPr>
      </p:sp>
      <p:sp>
        <p:nvSpPr>
          <p:cNvPr id="13" name="Text 10"/>
          <p:cNvSpPr/>
          <p:nvPr/>
        </p:nvSpPr>
        <p:spPr>
          <a:xfrm>
            <a:off x="868680" y="3099816"/>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3</a:t>
            </a:r>
            <a:endParaRPr lang="en-US" sz="1500" dirty="0"/>
          </a:p>
        </p:txBody>
      </p:sp>
      <p:sp>
        <p:nvSpPr>
          <p:cNvPr id="14" name="Text 11"/>
          <p:cNvSpPr/>
          <p:nvPr/>
        </p:nvSpPr>
        <p:spPr>
          <a:xfrm>
            <a:off x="1527048" y="3072384"/>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Mission Field in Your Pocket</a:t>
            </a:r>
            <a:endParaRPr lang="en-US" sz="1500" dirty="0"/>
          </a:p>
        </p:txBody>
      </p:sp>
      <p:sp>
        <p:nvSpPr>
          <p:cNvPr id="15" name="Shape 12"/>
          <p:cNvSpPr/>
          <p:nvPr/>
        </p:nvSpPr>
        <p:spPr>
          <a:xfrm>
            <a:off x="868680" y="3758184"/>
            <a:ext cx="457200" cy="457200"/>
          </a:xfrm>
          <a:prstGeom prst="ellipse">
            <a:avLst/>
          </a:prstGeom>
          <a:solidFill>
            <a:srgbClr val="6B7A5E"/>
          </a:solidFill>
          <a:ln/>
        </p:spPr>
      </p:sp>
      <p:sp>
        <p:nvSpPr>
          <p:cNvPr id="16" name="Text 13"/>
          <p:cNvSpPr/>
          <p:nvPr/>
        </p:nvSpPr>
        <p:spPr>
          <a:xfrm>
            <a:off x="868680" y="3758184"/>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4</a:t>
            </a:r>
            <a:endParaRPr lang="en-US" sz="1500" dirty="0"/>
          </a:p>
        </p:txBody>
      </p:sp>
      <p:sp>
        <p:nvSpPr>
          <p:cNvPr id="17" name="Text 14"/>
          <p:cNvSpPr/>
          <p:nvPr/>
        </p:nvSpPr>
        <p:spPr>
          <a:xfrm>
            <a:off x="1527048" y="3730752"/>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Problem with Christian Outrage</a:t>
            </a:r>
            <a:endParaRPr lang="en-US" sz="1500" dirty="0"/>
          </a:p>
        </p:txBody>
      </p:sp>
      <p:sp>
        <p:nvSpPr>
          <p:cNvPr id="18" name="Shape 15"/>
          <p:cNvSpPr/>
          <p:nvPr/>
        </p:nvSpPr>
        <p:spPr>
          <a:xfrm>
            <a:off x="868680" y="4416552"/>
            <a:ext cx="457200" cy="457200"/>
          </a:xfrm>
          <a:prstGeom prst="ellipse">
            <a:avLst/>
          </a:prstGeom>
          <a:solidFill>
            <a:srgbClr val="6B7A5E"/>
          </a:solidFill>
          <a:ln/>
        </p:spPr>
      </p:sp>
      <p:sp>
        <p:nvSpPr>
          <p:cNvPr id="19" name="Text 16"/>
          <p:cNvSpPr/>
          <p:nvPr/>
        </p:nvSpPr>
        <p:spPr>
          <a:xfrm>
            <a:off x="868680" y="4416552"/>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5</a:t>
            </a:r>
            <a:endParaRPr lang="en-US" sz="1500" dirty="0"/>
          </a:p>
        </p:txBody>
      </p:sp>
      <p:sp>
        <p:nvSpPr>
          <p:cNvPr id="20" name="Text 17"/>
          <p:cNvSpPr/>
          <p:nvPr/>
        </p:nvSpPr>
        <p:spPr>
          <a:xfrm>
            <a:off x="1527048" y="4389120"/>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Difference Between Influence and Impact</a:t>
            </a:r>
            <a:endParaRPr lang="en-US" sz="1500" dirty="0"/>
          </a:p>
        </p:txBody>
      </p:sp>
      <p:sp>
        <p:nvSpPr>
          <p:cNvPr id="21" name="Shape 18"/>
          <p:cNvSpPr/>
          <p:nvPr/>
        </p:nvSpPr>
        <p:spPr>
          <a:xfrm>
            <a:off x="868680" y="5074920"/>
            <a:ext cx="457200" cy="457200"/>
          </a:xfrm>
          <a:prstGeom prst="ellipse">
            <a:avLst/>
          </a:prstGeom>
          <a:solidFill>
            <a:srgbClr val="6B7A5E"/>
          </a:solidFill>
          <a:ln/>
        </p:spPr>
      </p:sp>
      <p:sp>
        <p:nvSpPr>
          <p:cNvPr id="22" name="Text 19"/>
          <p:cNvSpPr/>
          <p:nvPr/>
        </p:nvSpPr>
        <p:spPr>
          <a:xfrm>
            <a:off x="868680" y="507492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6</a:t>
            </a:r>
            <a:endParaRPr lang="en-US" sz="1500" dirty="0"/>
          </a:p>
        </p:txBody>
      </p:sp>
      <p:sp>
        <p:nvSpPr>
          <p:cNvPr id="23" name="Text 20"/>
          <p:cNvSpPr/>
          <p:nvPr/>
        </p:nvSpPr>
        <p:spPr>
          <a:xfrm>
            <a:off x="1527048" y="504748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Truth Without Love and Love Without Truth</a:t>
            </a:r>
            <a:endParaRPr lang="en-US" sz="1500" dirty="0"/>
          </a:p>
        </p:txBody>
      </p:sp>
      <p:sp>
        <p:nvSpPr>
          <p:cNvPr id="24" name="Shape 21"/>
          <p:cNvSpPr/>
          <p:nvPr/>
        </p:nvSpPr>
        <p:spPr>
          <a:xfrm>
            <a:off x="6355080" y="1783080"/>
            <a:ext cx="457200" cy="457200"/>
          </a:xfrm>
          <a:prstGeom prst="ellipse">
            <a:avLst/>
          </a:prstGeom>
          <a:solidFill>
            <a:srgbClr val="6B7A5E"/>
          </a:solidFill>
          <a:ln/>
        </p:spPr>
      </p:sp>
      <p:sp>
        <p:nvSpPr>
          <p:cNvPr id="25" name="Text 22"/>
          <p:cNvSpPr/>
          <p:nvPr/>
        </p:nvSpPr>
        <p:spPr>
          <a:xfrm>
            <a:off x="6355080" y="178308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7</a:t>
            </a:r>
            <a:endParaRPr lang="en-US" sz="1500" dirty="0"/>
          </a:p>
        </p:txBody>
      </p:sp>
      <p:sp>
        <p:nvSpPr>
          <p:cNvPr id="26" name="Text 23"/>
          <p:cNvSpPr/>
          <p:nvPr/>
        </p:nvSpPr>
        <p:spPr>
          <a:xfrm>
            <a:off x="7013448" y="175564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Temptation to Perform</a:t>
            </a:r>
            <a:endParaRPr lang="en-US" sz="1500" dirty="0"/>
          </a:p>
        </p:txBody>
      </p:sp>
      <p:sp>
        <p:nvSpPr>
          <p:cNvPr id="27" name="Shape 24"/>
          <p:cNvSpPr/>
          <p:nvPr/>
        </p:nvSpPr>
        <p:spPr>
          <a:xfrm>
            <a:off x="6355080" y="2441448"/>
            <a:ext cx="457200" cy="457200"/>
          </a:xfrm>
          <a:prstGeom prst="ellipse">
            <a:avLst/>
          </a:prstGeom>
          <a:solidFill>
            <a:srgbClr val="6B7A5E"/>
          </a:solidFill>
          <a:ln/>
        </p:spPr>
      </p:sp>
      <p:sp>
        <p:nvSpPr>
          <p:cNvPr id="28" name="Text 25"/>
          <p:cNvSpPr/>
          <p:nvPr/>
        </p:nvSpPr>
        <p:spPr>
          <a:xfrm>
            <a:off x="6355080" y="2441448"/>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8</a:t>
            </a:r>
            <a:endParaRPr lang="en-US" sz="1500" dirty="0"/>
          </a:p>
        </p:txBody>
      </p:sp>
      <p:sp>
        <p:nvSpPr>
          <p:cNvPr id="29" name="Text 26"/>
          <p:cNvSpPr/>
          <p:nvPr/>
        </p:nvSpPr>
        <p:spPr>
          <a:xfrm>
            <a:off x="7013448" y="2414016"/>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Artificial Intelligence and Ministry</a:t>
            </a:r>
            <a:endParaRPr lang="en-US" sz="1500" dirty="0"/>
          </a:p>
        </p:txBody>
      </p:sp>
      <p:sp>
        <p:nvSpPr>
          <p:cNvPr id="30" name="Shape 27"/>
          <p:cNvSpPr/>
          <p:nvPr/>
        </p:nvSpPr>
        <p:spPr>
          <a:xfrm>
            <a:off x="6355080" y="3099816"/>
            <a:ext cx="457200" cy="457200"/>
          </a:xfrm>
          <a:prstGeom prst="ellipse">
            <a:avLst/>
          </a:prstGeom>
          <a:solidFill>
            <a:srgbClr val="6B7A5E"/>
          </a:solidFill>
          <a:ln/>
        </p:spPr>
      </p:sp>
      <p:sp>
        <p:nvSpPr>
          <p:cNvPr id="31" name="Text 28"/>
          <p:cNvSpPr/>
          <p:nvPr/>
        </p:nvSpPr>
        <p:spPr>
          <a:xfrm>
            <a:off x="6355080" y="3099816"/>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9</a:t>
            </a:r>
            <a:endParaRPr lang="en-US" sz="1500" dirty="0"/>
          </a:p>
        </p:txBody>
      </p:sp>
      <p:sp>
        <p:nvSpPr>
          <p:cNvPr id="32" name="Text 29"/>
          <p:cNvSpPr/>
          <p:nvPr/>
        </p:nvSpPr>
        <p:spPr>
          <a:xfrm>
            <a:off x="7013448" y="3072384"/>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Digital Discipleship</a:t>
            </a:r>
            <a:endParaRPr lang="en-US" sz="1500" dirty="0"/>
          </a:p>
        </p:txBody>
      </p:sp>
      <p:sp>
        <p:nvSpPr>
          <p:cNvPr id="33" name="Shape 30"/>
          <p:cNvSpPr/>
          <p:nvPr/>
        </p:nvSpPr>
        <p:spPr>
          <a:xfrm>
            <a:off x="6355080" y="3758184"/>
            <a:ext cx="457200" cy="457200"/>
          </a:xfrm>
          <a:prstGeom prst="ellipse">
            <a:avLst/>
          </a:prstGeom>
          <a:solidFill>
            <a:srgbClr val="6B7A5E"/>
          </a:solidFill>
          <a:ln/>
        </p:spPr>
      </p:sp>
      <p:sp>
        <p:nvSpPr>
          <p:cNvPr id="34" name="Text 31"/>
          <p:cNvSpPr/>
          <p:nvPr/>
        </p:nvSpPr>
        <p:spPr>
          <a:xfrm>
            <a:off x="6355080" y="3758184"/>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10</a:t>
            </a:r>
            <a:endParaRPr lang="en-US" sz="1500" dirty="0"/>
          </a:p>
        </p:txBody>
      </p:sp>
      <p:sp>
        <p:nvSpPr>
          <p:cNvPr id="35" name="Text 32"/>
          <p:cNvSpPr/>
          <p:nvPr/>
        </p:nvSpPr>
        <p:spPr>
          <a:xfrm>
            <a:off x="7013448" y="3730752"/>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Ministry of Encouragement</a:t>
            </a:r>
            <a:endParaRPr lang="en-US" sz="1500" dirty="0"/>
          </a:p>
        </p:txBody>
      </p:sp>
      <p:sp>
        <p:nvSpPr>
          <p:cNvPr id="36" name="Shape 33"/>
          <p:cNvSpPr/>
          <p:nvPr/>
        </p:nvSpPr>
        <p:spPr>
          <a:xfrm>
            <a:off x="6355080" y="4416552"/>
            <a:ext cx="457200" cy="457200"/>
          </a:xfrm>
          <a:prstGeom prst="ellipse">
            <a:avLst/>
          </a:prstGeom>
          <a:solidFill>
            <a:srgbClr val="6B7A5E"/>
          </a:solidFill>
          <a:ln/>
        </p:spPr>
      </p:sp>
      <p:sp>
        <p:nvSpPr>
          <p:cNvPr id="37" name="Text 34"/>
          <p:cNvSpPr/>
          <p:nvPr/>
        </p:nvSpPr>
        <p:spPr>
          <a:xfrm>
            <a:off x="6355080" y="4416552"/>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11</a:t>
            </a:r>
            <a:endParaRPr lang="en-US" sz="1500" dirty="0"/>
          </a:p>
        </p:txBody>
      </p:sp>
      <p:sp>
        <p:nvSpPr>
          <p:cNvPr id="38" name="Text 35"/>
          <p:cNvSpPr/>
          <p:nvPr/>
        </p:nvSpPr>
        <p:spPr>
          <a:xfrm>
            <a:off x="7013448" y="4389120"/>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Representing the King</a:t>
            </a:r>
            <a:endParaRPr lang="en-US" sz="1500" dirty="0"/>
          </a:p>
        </p:txBody>
      </p:sp>
      <p:sp>
        <p:nvSpPr>
          <p:cNvPr id="39" name="Shape 36"/>
          <p:cNvSpPr/>
          <p:nvPr/>
        </p:nvSpPr>
        <p:spPr>
          <a:xfrm>
            <a:off x="6355080" y="5074920"/>
            <a:ext cx="457200" cy="457200"/>
          </a:xfrm>
          <a:prstGeom prst="ellipse">
            <a:avLst/>
          </a:prstGeom>
          <a:solidFill>
            <a:srgbClr val="6B7A5E"/>
          </a:solidFill>
          <a:ln/>
        </p:spPr>
      </p:sp>
      <p:sp>
        <p:nvSpPr>
          <p:cNvPr id="40" name="Text 37"/>
          <p:cNvSpPr/>
          <p:nvPr/>
        </p:nvSpPr>
        <p:spPr>
          <a:xfrm>
            <a:off x="6355080" y="507492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12</a:t>
            </a:r>
            <a:endParaRPr lang="en-US" sz="1500" dirty="0"/>
          </a:p>
        </p:txBody>
      </p:sp>
      <p:sp>
        <p:nvSpPr>
          <p:cNvPr id="41" name="Text 38"/>
          <p:cNvSpPr/>
          <p:nvPr/>
        </p:nvSpPr>
        <p:spPr>
          <a:xfrm>
            <a:off x="7013448" y="504748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Salt and Light in Digital Spaces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4E5B44"/>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4E5B44"/>
          </a:solidFill>
          <a:ln/>
        </p:spPr>
      </p:sp>
      <p:pic>
        <p:nvPicPr>
          <p:cNvPr id="3" name="Image 0" descr="preencoded.png">    </p:cNvPr>
          <p:cNvPicPr>
            <a:picLocks noChangeAspect="1"/>
          </p:cNvPicPr>
          <p:nvPr/>
        </p:nvPicPr>
        <p:blipFill>
          <a:blip r:embed="rId1"/>
          <a:stretch>
            <a:fillRect/>
          </a:stretch>
        </p:blipFill>
        <p:spPr>
          <a:xfrm>
            <a:off x="822960" y="731520"/>
            <a:ext cx="914400" cy="914400"/>
          </a:xfrm>
          <a:prstGeom prst="rect">
            <a:avLst/>
          </a:prstGeom>
        </p:spPr>
      </p:pic>
      <p:sp>
        <p:nvSpPr>
          <p:cNvPr id="4" name="Text 1"/>
          <p:cNvSpPr/>
          <p:nvPr/>
        </p:nvSpPr>
        <p:spPr>
          <a:xfrm>
            <a:off x="1874520" y="868680"/>
            <a:ext cx="7315200" cy="365760"/>
          </a:xfrm>
          <a:prstGeom prst="rect">
            <a:avLst/>
          </a:prstGeom>
          <a:noFill/>
          <a:ln/>
        </p:spPr>
        <p:txBody>
          <a:bodyPr wrap="square" rtlCol="0" anchor="ctr"/>
          <a:lstStyle/>
          <a:p>
            <a:pPr indent="0" marL="0">
              <a:buNone/>
            </a:pPr>
            <a:r>
              <a:rPr lang="en-US" sz="1500" b="1" spc="300" kern="0" dirty="0">
                <a:solidFill>
                  <a:srgbClr val="E7E8D1"/>
                </a:solidFill>
                <a:latin typeface="Calibri" pitchFamily="34" charset="0"/>
                <a:ea typeface="Calibri" pitchFamily="34" charset="-122"/>
                <a:cs typeface="Calibri" pitchFamily="34" charset="-120"/>
              </a:rPr>
              <a:t>KEY SCRIPTURE</a:t>
            </a:r>
            <a:endParaRPr lang="en-US" sz="1500" dirty="0"/>
          </a:p>
        </p:txBody>
      </p:sp>
      <p:sp>
        <p:nvSpPr>
          <p:cNvPr id="5" name="Text 2"/>
          <p:cNvSpPr/>
          <p:nvPr/>
        </p:nvSpPr>
        <p:spPr>
          <a:xfrm>
            <a:off x="1874520" y="1234440"/>
            <a:ext cx="9144000" cy="457200"/>
          </a:xfrm>
          <a:prstGeom prst="rect">
            <a:avLst/>
          </a:prstGeom>
          <a:noFill/>
          <a:ln/>
        </p:spPr>
        <p:txBody>
          <a:bodyPr wrap="square" rtlCol="0" anchor="ctr"/>
          <a:lstStyle/>
          <a:p>
            <a:pPr indent="0" marL="0">
              <a:buNone/>
            </a:pPr>
            <a:r>
              <a:rPr lang="en-US" sz="2200" b="1" dirty="0">
                <a:solidFill>
                  <a:srgbClr val="C9A15A"/>
                </a:solidFill>
                <a:latin typeface="Bookman Old Style" pitchFamily="34" charset="0"/>
                <a:ea typeface="Bookman Old Style" pitchFamily="34" charset="-122"/>
                <a:cs typeface="Bookman Old Style" pitchFamily="34" charset="-120"/>
              </a:rPr>
              <a:t>Matthew 5:14–16 (ESV)</a:t>
            </a:r>
            <a:endParaRPr lang="en-US" sz="2200" dirty="0"/>
          </a:p>
        </p:txBody>
      </p:sp>
      <p:sp>
        <p:nvSpPr>
          <p:cNvPr id="6" name="Text 3"/>
          <p:cNvSpPr/>
          <p:nvPr/>
        </p:nvSpPr>
        <p:spPr>
          <a:xfrm>
            <a:off x="1280160" y="2194560"/>
            <a:ext cx="9601200" cy="4023360"/>
          </a:xfrm>
          <a:prstGeom prst="rect">
            <a:avLst/>
          </a:prstGeom>
          <a:noFill/>
          <a:ln/>
        </p:spPr>
        <p:txBody>
          <a:bodyPr wrap="square" rtlCol="0" anchor="t"/>
          <a:lstStyle/>
          <a:p>
            <a:pPr indent="0" marL="0">
              <a:lnSpc>
                <a:spcPct val="112000"/>
              </a:lnSpc>
              <a:buNone/>
            </a:pPr>
            <a:r>
              <a:rPr lang="en-US" sz="2400" i="1" dirty="0">
                <a:solidFill>
                  <a:srgbClr val="FBF7F0"/>
                </a:solidFill>
                <a:latin typeface="Bookman Old Style" pitchFamily="34" charset="0"/>
                <a:ea typeface="Bookman Old Style" pitchFamily="34" charset="-122"/>
                <a:cs typeface="Bookman Old Style" pitchFamily="34" charset="-120"/>
              </a:rPr>
              <a:t>"Always being prepared to make a defense to anyone who asks you for a reason for the hope that is in you; yet do it with gentleness and respect."</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01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Every Christian Has a Platform</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Influence once belonged to institutions. Now every believer with a phone carries a platform — and a responsibility that comes with it.</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02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Your Digital Footprint Is Your Testimony</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Every post, comment, and share leaves a trace. Your digital footprint is a running testimony, whether you intend it or not.</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03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Mission Field in Your Pocket</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We picture missions as distant places requiring a passport. But a vast mission field now fits inside your pocket.</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04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Problem with Christian Outrage</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The greatest threat to online witness is not compromise but character — truth delivered with a spirit that contradicts it.</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05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Difference Between Influence and Impact</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Platforms push us to chase followers and likes. But visibility is not impact — being seen is not the same as making a difference.</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06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Truth Without Love and Love Without Truth</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Digital talk drifts to extremes: truth wielded as a weapon, or love that will not name what is real. Christ held both together.</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07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Temptation to Perform</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Social media rewards performance — curated identities and managed impressions. Witness becomes theater when we perform our faith.</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08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Artificial Intelligence and Ministry</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AI already shapes ministry, from research to preparation. It can serve the work — but it cannot replace the shepherd's heart.</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09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Digital Discipleship</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Discipleship has always meant helping people follow Jesus. Only the methods change — and the newest methods are digital.</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10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Ministry of Encouragement</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The simplest online ministry may be the most powerful: a timely word of encouragement, requiring no platform, only willingness.</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11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Representing the King</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An ambassador speaks not for himself but for his King. Online, our conduct reflects on the Sovereign who sent us.</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12 / 12</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Salt and Light in Digital Spaces</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Jesus called us salt and light — humble, common, indispensable. Digital spaces need both preservation and illumination.</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822960" y="685800"/>
            <a:ext cx="1051560" cy="105156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60120"/>
            <a:ext cx="502920" cy="502920"/>
          </a:xfrm>
          <a:prstGeom prst="rect">
            <a:avLst/>
          </a:prstGeom>
        </p:spPr>
      </p:pic>
      <p:sp>
        <p:nvSpPr>
          <p:cNvPr id="4" name="Text 1"/>
          <p:cNvSpPr/>
          <p:nvPr/>
        </p:nvSpPr>
        <p:spPr>
          <a:xfrm>
            <a:off x="2103120" y="658368"/>
            <a:ext cx="9144000" cy="658368"/>
          </a:xfrm>
          <a:prstGeom prst="rect">
            <a:avLst/>
          </a:prstGeom>
          <a:noFill/>
          <a:ln/>
        </p:spPr>
        <p:txBody>
          <a:bodyPr wrap="square" rtlCol="0" anchor="ctr"/>
          <a:lstStyle/>
          <a:p>
            <a:pPr indent="0" marL="0">
              <a:buNone/>
            </a:pPr>
            <a:r>
              <a:rPr lang="en-US" sz="3400" b="1" dirty="0">
                <a:solidFill>
                  <a:srgbClr val="8F3B30"/>
                </a:solidFill>
                <a:latin typeface="Bookman Old Style" pitchFamily="34" charset="0"/>
                <a:ea typeface="Bookman Old Style" pitchFamily="34" charset="-122"/>
                <a:cs typeface="Bookman Old Style" pitchFamily="34" charset="-120"/>
              </a:rPr>
              <a:t>Reflection Questions</a:t>
            </a:r>
            <a:endParaRPr lang="en-US" sz="3400" dirty="0"/>
          </a:p>
        </p:txBody>
      </p:sp>
      <p:sp>
        <p:nvSpPr>
          <p:cNvPr id="5" name="Text 2"/>
          <p:cNvSpPr/>
          <p:nvPr/>
        </p:nvSpPr>
        <p:spPr>
          <a:xfrm>
            <a:off x="2130552" y="1316736"/>
            <a:ext cx="9144000" cy="365760"/>
          </a:xfrm>
          <a:prstGeom prst="rect">
            <a:avLst/>
          </a:prstGeom>
          <a:noFill/>
          <a:ln/>
        </p:spPr>
        <p:txBody>
          <a:bodyPr wrap="square" rtlCol="0" anchor="ctr"/>
          <a:lstStyle/>
          <a:p>
            <a:pPr indent="0" marL="0">
              <a:buNone/>
            </a:pPr>
            <a:r>
              <a:rPr lang="en-US" sz="1500" i="1" dirty="0">
                <a:solidFill>
                  <a:srgbClr val="6E655C"/>
                </a:solidFill>
                <a:latin typeface="Calibri" pitchFamily="34" charset="0"/>
                <a:ea typeface="Calibri" pitchFamily="34" charset="-122"/>
                <a:cs typeface="Calibri" pitchFamily="34" charset="-120"/>
              </a:rPr>
              <a:t>For personal thought or group discussion</a:t>
            </a:r>
            <a:endParaRPr lang="en-US" sz="1500" dirty="0"/>
          </a:p>
        </p:txBody>
      </p:sp>
      <p:sp>
        <p:nvSpPr>
          <p:cNvPr id="6" name="Shape 3"/>
          <p:cNvSpPr/>
          <p:nvPr/>
        </p:nvSpPr>
        <p:spPr>
          <a:xfrm>
            <a:off x="868680" y="1737360"/>
            <a:ext cx="4983480" cy="1143000"/>
          </a:xfrm>
          <a:prstGeom prst="roundRect">
            <a:avLst>
              <a:gd name="adj" fmla="val 72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Text 4"/>
          <p:cNvSpPr/>
          <p:nvPr/>
        </p:nvSpPr>
        <p:spPr>
          <a:xfrm>
            <a:off x="1051560" y="1901952"/>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1</a:t>
            </a:r>
            <a:endParaRPr lang="en-US" sz="2000" dirty="0"/>
          </a:p>
        </p:txBody>
      </p:sp>
      <p:sp>
        <p:nvSpPr>
          <p:cNvPr id="8" name="Text 5"/>
          <p:cNvSpPr/>
          <p:nvPr/>
        </p:nvSpPr>
        <p:spPr>
          <a:xfrm>
            <a:off x="1581912" y="1828800"/>
            <a:ext cx="4114800" cy="9601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What does your online presence communicate about your faith, and would the people who follow you describe it the same way you would?</a:t>
            </a:r>
            <a:endParaRPr lang="en-US" sz="1300" dirty="0"/>
          </a:p>
        </p:txBody>
      </p:sp>
      <p:sp>
        <p:nvSpPr>
          <p:cNvPr id="9" name="Shape 6"/>
          <p:cNvSpPr/>
          <p:nvPr/>
        </p:nvSpPr>
        <p:spPr>
          <a:xfrm>
            <a:off x="868680" y="3081528"/>
            <a:ext cx="4983480" cy="1143000"/>
          </a:xfrm>
          <a:prstGeom prst="roundRect">
            <a:avLst>
              <a:gd name="adj" fmla="val 72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1051560" y="3246120"/>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2</a:t>
            </a:r>
            <a:endParaRPr lang="en-US" sz="2000" dirty="0"/>
          </a:p>
        </p:txBody>
      </p:sp>
      <p:sp>
        <p:nvSpPr>
          <p:cNvPr id="11" name="Text 8"/>
          <p:cNvSpPr/>
          <p:nvPr/>
        </p:nvSpPr>
        <p:spPr>
          <a:xfrm>
            <a:off x="1581912" y="3172968"/>
            <a:ext cx="4114800" cy="9601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How do you typically respond to disagreement online? What does that pattern reveal about your heart?</a:t>
            </a:r>
            <a:endParaRPr lang="en-US" sz="1300" dirty="0"/>
          </a:p>
        </p:txBody>
      </p:sp>
      <p:sp>
        <p:nvSpPr>
          <p:cNvPr id="12" name="Shape 9"/>
          <p:cNvSpPr/>
          <p:nvPr/>
        </p:nvSpPr>
        <p:spPr>
          <a:xfrm>
            <a:off x="868680" y="4425696"/>
            <a:ext cx="4983480" cy="914400"/>
          </a:xfrm>
          <a:prstGeom prst="roundRect">
            <a:avLst>
              <a:gd name="adj" fmla="val 90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3" name="Text 10"/>
          <p:cNvSpPr/>
          <p:nvPr/>
        </p:nvSpPr>
        <p:spPr>
          <a:xfrm>
            <a:off x="1051560" y="4590288"/>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3</a:t>
            </a:r>
            <a:endParaRPr lang="en-US" sz="2000" dirty="0"/>
          </a:p>
        </p:txBody>
      </p:sp>
      <p:sp>
        <p:nvSpPr>
          <p:cNvPr id="14" name="Text 11"/>
          <p:cNvSpPr/>
          <p:nvPr/>
        </p:nvSpPr>
        <p:spPr>
          <a:xfrm>
            <a:off x="1581912" y="4517136"/>
            <a:ext cx="4114800" cy="7315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Are you pursuing influence or faithfulness? How would you know the difference in your own case?</a:t>
            </a:r>
            <a:endParaRPr lang="en-US" sz="1300" dirty="0"/>
          </a:p>
        </p:txBody>
      </p:sp>
      <p:sp>
        <p:nvSpPr>
          <p:cNvPr id="15" name="Shape 12"/>
          <p:cNvSpPr/>
          <p:nvPr/>
        </p:nvSpPr>
        <p:spPr>
          <a:xfrm>
            <a:off x="868680" y="5541264"/>
            <a:ext cx="4983480" cy="914400"/>
          </a:xfrm>
          <a:prstGeom prst="roundRect">
            <a:avLst>
              <a:gd name="adj" fmla="val 90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6" name="Text 13"/>
          <p:cNvSpPr/>
          <p:nvPr/>
        </p:nvSpPr>
        <p:spPr>
          <a:xfrm>
            <a:off x="1051560" y="5705856"/>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4</a:t>
            </a:r>
            <a:endParaRPr lang="en-US" sz="2000" dirty="0"/>
          </a:p>
        </p:txBody>
      </p:sp>
      <p:sp>
        <p:nvSpPr>
          <p:cNvPr id="17" name="Text 14"/>
          <p:cNvSpPr/>
          <p:nvPr/>
        </p:nvSpPr>
        <p:spPr>
          <a:xfrm>
            <a:off x="1581912" y="5632704"/>
            <a:ext cx="4114800" cy="7315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How can you use the digital platforms you already have to encourage others this week?</a:t>
            </a:r>
            <a:endParaRPr lang="en-US" sz="1300" dirty="0"/>
          </a:p>
        </p:txBody>
      </p:sp>
      <p:sp>
        <p:nvSpPr>
          <p:cNvPr id="18" name="Shape 15"/>
          <p:cNvSpPr/>
          <p:nvPr/>
        </p:nvSpPr>
        <p:spPr>
          <a:xfrm>
            <a:off x="6355080" y="1737360"/>
            <a:ext cx="4983480" cy="914400"/>
          </a:xfrm>
          <a:prstGeom prst="roundRect">
            <a:avLst>
              <a:gd name="adj" fmla="val 90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9" name="Text 16"/>
          <p:cNvSpPr/>
          <p:nvPr/>
        </p:nvSpPr>
        <p:spPr>
          <a:xfrm>
            <a:off x="6537960" y="1901952"/>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5</a:t>
            </a:r>
            <a:endParaRPr lang="en-US" sz="2000" dirty="0"/>
          </a:p>
        </p:txBody>
      </p:sp>
      <p:sp>
        <p:nvSpPr>
          <p:cNvPr id="20" name="Text 17"/>
          <p:cNvSpPr/>
          <p:nvPr/>
        </p:nvSpPr>
        <p:spPr>
          <a:xfrm>
            <a:off x="7068312" y="1828800"/>
            <a:ext cx="4114800" cy="7315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What specific opportunities for online ministry has God placed within your reach?</a:t>
            </a:r>
            <a:endParaRPr lang="en-US" sz="1300" dirty="0"/>
          </a:p>
        </p:txBody>
      </p:sp>
      <p:sp>
        <p:nvSpPr>
          <p:cNvPr id="21" name="Shape 18"/>
          <p:cNvSpPr/>
          <p:nvPr/>
        </p:nvSpPr>
        <p:spPr>
          <a:xfrm>
            <a:off x="6355080" y="2852928"/>
            <a:ext cx="4983480" cy="1143000"/>
          </a:xfrm>
          <a:prstGeom prst="roundRect">
            <a:avLst>
              <a:gd name="adj" fmla="val 72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2" name="Text 19"/>
          <p:cNvSpPr/>
          <p:nvPr/>
        </p:nvSpPr>
        <p:spPr>
          <a:xfrm>
            <a:off x="6537960" y="3017520"/>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6</a:t>
            </a:r>
            <a:endParaRPr lang="en-US" sz="2000" dirty="0"/>
          </a:p>
        </p:txBody>
      </p:sp>
      <p:sp>
        <p:nvSpPr>
          <p:cNvPr id="23" name="Text 20"/>
          <p:cNvSpPr/>
          <p:nvPr/>
        </p:nvSpPr>
        <p:spPr>
          <a:xfrm>
            <a:off x="7068312" y="2944368"/>
            <a:ext cx="4114800" cy="9601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How can artificial intelligence assist your ministry without quietly replacing the relationships at its center?</a:t>
            </a:r>
            <a:endParaRPr lang="en-US" sz="1300" dirty="0"/>
          </a:p>
        </p:txBody>
      </p:sp>
      <p:sp>
        <p:nvSpPr>
          <p:cNvPr id="24" name="Shape 21"/>
          <p:cNvSpPr/>
          <p:nvPr/>
        </p:nvSpPr>
        <p:spPr>
          <a:xfrm>
            <a:off x="6355080" y="4197096"/>
            <a:ext cx="4983480" cy="1143000"/>
          </a:xfrm>
          <a:prstGeom prst="roundRect">
            <a:avLst>
              <a:gd name="adj" fmla="val 72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5" name="Text 22"/>
          <p:cNvSpPr/>
          <p:nvPr/>
        </p:nvSpPr>
        <p:spPr>
          <a:xfrm>
            <a:off x="6537960" y="4361688"/>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7</a:t>
            </a:r>
            <a:endParaRPr lang="en-US" sz="2000" dirty="0"/>
          </a:p>
        </p:txBody>
      </p:sp>
      <p:sp>
        <p:nvSpPr>
          <p:cNvPr id="26" name="Text 23"/>
          <p:cNvSpPr/>
          <p:nvPr/>
        </p:nvSpPr>
        <p:spPr>
          <a:xfrm>
            <a:off x="7068312" y="4288536"/>
            <a:ext cx="4114800" cy="9601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If someone reviewed your social media activity from beginning to end, would they find evidence of Christlike character?</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B85042"/>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B85042"/>
          </a:solidFill>
          <a:ln/>
        </p:spPr>
      </p:sp>
      <p:sp>
        <p:nvSpPr>
          <p:cNvPr id="3" name="Shape 1"/>
          <p:cNvSpPr/>
          <p:nvPr/>
        </p:nvSpPr>
        <p:spPr>
          <a:xfrm>
            <a:off x="5486400" y="640080"/>
            <a:ext cx="1188720" cy="1188720"/>
          </a:xfrm>
          <a:prstGeom prst="ellipse">
            <a:avLst/>
          </a:prstGeom>
          <a:solidFill>
            <a:srgbClr val="8F3B30"/>
          </a:solidFill>
          <a:ln w="15875">
            <a:solidFill>
              <a:srgbClr val="C9A15A"/>
            </a:solidFill>
            <a:prstDash val="solid"/>
          </a:ln>
        </p:spPr>
      </p:sp>
      <p:pic>
        <p:nvPicPr>
          <p:cNvPr id="4" name="Image 0" descr="preencoded.png">    </p:cNvPr>
          <p:cNvPicPr>
            <a:picLocks noChangeAspect="1"/>
          </p:cNvPicPr>
          <p:nvPr/>
        </p:nvPicPr>
        <p:blipFill>
          <a:blip r:embed="rId1"/>
          <a:stretch>
            <a:fillRect/>
          </a:stretch>
        </p:blipFill>
        <p:spPr>
          <a:xfrm>
            <a:off x="5788152" y="941832"/>
            <a:ext cx="585216" cy="585216"/>
          </a:xfrm>
          <a:prstGeom prst="rect">
            <a:avLst/>
          </a:prstGeom>
        </p:spPr>
      </p:pic>
      <p:sp>
        <p:nvSpPr>
          <p:cNvPr id="5" name="Text 2"/>
          <p:cNvSpPr/>
          <p:nvPr/>
        </p:nvSpPr>
        <p:spPr>
          <a:xfrm>
            <a:off x="0" y="1965960"/>
            <a:ext cx="12161520" cy="457200"/>
          </a:xfrm>
          <a:prstGeom prst="rect">
            <a:avLst/>
          </a:prstGeom>
          <a:noFill/>
          <a:ln/>
        </p:spPr>
        <p:txBody>
          <a:bodyPr wrap="square" rtlCol="0" anchor="ctr"/>
          <a:lstStyle/>
          <a:p>
            <a:pPr algn="ctr" indent="0" marL="0">
              <a:buNone/>
            </a:pPr>
            <a:r>
              <a:rPr lang="en-US" sz="2600" b="1" spc="200" kern="0" dirty="0">
                <a:solidFill>
                  <a:srgbClr val="C9A15A"/>
                </a:solidFill>
                <a:latin typeface="Bookman Old Style" pitchFamily="34" charset="0"/>
                <a:ea typeface="Bookman Old Style" pitchFamily="34" charset="-122"/>
                <a:cs typeface="Bookman Old Style" pitchFamily="34" charset="-120"/>
              </a:rPr>
              <a:t>PRAYER</a:t>
            </a:r>
            <a:endParaRPr lang="en-US" sz="2600" dirty="0"/>
          </a:p>
        </p:txBody>
      </p:sp>
      <p:sp>
        <p:nvSpPr>
          <p:cNvPr id="6" name="Shape 3"/>
          <p:cNvSpPr/>
          <p:nvPr/>
        </p:nvSpPr>
        <p:spPr>
          <a:xfrm>
            <a:off x="1554480" y="2697480"/>
            <a:ext cx="9052560" cy="3566160"/>
          </a:xfrm>
          <a:prstGeom prst="roundRect">
            <a:avLst>
              <a:gd name="adj" fmla="val 3590"/>
            </a:avLst>
          </a:prstGeom>
          <a:solidFill>
            <a:srgbClr val="8F3B30"/>
          </a:solidFill>
          <a:ln/>
        </p:spPr>
      </p:sp>
      <p:sp>
        <p:nvSpPr>
          <p:cNvPr id="7" name="Text 4"/>
          <p:cNvSpPr/>
          <p:nvPr/>
        </p:nvSpPr>
        <p:spPr>
          <a:xfrm>
            <a:off x="2057400" y="2926080"/>
            <a:ext cx="8046720" cy="3108960"/>
          </a:xfrm>
          <a:prstGeom prst="rect">
            <a:avLst/>
          </a:prstGeom>
          <a:noFill/>
          <a:ln/>
        </p:spPr>
        <p:txBody>
          <a:bodyPr wrap="square" rtlCol="0" anchor="ctr"/>
          <a:lstStyle/>
          <a:p>
            <a:pPr algn="ctr" indent="0" marL="0">
              <a:lnSpc>
                <a:spcPct val="112000"/>
              </a:lnSpc>
              <a:buNone/>
            </a:pPr>
            <a:r>
              <a:rPr lang="en-US" sz="2100" i="1" dirty="0">
                <a:solidFill>
                  <a:srgbClr val="FBF7F0"/>
                </a:solidFill>
                <a:latin typeface="Bookman Old Style" pitchFamily="34" charset="0"/>
                <a:ea typeface="Bookman Old Style" pitchFamily="34" charset="-122"/>
                <a:cs typeface="Bookman Old Style" pitchFamily="34" charset="-120"/>
              </a:rPr>
              <a:t>"Father, thank You for the opportunities technology provides to influence others for Your Kingdom. Help me represent Christ faithfully in every digital interaction. Guard my words, my attitudes, and my motives. Teach me to speak truth with love, to demonstrate grace in disagreement, and to encourage others consistently. May my online presence reflect Your character and point people toward Jesus. Use every platform You have entrusted to me for Your glory and the good of others. Through Christ my Lord, I pray. Amen."</a:t>
            </a:r>
            <a:endParaRPr lang="en-US" sz="2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822960" y="685800"/>
            <a:ext cx="1051560" cy="105156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60120"/>
            <a:ext cx="502920" cy="502920"/>
          </a:xfrm>
          <a:prstGeom prst="rect">
            <a:avLst/>
          </a:prstGeom>
        </p:spPr>
      </p:pic>
      <p:sp>
        <p:nvSpPr>
          <p:cNvPr id="4" name="Text 1"/>
          <p:cNvSpPr/>
          <p:nvPr/>
        </p:nvSpPr>
        <p:spPr>
          <a:xfrm>
            <a:off x="2103120" y="658368"/>
            <a:ext cx="9144000" cy="658368"/>
          </a:xfrm>
          <a:prstGeom prst="rect">
            <a:avLst/>
          </a:prstGeom>
          <a:noFill/>
          <a:ln/>
        </p:spPr>
        <p:txBody>
          <a:bodyPr wrap="square" rtlCol="0" anchor="ctr"/>
          <a:lstStyle/>
          <a:p>
            <a:pPr indent="0" marL="0">
              <a:buNone/>
            </a:pPr>
            <a:r>
              <a:rPr lang="en-US" sz="3400" b="1" dirty="0">
                <a:solidFill>
                  <a:srgbClr val="8F3B30"/>
                </a:solidFill>
                <a:latin typeface="Bookman Old Style" pitchFamily="34" charset="0"/>
                <a:ea typeface="Bookman Old Style" pitchFamily="34" charset="-122"/>
                <a:cs typeface="Bookman Old Style" pitchFamily="34" charset="-120"/>
              </a:rPr>
              <a:t>Action Challenge</a:t>
            </a:r>
            <a:endParaRPr lang="en-US" sz="3400" dirty="0"/>
          </a:p>
        </p:txBody>
      </p:sp>
      <p:sp>
        <p:nvSpPr>
          <p:cNvPr id="5" name="Text 2"/>
          <p:cNvSpPr/>
          <p:nvPr/>
        </p:nvSpPr>
        <p:spPr>
          <a:xfrm>
            <a:off x="2130552" y="1316736"/>
            <a:ext cx="9144000" cy="365760"/>
          </a:xfrm>
          <a:prstGeom prst="rect">
            <a:avLst/>
          </a:prstGeom>
          <a:noFill/>
          <a:ln/>
        </p:spPr>
        <p:txBody>
          <a:bodyPr wrap="square" rtlCol="0" anchor="ctr"/>
          <a:lstStyle/>
          <a:p>
            <a:pPr indent="0" marL="0">
              <a:buNone/>
            </a:pPr>
            <a:r>
              <a:rPr lang="en-US" sz="1500" i="1" dirty="0">
                <a:solidFill>
                  <a:srgbClr val="6E655C"/>
                </a:solidFill>
                <a:latin typeface="Calibri" pitchFamily="34" charset="0"/>
                <a:ea typeface="Calibri" pitchFamily="34" charset="-122"/>
                <a:cs typeface="Calibri" pitchFamily="34" charset="-120"/>
              </a:rPr>
              <a:t>One step to carry into the week</a:t>
            </a:r>
            <a:endParaRPr lang="en-US" sz="1500" dirty="0"/>
          </a:p>
        </p:txBody>
      </p:sp>
      <p:sp>
        <p:nvSpPr>
          <p:cNvPr id="6" name="Shape 3"/>
          <p:cNvSpPr/>
          <p:nvPr/>
        </p:nvSpPr>
        <p:spPr>
          <a:xfrm>
            <a:off x="868680" y="1920240"/>
            <a:ext cx="10424160" cy="3566160"/>
          </a:xfrm>
          <a:prstGeom prst="roundRect">
            <a:avLst>
              <a:gd name="adj" fmla="val 359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Shape 4"/>
          <p:cNvSpPr/>
          <p:nvPr/>
        </p:nvSpPr>
        <p:spPr>
          <a:xfrm>
            <a:off x="1371600" y="2514600"/>
            <a:ext cx="1371600" cy="1371600"/>
          </a:xfrm>
          <a:prstGeom prst="ellipse">
            <a:avLst/>
          </a:prstGeom>
          <a:solidFill>
            <a:srgbClr val="6B7A5E"/>
          </a:solidFill>
          <a:ln/>
          <a:effectLst>
            <a:outerShdw sx="100000" sy="100000" kx="0" ky="0" algn="bl" rotWithShape="0" blurRad="114300" dist="38100" dir="5400000">
              <a:srgbClr val="000000">
                <a:alpha val="12000"/>
              </a:srgbClr>
            </a:outerShdw>
          </a:effectLst>
        </p:spPr>
      </p:sp>
      <p:pic>
        <p:nvPicPr>
          <p:cNvPr id="8" name="Image 1" descr="preencoded.png">    </p:cNvPr>
          <p:cNvPicPr>
            <a:picLocks noChangeAspect="1"/>
          </p:cNvPicPr>
          <p:nvPr/>
        </p:nvPicPr>
        <p:blipFill>
          <a:blip r:embed="rId2"/>
          <a:stretch>
            <a:fillRect/>
          </a:stretch>
        </p:blipFill>
        <p:spPr>
          <a:xfrm>
            <a:off x="1737360" y="2880360"/>
            <a:ext cx="640080" cy="640080"/>
          </a:xfrm>
          <a:prstGeom prst="rect">
            <a:avLst/>
          </a:prstGeom>
        </p:spPr>
      </p:pic>
      <p:sp>
        <p:nvSpPr>
          <p:cNvPr id="9" name="Text 5"/>
          <p:cNvSpPr/>
          <p:nvPr/>
        </p:nvSpPr>
        <p:spPr>
          <a:xfrm>
            <a:off x="3108960" y="2286000"/>
            <a:ext cx="7772400" cy="2834640"/>
          </a:xfrm>
          <a:prstGeom prst="rect">
            <a:avLst/>
          </a:prstGeom>
          <a:noFill/>
          <a:ln/>
        </p:spPr>
        <p:txBody>
          <a:bodyPr wrap="square" rtlCol="0" anchor="ctr"/>
          <a:lstStyle/>
          <a:p>
            <a:pPr indent="0" marL="0">
              <a:lnSpc>
                <a:spcPct val="112000"/>
              </a:lnSpc>
              <a:buNone/>
            </a:pPr>
            <a:r>
              <a:rPr lang="en-US" sz="1800" dirty="0">
                <a:solidFill>
                  <a:srgbClr val="3A342E"/>
                </a:solidFill>
                <a:latin typeface="Calibri" pitchFamily="34" charset="0"/>
                <a:ea typeface="Calibri" pitchFamily="34" charset="-122"/>
                <a:cs typeface="Calibri" pitchFamily="34" charset="-120"/>
              </a:rPr>
              <a:t>This week, conduct a "Digital Witness Audit." Set aside honest, unhurried time to examine the trail you have already left online and the witness it bears. Begin by reviewing: Your social media profiles Your recent posts Your comments and replies Your emails Your public interactions and conversations As you review each one, ask: Then choose one intentional act of digital discipleship to carry out this week: Encourage someone privately. Share a testimony of what God has done. Offer to pray for someone, and then do it. Post a thoughtful biblical reflection. Engage respectfully with someone who disagrees with you. At week's end, return and reflect honestly on a single question: "How did my digital presence help others see Jesus more clearly?"</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4E5B44"/>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4E5B44"/>
          </a:solidFill>
          <a:ln/>
        </p:spPr>
      </p:sp>
      <p:pic>
        <p:nvPicPr>
          <p:cNvPr id="3" name="Image 0" descr="preencoded.png">    </p:cNvPr>
          <p:cNvPicPr>
            <a:picLocks noChangeAspect="1"/>
          </p:cNvPicPr>
          <p:nvPr/>
        </p:nvPicPr>
        <p:blipFill>
          <a:blip r:embed="rId1"/>
          <a:stretch>
            <a:fillRect/>
          </a:stretch>
        </p:blipFill>
        <p:spPr>
          <a:xfrm>
            <a:off x="5440680" y="1737360"/>
            <a:ext cx="1280160" cy="1280160"/>
          </a:xfrm>
          <a:prstGeom prst="rect">
            <a:avLst/>
          </a:prstGeom>
        </p:spPr>
      </p:pic>
      <p:sp>
        <p:nvSpPr>
          <p:cNvPr id="4" name="Text 1"/>
          <p:cNvSpPr/>
          <p:nvPr/>
        </p:nvSpPr>
        <p:spPr>
          <a:xfrm>
            <a:off x="0" y="3246120"/>
            <a:ext cx="12161520" cy="457200"/>
          </a:xfrm>
          <a:prstGeom prst="rect">
            <a:avLst/>
          </a:prstGeom>
          <a:noFill/>
          <a:ln/>
        </p:spPr>
        <p:txBody>
          <a:bodyPr wrap="square" rtlCol="0" anchor="ctr"/>
          <a:lstStyle/>
          <a:p>
            <a:pPr algn="ctr" indent="0" marL="0">
              <a:buNone/>
            </a:pPr>
            <a:r>
              <a:rPr lang="en-US" sz="1600" b="1" spc="200" kern="0" dirty="0">
                <a:solidFill>
                  <a:srgbClr val="C9A15A"/>
                </a:solidFill>
                <a:latin typeface="Calibri" pitchFamily="34" charset="0"/>
                <a:ea typeface="Calibri" pitchFamily="34" charset="-122"/>
                <a:cs typeface="Calibri" pitchFamily="34" charset="-120"/>
              </a:rPr>
              <a:t>Chapter 11</a:t>
            </a:r>
            <a:endParaRPr lang="en-US" sz="1600" dirty="0"/>
          </a:p>
        </p:txBody>
      </p:sp>
      <p:sp>
        <p:nvSpPr>
          <p:cNvPr id="5" name="Text 2"/>
          <p:cNvSpPr/>
          <p:nvPr/>
        </p:nvSpPr>
        <p:spPr>
          <a:xfrm>
            <a:off x="914400" y="3657600"/>
            <a:ext cx="10332720" cy="1005840"/>
          </a:xfrm>
          <a:prstGeom prst="rect">
            <a:avLst/>
          </a:prstGeom>
          <a:noFill/>
          <a:ln/>
        </p:spPr>
        <p:txBody>
          <a:bodyPr wrap="square" rtlCol="0" anchor="t"/>
          <a:lstStyle/>
          <a:p>
            <a:pPr algn="ctr" indent="0" marL="0">
              <a:lnSpc>
                <a:spcPct val="98000"/>
              </a:lnSpc>
              <a:buNone/>
            </a:pPr>
            <a:r>
              <a:rPr lang="en-US" sz="4000" b="1" dirty="0">
                <a:solidFill>
                  <a:srgbClr val="FBF7F0"/>
                </a:solidFill>
                <a:latin typeface="Bookman Old Style" pitchFamily="34" charset="0"/>
                <a:ea typeface="Bookman Old Style" pitchFamily="34" charset="-122"/>
                <a:cs typeface="Bookman Old Style" pitchFamily="34" charset="-120"/>
              </a:rPr>
              <a:t>Online Witness and Digital Discipleship</a:t>
            </a:r>
            <a:endParaRPr lang="en-US" sz="4000" dirty="0"/>
          </a:p>
        </p:txBody>
      </p:sp>
      <p:sp>
        <p:nvSpPr>
          <p:cNvPr id="6" name="Text 3"/>
          <p:cNvSpPr/>
          <p:nvPr/>
        </p:nvSpPr>
        <p:spPr>
          <a:xfrm>
            <a:off x="1371600" y="4892040"/>
            <a:ext cx="9418320" cy="822960"/>
          </a:xfrm>
          <a:prstGeom prst="rect">
            <a:avLst/>
          </a:prstGeom>
          <a:noFill/>
          <a:ln/>
        </p:spPr>
        <p:txBody>
          <a:bodyPr wrap="square" rtlCol="0" anchor="ctr"/>
          <a:lstStyle/>
          <a:p>
            <a:pPr algn="ctr" indent="0" marL="0">
              <a:buNone/>
            </a:pPr>
            <a:r>
              <a:rPr lang="en-US" sz="1800" i="1" dirty="0">
                <a:solidFill>
                  <a:srgbClr val="E7E8D1"/>
                </a:solidFill>
                <a:latin typeface="Bookman Old Style" pitchFamily="34" charset="0"/>
                <a:ea typeface="Bookman Old Style" pitchFamily="34" charset="-122"/>
                <a:cs typeface="Bookman Old Style" pitchFamily="34" charset="-120"/>
              </a:rPr>
              <a:t>Technology will keep changing.  The wisdom to navigate it faithfully will not.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Divine Design for the Digital Age — Chapter 11</dc:title>
  <dc:subject>PptxGenJS Presentation</dc:subject>
  <dc:creator>Rod Trent</dc:creator>
  <cp:lastModifiedBy>Rod Trent</cp:lastModifiedBy>
  <cp:revision>1</cp:revision>
  <dcterms:created xsi:type="dcterms:W3CDTF">2026-07-03T18:17:19Z</dcterms:created>
  <dcterms:modified xsi:type="dcterms:W3CDTF">2026-07-03T18:17:19Z</dcterms:modified>
</cp:coreProperties>
</file>