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6B4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5A6B4D"/>
          </a:solidFill>
          <a:ln/>
        </p:spPr>
      </p:sp>
      <p:sp>
        <p:nvSpPr>
          <p:cNvPr id="3" name="Shape 1"/>
          <p:cNvSpPr/>
          <p:nvPr/>
        </p:nvSpPr>
        <p:spPr>
          <a:xfrm>
            <a:off x="0" y="5349240"/>
            <a:ext cx="12161520" cy="1508760"/>
          </a:xfrm>
          <a:prstGeom prst="rect">
            <a:avLst/>
          </a:prstGeom>
          <a:solidFill>
            <a:srgbClr val="3E4A33"/>
          </a:solidFill>
          <a:ln/>
        </p:spPr>
      </p:sp>
      <p:sp>
        <p:nvSpPr>
          <p:cNvPr id="4" name="Shape 2"/>
          <p:cNvSpPr/>
          <p:nvPr/>
        </p:nvSpPr>
        <p:spPr>
          <a:xfrm>
            <a:off x="9326880" y="685800"/>
            <a:ext cx="1965960" cy="1965960"/>
          </a:xfrm>
          <a:prstGeom prst="ellipse">
            <a:avLst/>
          </a:prstGeom>
          <a:solidFill>
            <a:srgbClr val="3E4A33"/>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84080" y="1133856"/>
            <a:ext cx="1051560" cy="105156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Companion Resource</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Appendix C</a:t>
            </a:r>
            <a:endParaRPr lang="en-US" sz="3000" dirty="0"/>
          </a:p>
        </p:txBody>
      </p:sp>
      <p:sp>
        <p:nvSpPr>
          <p:cNvPr id="9" name="Text 6"/>
          <p:cNvSpPr/>
          <p:nvPr/>
        </p:nvSpPr>
        <p:spPr>
          <a:xfrm>
            <a:off x="777240" y="2926080"/>
            <a:ext cx="10607040" cy="2194560"/>
          </a:xfrm>
          <a:prstGeom prst="rect">
            <a:avLst/>
          </a:prstGeom>
          <a:noFill/>
          <a:ln/>
        </p:spPr>
        <p:txBody>
          <a:bodyPr wrap="square" rtlCol="0" anchor="t"/>
          <a:lstStyle/>
          <a:p>
            <a:pPr indent="0" marL="0">
              <a:lnSpc>
                <a:spcPct val="96000"/>
              </a:lnSpc>
              <a:buNone/>
            </a:pPr>
            <a:r>
              <a:rPr lang="en-US" sz="4600" b="1" dirty="0">
                <a:solidFill>
                  <a:srgbClr val="FBF9F3"/>
                </a:solidFill>
                <a:latin typeface="Bookman Old Style" pitchFamily="34" charset="0"/>
                <a:ea typeface="Bookman Old Style" pitchFamily="34" charset="-122"/>
                <a:cs typeface="Bookman Old Style" pitchFamily="34" charset="-120"/>
              </a:rPr>
              <a:t>30 Days of Digital Discipleship</a:t>
            </a:r>
            <a:endParaRPr lang="en-US" sz="4600" dirty="0"/>
          </a:p>
        </p:txBody>
      </p:sp>
      <p:sp>
        <p:nvSpPr>
          <p:cNvPr id="10" name="Text 7"/>
          <p:cNvSpPr/>
          <p:nvPr/>
        </p:nvSpPr>
        <p:spPr>
          <a:xfrm>
            <a:off x="868680" y="5715000"/>
            <a:ext cx="10058400" cy="822960"/>
          </a:xfrm>
          <a:prstGeom prst="rect">
            <a:avLst/>
          </a:prstGeom>
          <a:noFill/>
          <a:ln/>
        </p:spPr>
        <p:txBody>
          <a:bodyPr wrap="square" rtlCol="0" anchor="ctr"/>
          <a:lstStyle/>
          <a:p>
            <a:pPr indent="0" marL="0">
              <a:buNone/>
            </a:pPr>
            <a:r>
              <a:rPr lang="en-US" sz="1600" i="1" dirty="0">
                <a:solidFill>
                  <a:srgbClr val="E7E8D1"/>
                </a:solidFill>
                <a:latin typeface="Calibri" pitchFamily="34" charset="0"/>
                <a:ea typeface="Calibri" pitchFamily="34" charset="-122"/>
                <a:cs typeface="Calibri" pitchFamily="34" charset="-120"/>
              </a:rPr>
              <a:t>A One-Month Journey Toward Faithful Technology Stewardship</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How This Works</a:t>
            </a:r>
            <a:endParaRPr lang="en-US" sz="3300" dirty="0"/>
          </a:p>
        </p:txBody>
      </p:sp>
      <p:sp>
        <p:nvSpPr>
          <p:cNvPr id="5" name="Shape 2"/>
          <p:cNvSpPr/>
          <p:nvPr/>
        </p:nvSpPr>
        <p:spPr>
          <a:xfrm>
            <a:off x="868680" y="2011680"/>
            <a:ext cx="10424160" cy="3566160"/>
          </a:xfrm>
          <a:prstGeom prst="roundRect">
            <a:avLst>
              <a:gd name="adj" fmla="val 3590"/>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6" name="Text 3"/>
          <p:cNvSpPr/>
          <p:nvPr/>
        </p:nvSpPr>
        <p:spPr>
          <a:xfrm>
            <a:off x="1417320" y="2331720"/>
            <a:ext cx="9326880" cy="2926080"/>
          </a:xfrm>
          <a:prstGeom prst="rect">
            <a:avLst/>
          </a:prstGeom>
          <a:noFill/>
          <a:ln/>
        </p:spPr>
        <p:txBody>
          <a:bodyPr wrap="square" rtlCol="0" anchor="ctr"/>
          <a:lstStyle/>
          <a:p>
            <a:pPr indent="0" marL="0">
              <a:lnSpc>
                <a:spcPct val="114000"/>
              </a:lnSpc>
              <a:buNone/>
            </a:pPr>
            <a:r>
              <a:rPr lang="en-US" sz="1800" dirty="0">
                <a:solidFill>
                  <a:srgbClr val="37352E"/>
                </a:solidFill>
                <a:latin typeface="Calibri" pitchFamily="34" charset="0"/>
                <a:ea typeface="Calibri" pitchFamily="34" charset="-122"/>
                <a:cs typeface="Calibri" pitchFamily="34" charset="-120"/>
              </a:rPr>
              <a:t>Spiritual growth rarely happens accidentally, and neither does digital maturity. Most people drift into technology habits: notifications accumulate, screen time expands, attention fragments, entertainment increases, relationships suffer, and spiritual disciplines weaken. The purpose of this 30-day journey is not to reject technology but to redeem your relationship with it. For the next thirty days, you will intentionally examine how technology shapes your heart, attention, habits, relationships, and faith. Some days will require reflection, some will require action, and some may feel uncomfortable, that is often where growth begins. Do not focus on perfection. Focus on progress, one faithful step at a time.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A6B4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5A6B4D"/>
          </a:solidFill>
          <a:ln/>
        </p:spPr>
      </p:sp>
      <p:pic>
        <p:nvPicPr>
          <p:cNvPr id="3" name="Image 0" descr="preencoded.png">    </p:cNvPr>
          <p:cNvPicPr>
            <a:picLocks noChangeAspect="1"/>
          </p:cNvPicPr>
          <p:nvPr/>
        </p:nvPicPr>
        <p:blipFill>
          <a:blip r:embed="rId1"/>
          <a:stretch>
            <a:fillRect/>
          </a:stretch>
        </p:blipFill>
        <p:spPr>
          <a:xfrm>
            <a:off x="868680" y="2148840"/>
            <a:ext cx="1371600" cy="1371600"/>
          </a:xfrm>
          <a:prstGeom prst="rect">
            <a:avLst/>
          </a:prstGeom>
        </p:spPr>
      </p:pic>
      <p:sp>
        <p:nvSpPr>
          <p:cNvPr id="4" name="Text 1"/>
          <p:cNvSpPr/>
          <p:nvPr/>
        </p:nvSpPr>
        <p:spPr>
          <a:xfrm>
            <a:off x="868680" y="3703320"/>
            <a:ext cx="10058400" cy="502920"/>
          </a:xfrm>
          <a:prstGeom prst="rect">
            <a:avLst/>
          </a:prstGeom>
          <a:noFill/>
          <a:ln/>
        </p:spPr>
        <p:txBody>
          <a:bodyPr wrap="square" rtlCol="0" anchor="ctr"/>
          <a:lstStyle/>
          <a:p>
            <a:pPr indent="0" marL="0">
              <a:buNone/>
            </a:pPr>
            <a:r>
              <a:rPr lang="en-US" sz="1800" b="1" spc="200" kern="0" dirty="0">
                <a:solidFill>
                  <a:srgbClr val="C9A15A"/>
                </a:solidFill>
                <a:latin typeface="Calibri" pitchFamily="34" charset="0"/>
                <a:ea typeface="Calibri" pitchFamily="34" charset="-122"/>
                <a:cs typeface="Calibri" pitchFamily="34" charset="-120"/>
              </a:rPr>
              <a:t>WEEK ONE</a:t>
            </a:r>
            <a:endParaRPr lang="en-US" sz="1800" dirty="0"/>
          </a:p>
        </p:txBody>
      </p:sp>
      <p:sp>
        <p:nvSpPr>
          <p:cNvPr id="5" name="Text 2"/>
          <p:cNvSpPr/>
          <p:nvPr/>
        </p:nvSpPr>
        <p:spPr>
          <a:xfrm>
            <a:off x="822960" y="4114800"/>
            <a:ext cx="10515600" cy="822960"/>
          </a:xfrm>
          <a:prstGeom prst="rect">
            <a:avLst/>
          </a:prstGeom>
          <a:noFill/>
          <a:ln/>
        </p:spPr>
        <p:txBody>
          <a:bodyPr wrap="square" rtlCol="0" anchor="ctr"/>
          <a:lstStyle/>
          <a:p>
            <a:pPr indent="0" marL="0">
              <a:buNone/>
            </a:pPr>
            <a:r>
              <a:rPr lang="en-US" sz="4000" b="1" dirty="0">
                <a:solidFill>
                  <a:srgbClr val="FBF9F3"/>
                </a:solidFill>
                <a:latin typeface="Bookman Old Style" pitchFamily="34" charset="0"/>
                <a:ea typeface="Bookman Old Style" pitchFamily="34" charset="-122"/>
                <a:cs typeface="Bookman Old Style" pitchFamily="34" charset="-120"/>
              </a:rPr>
              <a:t>Examining the Heart</a:t>
            </a:r>
            <a:endParaRPr lang="en-US" sz="4000" dirty="0"/>
          </a:p>
        </p:txBody>
      </p:sp>
      <p:sp>
        <p:nvSpPr>
          <p:cNvPr id="6" name="Text 3"/>
          <p:cNvSpPr/>
          <p:nvPr/>
        </p:nvSpPr>
        <p:spPr>
          <a:xfrm>
            <a:off x="868680" y="5074920"/>
            <a:ext cx="10241280" cy="1280160"/>
          </a:xfrm>
          <a:prstGeom prst="rect">
            <a:avLst/>
          </a:prstGeom>
          <a:noFill/>
          <a:ln/>
        </p:spPr>
        <p:txBody>
          <a:bodyPr wrap="square" rtlCol="0" anchor="ctr"/>
          <a:lstStyle/>
          <a:p>
            <a:pPr indent="0" marL="0">
              <a:lnSpc>
                <a:spcPct val="110000"/>
              </a:lnSpc>
              <a:buNone/>
            </a:pPr>
            <a:r>
              <a:rPr lang="en-US" sz="1600" i="1" dirty="0">
                <a:solidFill>
                  <a:srgbClr val="E7E8D1"/>
                </a:solidFill>
                <a:latin typeface="Calibri" pitchFamily="34" charset="0"/>
                <a:ea typeface="Calibri" pitchFamily="34" charset="-122"/>
                <a:cs typeface="Calibri" pitchFamily="34" charset="-120"/>
              </a:rPr>
              <a:t>The first week turns attention inward. Before changing any habits, you will simply notice them, naming where your time, attention, and trust actually go, and inviting God to begin showing you what needs to change.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Week ONE</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Examining the Heart</a:t>
            </a:r>
            <a:endParaRPr lang="en-US" sz="1500" dirty="0"/>
          </a:p>
        </p:txBody>
      </p:sp>
      <p:sp>
        <p:nvSpPr>
          <p:cNvPr id="6" name="Shape 3"/>
          <p:cNvSpPr/>
          <p:nvPr/>
        </p:nvSpPr>
        <p:spPr>
          <a:xfrm>
            <a:off x="868680" y="1965960"/>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097280" y="2167128"/>
            <a:ext cx="566928" cy="566928"/>
          </a:xfrm>
          <a:prstGeom prst="ellipse">
            <a:avLst/>
          </a:prstGeom>
          <a:solidFill>
            <a:srgbClr val="B85042"/>
          </a:solidFill>
          <a:ln/>
        </p:spPr>
      </p:sp>
      <p:sp>
        <p:nvSpPr>
          <p:cNvPr id="8" name="Text 5"/>
          <p:cNvSpPr/>
          <p:nvPr/>
        </p:nvSpPr>
        <p:spPr>
          <a:xfrm>
            <a:off x="1097280" y="2167128"/>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1</a:t>
            </a:r>
            <a:endParaRPr lang="en-US" sz="2000" dirty="0"/>
          </a:p>
        </p:txBody>
      </p:sp>
      <p:sp>
        <p:nvSpPr>
          <p:cNvPr id="9" name="Text 6"/>
          <p:cNvSpPr/>
          <p:nvPr/>
        </p:nvSpPr>
        <p:spPr>
          <a:xfrm>
            <a:off x="1874520" y="2075688"/>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Technology Inventory</a:t>
            </a:r>
            <a:endParaRPr lang="en-US" sz="1500" dirty="0"/>
          </a:p>
        </p:txBody>
      </p:sp>
      <p:sp>
        <p:nvSpPr>
          <p:cNvPr id="10" name="Text 7"/>
          <p:cNvSpPr/>
          <p:nvPr/>
        </p:nvSpPr>
        <p:spPr>
          <a:xfrm>
            <a:off x="1874520" y="2423160"/>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Record: Daily screen time, Social media platforms, AI tools used, Streaming services, News sources, Communication apps. Ask: What role does technology currently play in my life?</a:t>
            </a:r>
            <a:endParaRPr lang="en-US" sz="1150" dirty="0"/>
          </a:p>
        </p:txBody>
      </p:sp>
      <p:sp>
        <p:nvSpPr>
          <p:cNvPr id="11" name="Text 8"/>
          <p:cNvSpPr/>
          <p:nvPr/>
        </p:nvSpPr>
        <p:spPr>
          <a:xfrm>
            <a:off x="9601200" y="2075688"/>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Psalm 139:23-24 Prayer: Ask God to reveal unhealthy patterns</a:t>
            </a:r>
            <a:endParaRPr lang="en-US" sz="1100" dirty="0"/>
          </a:p>
        </p:txBody>
      </p:sp>
      <p:sp>
        <p:nvSpPr>
          <p:cNvPr id="12" name="Shape 9"/>
          <p:cNvSpPr/>
          <p:nvPr/>
        </p:nvSpPr>
        <p:spPr>
          <a:xfrm>
            <a:off x="868680" y="3054096"/>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Shape 10"/>
          <p:cNvSpPr/>
          <p:nvPr/>
        </p:nvSpPr>
        <p:spPr>
          <a:xfrm>
            <a:off x="1097280" y="3255264"/>
            <a:ext cx="566928" cy="566928"/>
          </a:xfrm>
          <a:prstGeom prst="ellipse">
            <a:avLst/>
          </a:prstGeom>
          <a:solidFill>
            <a:srgbClr val="B85042"/>
          </a:solidFill>
          <a:ln/>
        </p:spPr>
      </p:sp>
      <p:sp>
        <p:nvSpPr>
          <p:cNvPr id="14" name="Text 11"/>
          <p:cNvSpPr/>
          <p:nvPr/>
        </p:nvSpPr>
        <p:spPr>
          <a:xfrm>
            <a:off x="1097280" y="3255264"/>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2</a:t>
            </a:r>
            <a:endParaRPr lang="en-US" sz="2000" dirty="0"/>
          </a:p>
        </p:txBody>
      </p:sp>
      <p:sp>
        <p:nvSpPr>
          <p:cNvPr id="15" name="Text 12"/>
          <p:cNvSpPr/>
          <p:nvPr/>
        </p:nvSpPr>
        <p:spPr>
          <a:xfrm>
            <a:off x="1874520" y="3163824"/>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Attention Audit</a:t>
            </a:r>
            <a:endParaRPr lang="en-US" sz="1500" dirty="0"/>
          </a:p>
        </p:txBody>
      </p:sp>
      <p:sp>
        <p:nvSpPr>
          <p:cNvPr id="16" name="Text 13"/>
          <p:cNvSpPr/>
          <p:nvPr/>
        </p:nvSpPr>
        <p:spPr>
          <a:xfrm>
            <a:off x="1874520" y="3511296"/>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Track where your attention goes today. At the end of the day ask: What captured most of my attention? What distracted me from God? What distracted me from people?</a:t>
            </a:r>
            <a:endParaRPr lang="en-US" sz="1150" dirty="0"/>
          </a:p>
        </p:txBody>
      </p:sp>
      <p:sp>
        <p:nvSpPr>
          <p:cNvPr id="17" name="Text 14"/>
          <p:cNvSpPr/>
          <p:nvPr/>
        </p:nvSpPr>
        <p:spPr>
          <a:xfrm>
            <a:off x="9601200" y="3163824"/>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Luke 10:38-42</a:t>
            </a:r>
            <a:endParaRPr lang="en-US" sz="1100" dirty="0"/>
          </a:p>
        </p:txBody>
      </p:sp>
      <p:sp>
        <p:nvSpPr>
          <p:cNvPr id="18" name="Shape 15"/>
          <p:cNvSpPr/>
          <p:nvPr/>
        </p:nvSpPr>
        <p:spPr>
          <a:xfrm>
            <a:off x="868680" y="4142232"/>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Shape 16"/>
          <p:cNvSpPr/>
          <p:nvPr/>
        </p:nvSpPr>
        <p:spPr>
          <a:xfrm>
            <a:off x="1097280" y="4343400"/>
            <a:ext cx="566928" cy="566928"/>
          </a:xfrm>
          <a:prstGeom prst="ellipse">
            <a:avLst/>
          </a:prstGeom>
          <a:solidFill>
            <a:srgbClr val="B85042"/>
          </a:solidFill>
          <a:ln/>
        </p:spPr>
      </p:sp>
      <p:sp>
        <p:nvSpPr>
          <p:cNvPr id="20" name="Text 17"/>
          <p:cNvSpPr/>
          <p:nvPr/>
        </p:nvSpPr>
        <p:spPr>
          <a:xfrm>
            <a:off x="1097280" y="4343400"/>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3</a:t>
            </a:r>
            <a:endParaRPr lang="en-US" sz="2000" dirty="0"/>
          </a:p>
        </p:txBody>
      </p:sp>
      <p:sp>
        <p:nvSpPr>
          <p:cNvPr id="21" name="Text 18"/>
          <p:cNvSpPr/>
          <p:nvPr/>
        </p:nvSpPr>
        <p:spPr>
          <a:xfrm>
            <a:off x="1874520" y="4251960"/>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Notification Fast</a:t>
            </a:r>
            <a:endParaRPr lang="en-US" sz="1500" dirty="0"/>
          </a:p>
        </p:txBody>
      </p:sp>
      <p:sp>
        <p:nvSpPr>
          <p:cNvPr id="22" name="Text 19"/>
          <p:cNvSpPr/>
          <p:nvPr/>
        </p:nvSpPr>
        <p:spPr>
          <a:xfrm>
            <a:off x="1874520" y="4599432"/>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Disable all nonessential notifications for 24 hours. Notice: Anxiety, Relief, Habitual checking.</a:t>
            </a:r>
            <a:endParaRPr lang="en-US" sz="1150" dirty="0"/>
          </a:p>
        </p:txBody>
      </p:sp>
      <p:sp>
        <p:nvSpPr>
          <p:cNvPr id="23" name="Text 20"/>
          <p:cNvSpPr/>
          <p:nvPr/>
        </p:nvSpPr>
        <p:spPr>
          <a:xfrm>
            <a:off x="9601200" y="4251960"/>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Psalm 46:10</a:t>
            </a:r>
            <a:endParaRPr lang="en-US" sz="1100" dirty="0"/>
          </a:p>
        </p:txBody>
      </p:sp>
      <p:sp>
        <p:nvSpPr>
          <p:cNvPr id="24" name="Shape 21"/>
          <p:cNvSpPr/>
          <p:nvPr/>
        </p:nvSpPr>
        <p:spPr>
          <a:xfrm>
            <a:off x="868680" y="5230368"/>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5" name="Shape 22"/>
          <p:cNvSpPr/>
          <p:nvPr/>
        </p:nvSpPr>
        <p:spPr>
          <a:xfrm>
            <a:off x="1097280" y="5431536"/>
            <a:ext cx="566928" cy="566928"/>
          </a:xfrm>
          <a:prstGeom prst="ellipse">
            <a:avLst/>
          </a:prstGeom>
          <a:solidFill>
            <a:srgbClr val="B85042"/>
          </a:solidFill>
          <a:ln/>
        </p:spPr>
      </p:sp>
      <p:sp>
        <p:nvSpPr>
          <p:cNvPr id="26" name="Text 23"/>
          <p:cNvSpPr/>
          <p:nvPr/>
        </p:nvSpPr>
        <p:spPr>
          <a:xfrm>
            <a:off x="1097280" y="5431536"/>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4</a:t>
            </a:r>
            <a:endParaRPr lang="en-US" sz="2000" dirty="0"/>
          </a:p>
        </p:txBody>
      </p:sp>
      <p:sp>
        <p:nvSpPr>
          <p:cNvPr id="27" name="Text 24"/>
          <p:cNvSpPr/>
          <p:nvPr/>
        </p:nvSpPr>
        <p:spPr>
          <a:xfrm>
            <a:off x="1874520" y="5340096"/>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Information or Wisdom?</a:t>
            </a:r>
            <a:endParaRPr lang="en-US" sz="1500" dirty="0"/>
          </a:p>
        </p:txBody>
      </p:sp>
      <p:sp>
        <p:nvSpPr>
          <p:cNvPr id="28" name="Text 25"/>
          <p:cNvSpPr/>
          <p:nvPr/>
        </p:nvSpPr>
        <p:spPr>
          <a:xfrm>
            <a:off x="1874520" y="5687568"/>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Review everything you consumed yesterday. Ask: Did this make me wiser? Or simply more informed?</a:t>
            </a:r>
            <a:endParaRPr lang="en-US" sz="1150" dirty="0"/>
          </a:p>
        </p:txBody>
      </p:sp>
      <p:sp>
        <p:nvSpPr>
          <p:cNvPr id="29" name="Text 26"/>
          <p:cNvSpPr/>
          <p:nvPr/>
        </p:nvSpPr>
        <p:spPr>
          <a:xfrm>
            <a:off x="9601200" y="5340096"/>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Proverbs 9:10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Week ONE</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Examining the Heart</a:t>
            </a:r>
            <a:endParaRPr lang="en-US" sz="1500" dirty="0"/>
          </a:p>
        </p:txBody>
      </p:sp>
      <p:sp>
        <p:nvSpPr>
          <p:cNvPr id="6" name="Shape 3"/>
          <p:cNvSpPr/>
          <p:nvPr/>
        </p:nvSpPr>
        <p:spPr>
          <a:xfrm>
            <a:off x="868680" y="1965960"/>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097280" y="2167128"/>
            <a:ext cx="566928" cy="566928"/>
          </a:xfrm>
          <a:prstGeom prst="ellipse">
            <a:avLst/>
          </a:prstGeom>
          <a:solidFill>
            <a:srgbClr val="B85042"/>
          </a:solidFill>
          <a:ln/>
        </p:spPr>
      </p:sp>
      <p:sp>
        <p:nvSpPr>
          <p:cNvPr id="8" name="Text 5"/>
          <p:cNvSpPr/>
          <p:nvPr/>
        </p:nvSpPr>
        <p:spPr>
          <a:xfrm>
            <a:off x="1097280" y="2167128"/>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5</a:t>
            </a:r>
            <a:endParaRPr lang="en-US" sz="2000" dirty="0"/>
          </a:p>
        </p:txBody>
      </p:sp>
      <p:sp>
        <p:nvSpPr>
          <p:cNvPr id="9" name="Text 6"/>
          <p:cNvSpPr/>
          <p:nvPr/>
        </p:nvSpPr>
        <p:spPr>
          <a:xfrm>
            <a:off x="1874520" y="2075688"/>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The Idolatry Check</a:t>
            </a:r>
            <a:endParaRPr lang="en-US" sz="1500" dirty="0"/>
          </a:p>
        </p:txBody>
      </p:sp>
      <p:sp>
        <p:nvSpPr>
          <p:cNvPr id="10" name="Text 7"/>
          <p:cNvSpPr/>
          <p:nvPr/>
        </p:nvSpPr>
        <p:spPr>
          <a:xfrm>
            <a:off x="1874520" y="2423160"/>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Complete this sentence: "I feel anxious when I cannot access ______." Examine whether technology has become a source of security.</a:t>
            </a:r>
            <a:endParaRPr lang="en-US" sz="1150" dirty="0"/>
          </a:p>
        </p:txBody>
      </p:sp>
      <p:sp>
        <p:nvSpPr>
          <p:cNvPr id="11" name="Text 8"/>
          <p:cNvSpPr/>
          <p:nvPr/>
        </p:nvSpPr>
        <p:spPr>
          <a:xfrm>
            <a:off x="9601200" y="2075688"/>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Exodus 20:3</a:t>
            </a:r>
            <a:endParaRPr lang="en-US" sz="1100" dirty="0"/>
          </a:p>
        </p:txBody>
      </p:sp>
      <p:sp>
        <p:nvSpPr>
          <p:cNvPr id="12" name="Shape 9"/>
          <p:cNvSpPr/>
          <p:nvPr/>
        </p:nvSpPr>
        <p:spPr>
          <a:xfrm>
            <a:off x="868680" y="3054096"/>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Shape 10"/>
          <p:cNvSpPr/>
          <p:nvPr/>
        </p:nvSpPr>
        <p:spPr>
          <a:xfrm>
            <a:off x="1097280" y="3255264"/>
            <a:ext cx="566928" cy="566928"/>
          </a:xfrm>
          <a:prstGeom prst="ellipse">
            <a:avLst/>
          </a:prstGeom>
          <a:solidFill>
            <a:srgbClr val="B85042"/>
          </a:solidFill>
          <a:ln/>
        </p:spPr>
      </p:sp>
      <p:sp>
        <p:nvSpPr>
          <p:cNvPr id="14" name="Text 11"/>
          <p:cNvSpPr/>
          <p:nvPr/>
        </p:nvSpPr>
        <p:spPr>
          <a:xfrm>
            <a:off x="1097280" y="3255264"/>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6</a:t>
            </a:r>
            <a:endParaRPr lang="en-US" sz="2000" dirty="0"/>
          </a:p>
        </p:txBody>
      </p:sp>
      <p:sp>
        <p:nvSpPr>
          <p:cNvPr id="15" name="Text 12"/>
          <p:cNvSpPr/>
          <p:nvPr/>
        </p:nvSpPr>
        <p:spPr>
          <a:xfrm>
            <a:off x="1874520" y="3163824"/>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Digital Gratitude</a:t>
            </a:r>
            <a:endParaRPr lang="en-US" sz="1500" dirty="0"/>
          </a:p>
        </p:txBody>
      </p:sp>
      <p:sp>
        <p:nvSpPr>
          <p:cNvPr id="16" name="Text 13"/>
          <p:cNvSpPr/>
          <p:nvPr/>
        </p:nvSpPr>
        <p:spPr>
          <a:xfrm>
            <a:off x="1874520" y="3511296"/>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List five ways technology has blessed your life. Thank God for each one. Stewardship begins with gratitude.</a:t>
            </a:r>
            <a:endParaRPr lang="en-US" sz="1150" dirty="0"/>
          </a:p>
        </p:txBody>
      </p:sp>
      <p:sp>
        <p:nvSpPr>
          <p:cNvPr id="17" name="Text 14"/>
          <p:cNvSpPr/>
          <p:nvPr/>
        </p:nvSpPr>
        <p:spPr>
          <a:xfrm>
            <a:off x="9601200" y="3163824"/>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James 1:17</a:t>
            </a:r>
            <a:endParaRPr lang="en-US" sz="1100" dirty="0"/>
          </a:p>
        </p:txBody>
      </p:sp>
      <p:sp>
        <p:nvSpPr>
          <p:cNvPr id="18" name="Shape 15"/>
          <p:cNvSpPr/>
          <p:nvPr/>
        </p:nvSpPr>
        <p:spPr>
          <a:xfrm>
            <a:off x="868680" y="4142232"/>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Shape 16"/>
          <p:cNvSpPr/>
          <p:nvPr/>
        </p:nvSpPr>
        <p:spPr>
          <a:xfrm>
            <a:off x="1097280" y="4343400"/>
            <a:ext cx="566928" cy="566928"/>
          </a:xfrm>
          <a:prstGeom prst="ellipse">
            <a:avLst/>
          </a:prstGeom>
          <a:solidFill>
            <a:srgbClr val="B85042"/>
          </a:solidFill>
          <a:ln/>
        </p:spPr>
      </p:sp>
      <p:sp>
        <p:nvSpPr>
          <p:cNvPr id="20" name="Text 17"/>
          <p:cNvSpPr/>
          <p:nvPr/>
        </p:nvSpPr>
        <p:spPr>
          <a:xfrm>
            <a:off x="1097280" y="4343400"/>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7</a:t>
            </a:r>
            <a:endParaRPr lang="en-US" sz="2000" dirty="0"/>
          </a:p>
        </p:txBody>
      </p:sp>
      <p:sp>
        <p:nvSpPr>
          <p:cNvPr id="21" name="Text 18"/>
          <p:cNvSpPr/>
          <p:nvPr/>
        </p:nvSpPr>
        <p:spPr>
          <a:xfrm>
            <a:off x="1874520" y="4251960"/>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Weekly Reflection</a:t>
            </a:r>
            <a:endParaRPr lang="en-US" sz="1500" dirty="0"/>
          </a:p>
        </p:txBody>
      </p:sp>
      <p:sp>
        <p:nvSpPr>
          <p:cNvPr id="22" name="Text 19"/>
          <p:cNvSpPr/>
          <p:nvPr/>
        </p:nvSpPr>
        <p:spPr>
          <a:xfrm>
            <a:off x="1874520" y="4599432"/>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Journal: What surprised me this week? What concerns me? What encourages me? Prayer: Ask God for wisdom.</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5A6B4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5A6B4D"/>
          </a:solidFill>
          <a:ln/>
        </p:spPr>
      </p:sp>
      <p:pic>
        <p:nvPicPr>
          <p:cNvPr id="3" name="Image 0" descr="preencoded.png">    </p:cNvPr>
          <p:cNvPicPr>
            <a:picLocks noChangeAspect="1"/>
          </p:cNvPicPr>
          <p:nvPr/>
        </p:nvPicPr>
        <p:blipFill>
          <a:blip r:embed="rId1"/>
          <a:stretch>
            <a:fillRect/>
          </a:stretch>
        </p:blipFill>
        <p:spPr>
          <a:xfrm>
            <a:off x="868680" y="2148840"/>
            <a:ext cx="1371600" cy="1371600"/>
          </a:xfrm>
          <a:prstGeom prst="rect">
            <a:avLst/>
          </a:prstGeom>
        </p:spPr>
      </p:pic>
      <p:sp>
        <p:nvSpPr>
          <p:cNvPr id="4" name="Text 1"/>
          <p:cNvSpPr/>
          <p:nvPr/>
        </p:nvSpPr>
        <p:spPr>
          <a:xfrm>
            <a:off x="868680" y="3703320"/>
            <a:ext cx="10058400" cy="502920"/>
          </a:xfrm>
          <a:prstGeom prst="rect">
            <a:avLst/>
          </a:prstGeom>
          <a:noFill/>
          <a:ln/>
        </p:spPr>
        <p:txBody>
          <a:bodyPr wrap="square" rtlCol="0" anchor="ctr"/>
          <a:lstStyle/>
          <a:p>
            <a:pPr indent="0" marL="0">
              <a:buNone/>
            </a:pPr>
            <a:r>
              <a:rPr lang="en-US" sz="1800" b="1" spc="200" kern="0" dirty="0">
                <a:solidFill>
                  <a:srgbClr val="C9A15A"/>
                </a:solidFill>
                <a:latin typeface="Calibri" pitchFamily="34" charset="0"/>
                <a:ea typeface="Calibri" pitchFamily="34" charset="-122"/>
                <a:cs typeface="Calibri" pitchFamily="34" charset="-120"/>
              </a:rPr>
              <a:t>WEEK TWO</a:t>
            </a:r>
            <a:endParaRPr lang="en-US" sz="1800" dirty="0"/>
          </a:p>
        </p:txBody>
      </p:sp>
      <p:sp>
        <p:nvSpPr>
          <p:cNvPr id="5" name="Text 2"/>
          <p:cNvSpPr/>
          <p:nvPr/>
        </p:nvSpPr>
        <p:spPr>
          <a:xfrm>
            <a:off x="822960" y="4114800"/>
            <a:ext cx="10515600" cy="822960"/>
          </a:xfrm>
          <a:prstGeom prst="rect">
            <a:avLst/>
          </a:prstGeom>
          <a:noFill/>
          <a:ln/>
        </p:spPr>
        <p:txBody>
          <a:bodyPr wrap="square" rtlCol="0" anchor="ctr"/>
          <a:lstStyle/>
          <a:p>
            <a:pPr indent="0" marL="0">
              <a:buNone/>
            </a:pPr>
            <a:r>
              <a:rPr lang="en-US" sz="4000" b="1" dirty="0">
                <a:solidFill>
                  <a:srgbClr val="FBF9F3"/>
                </a:solidFill>
                <a:latin typeface="Bookman Old Style" pitchFamily="34" charset="0"/>
                <a:ea typeface="Bookman Old Style" pitchFamily="34" charset="-122"/>
                <a:cs typeface="Bookman Old Style" pitchFamily="34" charset="-120"/>
              </a:rPr>
              <a:t>Guarding the Mind</a:t>
            </a:r>
            <a:endParaRPr lang="en-US" sz="4000" dirty="0"/>
          </a:p>
        </p:txBody>
      </p:sp>
      <p:sp>
        <p:nvSpPr>
          <p:cNvPr id="6" name="Text 3"/>
          <p:cNvSpPr/>
          <p:nvPr/>
        </p:nvSpPr>
        <p:spPr>
          <a:xfrm>
            <a:off x="868680" y="5074920"/>
            <a:ext cx="10241280" cy="1280160"/>
          </a:xfrm>
          <a:prstGeom prst="rect">
            <a:avLst/>
          </a:prstGeom>
          <a:noFill/>
          <a:ln/>
        </p:spPr>
        <p:txBody>
          <a:bodyPr wrap="square" rtlCol="0" anchor="ctr"/>
          <a:lstStyle/>
          <a:p>
            <a:pPr indent="0" marL="0">
              <a:lnSpc>
                <a:spcPct val="110000"/>
              </a:lnSpc>
              <a:buNone/>
            </a:pPr>
            <a:r>
              <a:rPr lang="en-US" sz="1600" i="1" dirty="0">
                <a:solidFill>
                  <a:srgbClr val="E7E8D1"/>
                </a:solidFill>
                <a:latin typeface="Calibri" pitchFamily="34" charset="0"/>
                <a:ea typeface="Calibri" pitchFamily="34" charset="-122"/>
                <a:cs typeface="Calibri" pitchFamily="34" charset="-120"/>
              </a:rPr>
              <a:t>The second week shifts from attention to input, what you read, watch, scroll, and believe. Guarding the mind is a biblical discipline long before it was a digital one, and this week asks what is actually shaping your thinking day to day.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Week TWO</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Guarding the Mind</a:t>
            </a:r>
            <a:endParaRPr lang="en-US" sz="1500" dirty="0"/>
          </a:p>
        </p:txBody>
      </p:sp>
      <p:sp>
        <p:nvSpPr>
          <p:cNvPr id="6" name="Shape 3"/>
          <p:cNvSpPr/>
          <p:nvPr/>
        </p:nvSpPr>
        <p:spPr>
          <a:xfrm>
            <a:off x="868680" y="1965960"/>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097280" y="2167128"/>
            <a:ext cx="566928" cy="566928"/>
          </a:xfrm>
          <a:prstGeom prst="ellipse">
            <a:avLst/>
          </a:prstGeom>
          <a:solidFill>
            <a:srgbClr val="B85042"/>
          </a:solidFill>
          <a:ln/>
        </p:spPr>
      </p:sp>
      <p:sp>
        <p:nvSpPr>
          <p:cNvPr id="8" name="Text 5"/>
          <p:cNvSpPr/>
          <p:nvPr/>
        </p:nvSpPr>
        <p:spPr>
          <a:xfrm>
            <a:off x="1097280" y="2167128"/>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8</a:t>
            </a:r>
            <a:endParaRPr lang="en-US" sz="2000" dirty="0"/>
          </a:p>
        </p:txBody>
      </p:sp>
      <p:sp>
        <p:nvSpPr>
          <p:cNvPr id="9" name="Text 6"/>
          <p:cNvSpPr/>
          <p:nvPr/>
        </p:nvSpPr>
        <p:spPr>
          <a:xfrm>
            <a:off x="1874520" y="2075688"/>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Truth Audit</a:t>
            </a:r>
            <a:endParaRPr lang="en-US" sz="1500" dirty="0"/>
          </a:p>
        </p:txBody>
      </p:sp>
      <p:sp>
        <p:nvSpPr>
          <p:cNvPr id="10" name="Text 7"/>
          <p:cNvSpPr/>
          <p:nvPr/>
        </p:nvSpPr>
        <p:spPr>
          <a:xfrm>
            <a:off x="1874520" y="2423160"/>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Evaluate your primary news and information sources. Ask: Are they trustworthy? Are they balanced? Do they encourage wisdom?</a:t>
            </a:r>
            <a:endParaRPr lang="en-US" sz="1150" dirty="0"/>
          </a:p>
        </p:txBody>
      </p:sp>
      <p:sp>
        <p:nvSpPr>
          <p:cNvPr id="11" name="Text 8"/>
          <p:cNvSpPr/>
          <p:nvPr/>
        </p:nvSpPr>
        <p:spPr>
          <a:xfrm>
            <a:off x="9601200" y="2075688"/>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Philippians 4:8</a:t>
            </a:r>
            <a:endParaRPr lang="en-US" sz="1100" dirty="0"/>
          </a:p>
        </p:txBody>
      </p:sp>
      <p:sp>
        <p:nvSpPr>
          <p:cNvPr id="12" name="Shape 9"/>
          <p:cNvSpPr/>
          <p:nvPr/>
        </p:nvSpPr>
        <p:spPr>
          <a:xfrm>
            <a:off x="868680" y="3054096"/>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Shape 10"/>
          <p:cNvSpPr/>
          <p:nvPr/>
        </p:nvSpPr>
        <p:spPr>
          <a:xfrm>
            <a:off x="1097280" y="3255264"/>
            <a:ext cx="566928" cy="566928"/>
          </a:xfrm>
          <a:prstGeom prst="ellipse">
            <a:avLst/>
          </a:prstGeom>
          <a:solidFill>
            <a:srgbClr val="B85042"/>
          </a:solidFill>
          <a:ln/>
        </p:spPr>
      </p:sp>
      <p:sp>
        <p:nvSpPr>
          <p:cNvPr id="14" name="Text 11"/>
          <p:cNvSpPr/>
          <p:nvPr/>
        </p:nvSpPr>
        <p:spPr>
          <a:xfrm>
            <a:off x="1097280" y="3255264"/>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9</a:t>
            </a:r>
            <a:endParaRPr lang="en-US" sz="2000" dirty="0"/>
          </a:p>
        </p:txBody>
      </p:sp>
      <p:sp>
        <p:nvSpPr>
          <p:cNvPr id="15" name="Text 12"/>
          <p:cNvSpPr/>
          <p:nvPr/>
        </p:nvSpPr>
        <p:spPr>
          <a:xfrm>
            <a:off x="1874520" y="3163824"/>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Social Media Reflection</a:t>
            </a:r>
            <a:endParaRPr lang="en-US" sz="1500" dirty="0"/>
          </a:p>
        </p:txBody>
      </p:sp>
      <p:sp>
        <p:nvSpPr>
          <p:cNvPr id="16" name="Text 13"/>
          <p:cNvSpPr/>
          <p:nvPr/>
        </p:nvSpPr>
        <p:spPr>
          <a:xfrm>
            <a:off x="1874520" y="3511296"/>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Review your last twenty posts, comments, or interactions. Would they reflect Christ?</a:t>
            </a:r>
            <a:endParaRPr lang="en-US" sz="1150" dirty="0"/>
          </a:p>
        </p:txBody>
      </p:sp>
      <p:sp>
        <p:nvSpPr>
          <p:cNvPr id="17" name="Text 14"/>
          <p:cNvSpPr/>
          <p:nvPr/>
        </p:nvSpPr>
        <p:spPr>
          <a:xfrm>
            <a:off x="9601200" y="3163824"/>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Colossians 4:6</a:t>
            </a:r>
            <a:endParaRPr lang="en-US" sz="1100" dirty="0"/>
          </a:p>
        </p:txBody>
      </p:sp>
      <p:sp>
        <p:nvSpPr>
          <p:cNvPr id="18" name="Shape 15"/>
          <p:cNvSpPr/>
          <p:nvPr/>
        </p:nvSpPr>
        <p:spPr>
          <a:xfrm>
            <a:off x="868680" y="4142232"/>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Shape 16"/>
          <p:cNvSpPr/>
          <p:nvPr/>
        </p:nvSpPr>
        <p:spPr>
          <a:xfrm>
            <a:off x="1097280" y="4343400"/>
            <a:ext cx="566928" cy="566928"/>
          </a:xfrm>
          <a:prstGeom prst="ellipse">
            <a:avLst/>
          </a:prstGeom>
          <a:solidFill>
            <a:srgbClr val="B85042"/>
          </a:solidFill>
          <a:ln/>
        </p:spPr>
      </p:sp>
      <p:sp>
        <p:nvSpPr>
          <p:cNvPr id="20" name="Text 17"/>
          <p:cNvSpPr/>
          <p:nvPr/>
        </p:nvSpPr>
        <p:spPr>
          <a:xfrm>
            <a:off x="1097280" y="4343400"/>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10</a:t>
            </a:r>
            <a:endParaRPr lang="en-US" sz="2000" dirty="0"/>
          </a:p>
        </p:txBody>
      </p:sp>
      <p:sp>
        <p:nvSpPr>
          <p:cNvPr id="21" name="Text 18"/>
          <p:cNvSpPr/>
          <p:nvPr/>
        </p:nvSpPr>
        <p:spPr>
          <a:xfrm>
            <a:off x="1874520" y="4251960"/>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Silence Practice</a:t>
            </a:r>
            <a:endParaRPr lang="en-US" sz="1500" dirty="0"/>
          </a:p>
        </p:txBody>
      </p:sp>
      <p:sp>
        <p:nvSpPr>
          <p:cNvPr id="22" name="Text 19"/>
          <p:cNvSpPr/>
          <p:nvPr/>
        </p:nvSpPr>
        <p:spPr>
          <a:xfrm>
            <a:off x="1874520" y="4599432"/>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Spend fifteen minutes without: Phone, Music, Podcasts, Screens. Simply sit quietly before God.</a:t>
            </a:r>
            <a:endParaRPr lang="en-US" sz="1150" dirty="0"/>
          </a:p>
        </p:txBody>
      </p:sp>
      <p:sp>
        <p:nvSpPr>
          <p:cNvPr id="23" name="Text 20"/>
          <p:cNvSpPr/>
          <p:nvPr/>
        </p:nvSpPr>
        <p:spPr>
          <a:xfrm>
            <a:off x="9601200" y="4251960"/>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1 Kings 19:12</a:t>
            </a:r>
            <a:endParaRPr lang="en-US" sz="1100" dirty="0"/>
          </a:p>
        </p:txBody>
      </p:sp>
      <p:sp>
        <p:nvSpPr>
          <p:cNvPr id="24" name="Shape 21"/>
          <p:cNvSpPr/>
          <p:nvPr/>
        </p:nvSpPr>
        <p:spPr>
          <a:xfrm>
            <a:off x="868680" y="5230368"/>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5" name="Shape 22"/>
          <p:cNvSpPr/>
          <p:nvPr/>
        </p:nvSpPr>
        <p:spPr>
          <a:xfrm>
            <a:off x="1097280" y="5431536"/>
            <a:ext cx="566928" cy="566928"/>
          </a:xfrm>
          <a:prstGeom prst="ellipse">
            <a:avLst/>
          </a:prstGeom>
          <a:solidFill>
            <a:srgbClr val="B85042"/>
          </a:solidFill>
          <a:ln/>
        </p:spPr>
      </p:sp>
      <p:sp>
        <p:nvSpPr>
          <p:cNvPr id="26" name="Text 23"/>
          <p:cNvSpPr/>
          <p:nvPr/>
        </p:nvSpPr>
        <p:spPr>
          <a:xfrm>
            <a:off x="1097280" y="5431536"/>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11</a:t>
            </a:r>
            <a:endParaRPr lang="en-US" sz="2000" dirty="0"/>
          </a:p>
        </p:txBody>
      </p:sp>
      <p:sp>
        <p:nvSpPr>
          <p:cNvPr id="27" name="Text 24"/>
          <p:cNvSpPr/>
          <p:nvPr/>
        </p:nvSpPr>
        <p:spPr>
          <a:xfrm>
            <a:off x="1874520" y="5340096"/>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Content Evaluation</a:t>
            </a:r>
            <a:endParaRPr lang="en-US" sz="1500" dirty="0"/>
          </a:p>
        </p:txBody>
      </p:sp>
      <p:sp>
        <p:nvSpPr>
          <p:cNvPr id="28" name="Text 25"/>
          <p:cNvSpPr/>
          <p:nvPr/>
        </p:nvSpPr>
        <p:spPr>
          <a:xfrm>
            <a:off x="1874520" y="5687568"/>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Choose one recurring source of entertainment. Ask: Does this help me become more like Christ?</a:t>
            </a:r>
            <a:endParaRPr lang="en-US" sz="1150" dirty="0"/>
          </a:p>
        </p:txBody>
      </p:sp>
      <p:sp>
        <p:nvSpPr>
          <p:cNvPr id="29" name="Text 26"/>
          <p:cNvSpPr/>
          <p:nvPr/>
        </p:nvSpPr>
        <p:spPr>
          <a:xfrm>
            <a:off x="9601200" y="5340096"/>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Romans 12:2</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Week TWO</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Guarding the Mind</a:t>
            </a:r>
            <a:endParaRPr lang="en-US" sz="1500" dirty="0"/>
          </a:p>
        </p:txBody>
      </p:sp>
      <p:sp>
        <p:nvSpPr>
          <p:cNvPr id="6" name="Shape 3"/>
          <p:cNvSpPr/>
          <p:nvPr/>
        </p:nvSpPr>
        <p:spPr>
          <a:xfrm>
            <a:off x="868680" y="1965960"/>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097280" y="2167128"/>
            <a:ext cx="566928" cy="566928"/>
          </a:xfrm>
          <a:prstGeom prst="ellipse">
            <a:avLst/>
          </a:prstGeom>
          <a:solidFill>
            <a:srgbClr val="B85042"/>
          </a:solidFill>
          <a:ln/>
        </p:spPr>
      </p:sp>
      <p:sp>
        <p:nvSpPr>
          <p:cNvPr id="8" name="Text 5"/>
          <p:cNvSpPr/>
          <p:nvPr/>
        </p:nvSpPr>
        <p:spPr>
          <a:xfrm>
            <a:off x="1097280" y="2167128"/>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12</a:t>
            </a:r>
            <a:endParaRPr lang="en-US" sz="2000" dirty="0"/>
          </a:p>
        </p:txBody>
      </p:sp>
      <p:sp>
        <p:nvSpPr>
          <p:cNvPr id="9" name="Text 6"/>
          <p:cNvSpPr/>
          <p:nvPr/>
        </p:nvSpPr>
        <p:spPr>
          <a:xfrm>
            <a:off x="1874520" y="2075688"/>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Digital Temptations</a:t>
            </a:r>
            <a:endParaRPr lang="en-US" sz="1500" dirty="0"/>
          </a:p>
        </p:txBody>
      </p:sp>
      <p:sp>
        <p:nvSpPr>
          <p:cNvPr id="10" name="Text 7"/>
          <p:cNvSpPr/>
          <p:nvPr/>
        </p:nvSpPr>
        <p:spPr>
          <a:xfrm>
            <a:off x="1874520" y="2423160"/>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Identify your biggest online temptation. Comparison? Anger? Lust? Distraction? Pride?</a:t>
            </a:r>
            <a:endParaRPr lang="en-US" sz="1150" dirty="0"/>
          </a:p>
        </p:txBody>
      </p:sp>
      <p:sp>
        <p:nvSpPr>
          <p:cNvPr id="11" name="Text 8"/>
          <p:cNvSpPr/>
          <p:nvPr/>
        </p:nvSpPr>
        <p:spPr>
          <a:xfrm>
            <a:off x="9601200" y="2075688"/>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James 1:14-15</a:t>
            </a:r>
            <a:endParaRPr lang="en-US" sz="1100" dirty="0"/>
          </a:p>
        </p:txBody>
      </p:sp>
      <p:sp>
        <p:nvSpPr>
          <p:cNvPr id="12" name="Shape 9"/>
          <p:cNvSpPr/>
          <p:nvPr/>
        </p:nvSpPr>
        <p:spPr>
          <a:xfrm>
            <a:off x="868680" y="3054096"/>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Shape 10"/>
          <p:cNvSpPr/>
          <p:nvPr/>
        </p:nvSpPr>
        <p:spPr>
          <a:xfrm>
            <a:off x="1097280" y="3255264"/>
            <a:ext cx="566928" cy="566928"/>
          </a:xfrm>
          <a:prstGeom prst="ellipse">
            <a:avLst/>
          </a:prstGeom>
          <a:solidFill>
            <a:srgbClr val="B85042"/>
          </a:solidFill>
          <a:ln/>
        </p:spPr>
      </p:sp>
      <p:sp>
        <p:nvSpPr>
          <p:cNvPr id="14" name="Text 11"/>
          <p:cNvSpPr/>
          <p:nvPr/>
        </p:nvSpPr>
        <p:spPr>
          <a:xfrm>
            <a:off x="1097280" y="3255264"/>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13</a:t>
            </a:r>
            <a:endParaRPr lang="en-US" sz="2000" dirty="0"/>
          </a:p>
        </p:txBody>
      </p:sp>
      <p:sp>
        <p:nvSpPr>
          <p:cNvPr id="15" name="Text 12"/>
          <p:cNvSpPr/>
          <p:nvPr/>
        </p:nvSpPr>
        <p:spPr>
          <a:xfrm>
            <a:off x="1874520" y="3163824"/>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Scripture Before Screens</a:t>
            </a:r>
            <a:endParaRPr lang="en-US" sz="1500" dirty="0"/>
          </a:p>
        </p:txBody>
      </p:sp>
      <p:sp>
        <p:nvSpPr>
          <p:cNvPr id="16" name="Text 13"/>
          <p:cNvSpPr/>
          <p:nvPr/>
        </p:nvSpPr>
        <p:spPr>
          <a:xfrm>
            <a:off x="1874520" y="3511296"/>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Spend time in God's Word before looking at any device. Observe how this changes your day.</a:t>
            </a:r>
            <a:endParaRPr lang="en-US" sz="1150" dirty="0"/>
          </a:p>
        </p:txBody>
      </p:sp>
      <p:sp>
        <p:nvSpPr>
          <p:cNvPr id="17" name="Text 14"/>
          <p:cNvSpPr/>
          <p:nvPr/>
        </p:nvSpPr>
        <p:spPr>
          <a:xfrm>
            <a:off x="9601200" y="3163824"/>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Psalm 119:105</a:t>
            </a:r>
            <a:endParaRPr lang="en-US" sz="1100" dirty="0"/>
          </a:p>
        </p:txBody>
      </p:sp>
      <p:sp>
        <p:nvSpPr>
          <p:cNvPr id="18" name="Shape 15"/>
          <p:cNvSpPr/>
          <p:nvPr/>
        </p:nvSpPr>
        <p:spPr>
          <a:xfrm>
            <a:off x="868680" y="4142232"/>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Shape 16"/>
          <p:cNvSpPr/>
          <p:nvPr/>
        </p:nvSpPr>
        <p:spPr>
          <a:xfrm>
            <a:off x="1097280" y="4343400"/>
            <a:ext cx="566928" cy="566928"/>
          </a:xfrm>
          <a:prstGeom prst="ellipse">
            <a:avLst/>
          </a:prstGeom>
          <a:solidFill>
            <a:srgbClr val="B85042"/>
          </a:solidFill>
          <a:ln/>
        </p:spPr>
      </p:sp>
      <p:sp>
        <p:nvSpPr>
          <p:cNvPr id="20" name="Text 17"/>
          <p:cNvSpPr/>
          <p:nvPr/>
        </p:nvSpPr>
        <p:spPr>
          <a:xfrm>
            <a:off x="1097280" y="4343400"/>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14</a:t>
            </a:r>
            <a:endParaRPr lang="en-US" sz="2000" dirty="0"/>
          </a:p>
        </p:txBody>
      </p:sp>
      <p:sp>
        <p:nvSpPr>
          <p:cNvPr id="21" name="Text 18"/>
          <p:cNvSpPr/>
          <p:nvPr/>
        </p:nvSpPr>
        <p:spPr>
          <a:xfrm>
            <a:off x="1874520" y="4251960"/>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Weekly Reflection</a:t>
            </a:r>
            <a:endParaRPr lang="en-US" sz="1500" dirty="0"/>
          </a:p>
        </p:txBody>
      </p:sp>
      <p:sp>
        <p:nvSpPr>
          <p:cNvPr id="22" name="Text 19"/>
          <p:cNvSpPr/>
          <p:nvPr/>
        </p:nvSpPr>
        <p:spPr>
          <a:xfrm>
            <a:off x="1874520" y="4599432"/>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What is shaping my thinking most? God's Word? Or digital culture?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5A6B4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5A6B4D"/>
          </a:solidFill>
          <a:ln/>
        </p:spPr>
      </p:sp>
      <p:pic>
        <p:nvPicPr>
          <p:cNvPr id="3" name="Image 0" descr="preencoded.png">    </p:cNvPr>
          <p:cNvPicPr>
            <a:picLocks noChangeAspect="1"/>
          </p:cNvPicPr>
          <p:nvPr/>
        </p:nvPicPr>
        <p:blipFill>
          <a:blip r:embed="rId1"/>
          <a:stretch>
            <a:fillRect/>
          </a:stretch>
        </p:blipFill>
        <p:spPr>
          <a:xfrm>
            <a:off x="868680" y="2148840"/>
            <a:ext cx="1371600" cy="1371600"/>
          </a:xfrm>
          <a:prstGeom prst="rect">
            <a:avLst/>
          </a:prstGeom>
        </p:spPr>
      </p:pic>
      <p:sp>
        <p:nvSpPr>
          <p:cNvPr id="4" name="Text 1"/>
          <p:cNvSpPr/>
          <p:nvPr/>
        </p:nvSpPr>
        <p:spPr>
          <a:xfrm>
            <a:off x="868680" y="3703320"/>
            <a:ext cx="10058400" cy="502920"/>
          </a:xfrm>
          <a:prstGeom prst="rect">
            <a:avLst/>
          </a:prstGeom>
          <a:noFill/>
          <a:ln/>
        </p:spPr>
        <p:txBody>
          <a:bodyPr wrap="square" rtlCol="0" anchor="ctr"/>
          <a:lstStyle/>
          <a:p>
            <a:pPr indent="0" marL="0">
              <a:buNone/>
            </a:pPr>
            <a:r>
              <a:rPr lang="en-US" sz="1800" b="1" spc="200" kern="0" dirty="0">
                <a:solidFill>
                  <a:srgbClr val="C9A15A"/>
                </a:solidFill>
                <a:latin typeface="Calibri" pitchFamily="34" charset="0"/>
                <a:ea typeface="Calibri" pitchFamily="34" charset="-122"/>
                <a:cs typeface="Calibri" pitchFamily="34" charset="-120"/>
              </a:rPr>
              <a:t>WEEK THREE</a:t>
            </a:r>
            <a:endParaRPr lang="en-US" sz="1800" dirty="0"/>
          </a:p>
        </p:txBody>
      </p:sp>
      <p:sp>
        <p:nvSpPr>
          <p:cNvPr id="5" name="Text 2"/>
          <p:cNvSpPr/>
          <p:nvPr/>
        </p:nvSpPr>
        <p:spPr>
          <a:xfrm>
            <a:off x="822960" y="4114800"/>
            <a:ext cx="10515600" cy="822960"/>
          </a:xfrm>
          <a:prstGeom prst="rect">
            <a:avLst/>
          </a:prstGeom>
          <a:noFill/>
          <a:ln/>
        </p:spPr>
        <p:txBody>
          <a:bodyPr wrap="square" rtlCol="0" anchor="ctr"/>
          <a:lstStyle/>
          <a:p>
            <a:pPr indent="0" marL="0">
              <a:buNone/>
            </a:pPr>
            <a:r>
              <a:rPr lang="en-US" sz="4000" b="1" dirty="0">
                <a:solidFill>
                  <a:srgbClr val="FBF9F3"/>
                </a:solidFill>
                <a:latin typeface="Bookman Old Style" pitchFamily="34" charset="0"/>
                <a:ea typeface="Bookman Old Style" pitchFamily="34" charset="-122"/>
                <a:cs typeface="Bookman Old Style" pitchFamily="34" charset="-120"/>
              </a:rPr>
              <a:t>Redeeming Relationships</a:t>
            </a:r>
            <a:endParaRPr lang="en-US" sz="4000" dirty="0"/>
          </a:p>
        </p:txBody>
      </p:sp>
      <p:sp>
        <p:nvSpPr>
          <p:cNvPr id="6" name="Text 3"/>
          <p:cNvSpPr/>
          <p:nvPr/>
        </p:nvSpPr>
        <p:spPr>
          <a:xfrm>
            <a:off x="868680" y="5074920"/>
            <a:ext cx="10241280" cy="1280160"/>
          </a:xfrm>
          <a:prstGeom prst="rect">
            <a:avLst/>
          </a:prstGeom>
          <a:noFill/>
          <a:ln/>
        </p:spPr>
        <p:txBody>
          <a:bodyPr wrap="square" rtlCol="0" anchor="ctr"/>
          <a:lstStyle/>
          <a:p>
            <a:pPr indent="0" marL="0">
              <a:lnSpc>
                <a:spcPct val="110000"/>
              </a:lnSpc>
              <a:buNone/>
            </a:pPr>
            <a:r>
              <a:rPr lang="en-US" sz="1600" i="1" dirty="0">
                <a:solidFill>
                  <a:srgbClr val="E7E8D1"/>
                </a:solidFill>
                <a:latin typeface="Calibri" pitchFamily="34" charset="0"/>
                <a:ea typeface="Calibri" pitchFamily="34" charset="-122"/>
                <a:cs typeface="Calibri" pitchFamily="34" charset="-120"/>
              </a:rPr>
              <a:t>The third week turns outward, toward the people technology most often crowds out or quietly damages. Here you will practice using your devices to strengthen relationships rather than substitute for them.</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Week THREE</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Redeeming Relationships</a:t>
            </a:r>
            <a:endParaRPr lang="en-US" sz="1500" dirty="0"/>
          </a:p>
        </p:txBody>
      </p:sp>
      <p:sp>
        <p:nvSpPr>
          <p:cNvPr id="6" name="Shape 3"/>
          <p:cNvSpPr/>
          <p:nvPr/>
        </p:nvSpPr>
        <p:spPr>
          <a:xfrm>
            <a:off x="868680" y="1965960"/>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097280" y="2167128"/>
            <a:ext cx="566928" cy="566928"/>
          </a:xfrm>
          <a:prstGeom prst="ellipse">
            <a:avLst/>
          </a:prstGeom>
          <a:solidFill>
            <a:srgbClr val="B85042"/>
          </a:solidFill>
          <a:ln/>
        </p:spPr>
      </p:sp>
      <p:sp>
        <p:nvSpPr>
          <p:cNvPr id="8" name="Text 5"/>
          <p:cNvSpPr/>
          <p:nvPr/>
        </p:nvSpPr>
        <p:spPr>
          <a:xfrm>
            <a:off x="1097280" y="2167128"/>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15</a:t>
            </a:r>
            <a:endParaRPr lang="en-US" sz="2000" dirty="0"/>
          </a:p>
        </p:txBody>
      </p:sp>
      <p:sp>
        <p:nvSpPr>
          <p:cNvPr id="9" name="Text 6"/>
          <p:cNvSpPr/>
          <p:nvPr/>
        </p:nvSpPr>
        <p:spPr>
          <a:xfrm>
            <a:off x="1874520" y="2075688"/>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Face-to-Face Priority</a:t>
            </a:r>
            <a:endParaRPr lang="en-US" sz="1500" dirty="0"/>
          </a:p>
        </p:txBody>
      </p:sp>
      <p:sp>
        <p:nvSpPr>
          <p:cNvPr id="10" name="Text 7"/>
          <p:cNvSpPr/>
          <p:nvPr/>
        </p:nvSpPr>
        <p:spPr>
          <a:xfrm>
            <a:off x="1874520" y="2423160"/>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Intentionally spend uninterrupted time with someone you love. No devices. No distractions.</a:t>
            </a:r>
            <a:endParaRPr lang="en-US" sz="1150" dirty="0"/>
          </a:p>
        </p:txBody>
      </p:sp>
      <p:sp>
        <p:nvSpPr>
          <p:cNvPr id="11" name="Text 8"/>
          <p:cNvSpPr/>
          <p:nvPr/>
        </p:nvSpPr>
        <p:spPr>
          <a:xfrm>
            <a:off x="9601200" y="2075688"/>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Ecclesiastes 4:9-10</a:t>
            </a:r>
            <a:endParaRPr lang="en-US" sz="1100" dirty="0"/>
          </a:p>
        </p:txBody>
      </p:sp>
      <p:sp>
        <p:nvSpPr>
          <p:cNvPr id="12" name="Shape 9"/>
          <p:cNvSpPr/>
          <p:nvPr/>
        </p:nvSpPr>
        <p:spPr>
          <a:xfrm>
            <a:off x="868680" y="3054096"/>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Shape 10"/>
          <p:cNvSpPr/>
          <p:nvPr/>
        </p:nvSpPr>
        <p:spPr>
          <a:xfrm>
            <a:off x="1097280" y="3255264"/>
            <a:ext cx="566928" cy="566928"/>
          </a:xfrm>
          <a:prstGeom prst="ellipse">
            <a:avLst/>
          </a:prstGeom>
          <a:solidFill>
            <a:srgbClr val="B85042"/>
          </a:solidFill>
          <a:ln/>
        </p:spPr>
      </p:sp>
      <p:sp>
        <p:nvSpPr>
          <p:cNvPr id="14" name="Text 11"/>
          <p:cNvSpPr/>
          <p:nvPr/>
        </p:nvSpPr>
        <p:spPr>
          <a:xfrm>
            <a:off x="1097280" y="3255264"/>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16</a:t>
            </a:r>
            <a:endParaRPr lang="en-US" sz="2000" dirty="0"/>
          </a:p>
        </p:txBody>
      </p:sp>
      <p:sp>
        <p:nvSpPr>
          <p:cNvPr id="15" name="Text 12"/>
          <p:cNvSpPr/>
          <p:nvPr/>
        </p:nvSpPr>
        <p:spPr>
          <a:xfrm>
            <a:off x="1874520" y="3163824"/>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Encouragement Challenge</a:t>
            </a:r>
            <a:endParaRPr lang="en-US" sz="1500" dirty="0"/>
          </a:p>
        </p:txBody>
      </p:sp>
      <p:sp>
        <p:nvSpPr>
          <p:cNvPr id="16" name="Text 13"/>
          <p:cNvSpPr/>
          <p:nvPr/>
        </p:nvSpPr>
        <p:spPr>
          <a:xfrm>
            <a:off x="1874520" y="3511296"/>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Send three encouraging messages. No agenda. Just encouragement.</a:t>
            </a:r>
            <a:endParaRPr lang="en-US" sz="1150" dirty="0"/>
          </a:p>
        </p:txBody>
      </p:sp>
      <p:sp>
        <p:nvSpPr>
          <p:cNvPr id="17" name="Text 14"/>
          <p:cNvSpPr/>
          <p:nvPr/>
        </p:nvSpPr>
        <p:spPr>
          <a:xfrm>
            <a:off x="9601200" y="3163824"/>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Hebrews 10:24-25</a:t>
            </a:r>
            <a:endParaRPr lang="en-US" sz="1100" dirty="0"/>
          </a:p>
        </p:txBody>
      </p:sp>
      <p:sp>
        <p:nvSpPr>
          <p:cNvPr id="18" name="Shape 15"/>
          <p:cNvSpPr/>
          <p:nvPr/>
        </p:nvSpPr>
        <p:spPr>
          <a:xfrm>
            <a:off x="868680" y="4142232"/>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Shape 16"/>
          <p:cNvSpPr/>
          <p:nvPr/>
        </p:nvSpPr>
        <p:spPr>
          <a:xfrm>
            <a:off x="1097280" y="4343400"/>
            <a:ext cx="566928" cy="566928"/>
          </a:xfrm>
          <a:prstGeom prst="ellipse">
            <a:avLst/>
          </a:prstGeom>
          <a:solidFill>
            <a:srgbClr val="B85042"/>
          </a:solidFill>
          <a:ln/>
        </p:spPr>
      </p:sp>
      <p:sp>
        <p:nvSpPr>
          <p:cNvPr id="20" name="Text 17"/>
          <p:cNvSpPr/>
          <p:nvPr/>
        </p:nvSpPr>
        <p:spPr>
          <a:xfrm>
            <a:off x="1097280" y="4343400"/>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17</a:t>
            </a:r>
            <a:endParaRPr lang="en-US" sz="2000" dirty="0"/>
          </a:p>
        </p:txBody>
      </p:sp>
      <p:sp>
        <p:nvSpPr>
          <p:cNvPr id="21" name="Text 18"/>
          <p:cNvSpPr/>
          <p:nvPr/>
        </p:nvSpPr>
        <p:spPr>
          <a:xfrm>
            <a:off x="1874520" y="4251960"/>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Listening Day</a:t>
            </a:r>
            <a:endParaRPr lang="en-US" sz="1500" dirty="0"/>
          </a:p>
        </p:txBody>
      </p:sp>
      <p:sp>
        <p:nvSpPr>
          <p:cNvPr id="22" name="Text 19"/>
          <p:cNvSpPr/>
          <p:nvPr/>
        </p:nvSpPr>
        <p:spPr>
          <a:xfrm>
            <a:off x="1874520" y="4599432"/>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Spend more time listening than posting. More time understanding than responding.</a:t>
            </a:r>
            <a:endParaRPr lang="en-US" sz="1150" dirty="0"/>
          </a:p>
        </p:txBody>
      </p:sp>
      <p:sp>
        <p:nvSpPr>
          <p:cNvPr id="23" name="Text 20"/>
          <p:cNvSpPr/>
          <p:nvPr/>
        </p:nvSpPr>
        <p:spPr>
          <a:xfrm>
            <a:off x="9601200" y="4251960"/>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James 1:19</a:t>
            </a:r>
            <a:endParaRPr lang="en-US" sz="1100" dirty="0"/>
          </a:p>
        </p:txBody>
      </p:sp>
      <p:sp>
        <p:nvSpPr>
          <p:cNvPr id="24" name="Shape 21"/>
          <p:cNvSpPr/>
          <p:nvPr/>
        </p:nvSpPr>
        <p:spPr>
          <a:xfrm>
            <a:off x="868680" y="5230368"/>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5" name="Shape 22"/>
          <p:cNvSpPr/>
          <p:nvPr/>
        </p:nvSpPr>
        <p:spPr>
          <a:xfrm>
            <a:off x="1097280" y="5431536"/>
            <a:ext cx="566928" cy="566928"/>
          </a:xfrm>
          <a:prstGeom prst="ellipse">
            <a:avLst/>
          </a:prstGeom>
          <a:solidFill>
            <a:srgbClr val="B85042"/>
          </a:solidFill>
          <a:ln/>
        </p:spPr>
      </p:sp>
      <p:sp>
        <p:nvSpPr>
          <p:cNvPr id="26" name="Text 23"/>
          <p:cNvSpPr/>
          <p:nvPr/>
        </p:nvSpPr>
        <p:spPr>
          <a:xfrm>
            <a:off x="1097280" y="5431536"/>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18</a:t>
            </a:r>
            <a:endParaRPr lang="en-US" sz="2000" dirty="0"/>
          </a:p>
        </p:txBody>
      </p:sp>
      <p:sp>
        <p:nvSpPr>
          <p:cNvPr id="27" name="Text 24"/>
          <p:cNvSpPr/>
          <p:nvPr/>
        </p:nvSpPr>
        <p:spPr>
          <a:xfrm>
            <a:off x="1874520" y="5340096"/>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Digital Witness Audit</a:t>
            </a:r>
            <a:endParaRPr lang="en-US" sz="1500" dirty="0"/>
          </a:p>
        </p:txBody>
      </p:sp>
      <p:sp>
        <p:nvSpPr>
          <p:cNvPr id="28" name="Text 25"/>
          <p:cNvSpPr/>
          <p:nvPr/>
        </p:nvSpPr>
        <p:spPr>
          <a:xfrm>
            <a:off x="1874520" y="5687568"/>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Review your public profiles. Do they reflect Christ?</a:t>
            </a:r>
            <a:endParaRPr lang="en-US" sz="1150" dirty="0"/>
          </a:p>
        </p:txBody>
      </p:sp>
      <p:sp>
        <p:nvSpPr>
          <p:cNvPr id="29" name="Text 26"/>
          <p:cNvSpPr/>
          <p:nvPr/>
        </p:nvSpPr>
        <p:spPr>
          <a:xfrm>
            <a:off x="9601200" y="5340096"/>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Matthew 5:16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Week THREE</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Redeeming Relationships</a:t>
            </a:r>
            <a:endParaRPr lang="en-US" sz="1500" dirty="0"/>
          </a:p>
        </p:txBody>
      </p:sp>
      <p:sp>
        <p:nvSpPr>
          <p:cNvPr id="6" name="Shape 3"/>
          <p:cNvSpPr/>
          <p:nvPr/>
        </p:nvSpPr>
        <p:spPr>
          <a:xfrm>
            <a:off x="868680" y="1965960"/>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097280" y="2167128"/>
            <a:ext cx="566928" cy="566928"/>
          </a:xfrm>
          <a:prstGeom prst="ellipse">
            <a:avLst/>
          </a:prstGeom>
          <a:solidFill>
            <a:srgbClr val="B85042"/>
          </a:solidFill>
          <a:ln/>
        </p:spPr>
      </p:sp>
      <p:sp>
        <p:nvSpPr>
          <p:cNvPr id="8" name="Text 5"/>
          <p:cNvSpPr/>
          <p:nvPr/>
        </p:nvSpPr>
        <p:spPr>
          <a:xfrm>
            <a:off x="1097280" y="2167128"/>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19</a:t>
            </a:r>
            <a:endParaRPr lang="en-US" sz="2000" dirty="0"/>
          </a:p>
        </p:txBody>
      </p:sp>
      <p:sp>
        <p:nvSpPr>
          <p:cNvPr id="9" name="Text 6"/>
          <p:cNvSpPr/>
          <p:nvPr/>
        </p:nvSpPr>
        <p:spPr>
          <a:xfrm>
            <a:off x="1874520" y="2075688"/>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Pray Before Posting</a:t>
            </a:r>
            <a:endParaRPr lang="en-US" sz="1500" dirty="0"/>
          </a:p>
        </p:txBody>
      </p:sp>
      <p:sp>
        <p:nvSpPr>
          <p:cNvPr id="10" name="Text 7"/>
          <p:cNvSpPr/>
          <p:nvPr/>
        </p:nvSpPr>
        <p:spPr>
          <a:xfrm>
            <a:off x="1874520" y="2423160"/>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Before every post today, pray. Ask: Does this glorify God?</a:t>
            </a:r>
            <a:endParaRPr lang="en-US" sz="1150" dirty="0"/>
          </a:p>
        </p:txBody>
      </p:sp>
      <p:sp>
        <p:nvSpPr>
          <p:cNvPr id="11" name="Text 8"/>
          <p:cNvSpPr/>
          <p:nvPr/>
        </p:nvSpPr>
        <p:spPr>
          <a:xfrm>
            <a:off x="9601200" y="2075688"/>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1 Corinthians 10:31</a:t>
            </a:r>
            <a:endParaRPr lang="en-US" sz="1100" dirty="0"/>
          </a:p>
        </p:txBody>
      </p:sp>
      <p:sp>
        <p:nvSpPr>
          <p:cNvPr id="12" name="Shape 9"/>
          <p:cNvSpPr/>
          <p:nvPr/>
        </p:nvSpPr>
        <p:spPr>
          <a:xfrm>
            <a:off x="868680" y="3054096"/>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Shape 10"/>
          <p:cNvSpPr/>
          <p:nvPr/>
        </p:nvSpPr>
        <p:spPr>
          <a:xfrm>
            <a:off x="1097280" y="3255264"/>
            <a:ext cx="566928" cy="566928"/>
          </a:xfrm>
          <a:prstGeom prst="ellipse">
            <a:avLst/>
          </a:prstGeom>
          <a:solidFill>
            <a:srgbClr val="B85042"/>
          </a:solidFill>
          <a:ln/>
        </p:spPr>
      </p:sp>
      <p:sp>
        <p:nvSpPr>
          <p:cNvPr id="14" name="Text 11"/>
          <p:cNvSpPr/>
          <p:nvPr/>
        </p:nvSpPr>
        <p:spPr>
          <a:xfrm>
            <a:off x="1097280" y="3255264"/>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20</a:t>
            </a:r>
            <a:endParaRPr lang="en-US" sz="2000" dirty="0"/>
          </a:p>
        </p:txBody>
      </p:sp>
      <p:sp>
        <p:nvSpPr>
          <p:cNvPr id="15" name="Text 12"/>
          <p:cNvSpPr/>
          <p:nvPr/>
        </p:nvSpPr>
        <p:spPr>
          <a:xfrm>
            <a:off x="1874520" y="3163824"/>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Reconciliation</a:t>
            </a:r>
            <a:endParaRPr lang="en-US" sz="1500" dirty="0"/>
          </a:p>
        </p:txBody>
      </p:sp>
      <p:sp>
        <p:nvSpPr>
          <p:cNvPr id="16" name="Text 13"/>
          <p:cNvSpPr/>
          <p:nvPr/>
        </p:nvSpPr>
        <p:spPr>
          <a:xfrm>
            <a:off x="1874520" y="3511296"/>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Reach out to someone where a relationship needs healing. Technology can help rebuild bridges.</a:t>
            </a:r>
            <a:endParaRPr lang="en-US" sz="1150" dirty="0"/>
          </a:p>
        </p:txBody>
      </p:sp>
      <p:sp>
        <p:nvSpPr>
          <p:cNvPr id="17" name="Text 14"/>
          <p:cNvSpPr/>
          <p:nvPr/>
        </p:nvSpPr>
        <p:spPr>
          <a:xfrm>
            <a:off x="9601200" y="3163824"/>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Matthew 5:23-24</a:t>
            </a:r>
            <a:endParaRPr lang="en-US" sz="1100" dirty="0"/>
          </a:p>
        </p:txBody>
      </p:sp>
      <p:sp>
        <p:nvSpPr>
          <p:cNvPr id="18" name="Shape 15"/>
          <p:cNvSpPr/>
          <p:nvPr/>
        </p:nvSpPr>
        <p:spPr>
          <a:xfrm>
            <a:off x="868680" y="4142232"/>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Shape 16"/>
          <p:cNvSpPr/>
          <p:nvPr/>
        </p:nvSpPr>
        <p:spPr>
          <a:xfrm>
            <a:off x="1097280" y="4343400"/>
            <a:ext cx="566928" cy="566928"/>
          </a:xfrm>
          <a:prstGeom prst="ellipse">
            <a:avLst/>
          </a:prstGeom>
          <a:solidFill>
            <a:srgbClr val="B85042"/>
          </a:solidFill>
          <a:ln/>
        </p:spPr>
      </p:sp>
      <p:sp>
        <p:nvSpPr>
          <p:cNvPr id="20" name="Text 17"/>
          <p:cNvSpPr/>
          <p:nvPr/>
        </p:nvSpPr>
        <p:spPr>
          <a:xfrm>
            <a:off x="1097280" y="4343400"/>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21</a:t>
            </a:r>
            <a:endParaRPr lang="en-US" sz="2000" dirty="0"/>
          </a:p>
        </p:txBody>
      </p:sp>
      <p:sp>
        <p:nvSpPr>
          <p:cNvPr id="21" name="Text 18"/>
          <p:cNvSpPr/>
          <p:nvPr/>
        </p:nvSpPr>
        <p:spPr>
          <a:xfrm>
            <a:off x="1874520" y="4251960"/>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Weekly Reflection</a:t>
            </a:r>
            <a:endParaRPr lang="en-US" sz="1500" dirty="0"/>
          </a:p>
        </p:txBody>
      </p:sp>
      <p:sp>
        <p:nvSpPr>
          <p:cNvPr id="22" name="Text 19"/>
          <p:cNvSpPr/>
          <p:nvPr/>
        </p:nvSpPr>
        <p:spPr>
          <a:xfrm>
            <a:off x="1874520" y="4599432"/>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How are my digital habits affecting my relationships?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5A6B4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5A6B4D"/>
          </a:solidFill>
          <a:ln/>
        </p:spPr>
      </p:sp>
      <p:pic>
        <p:nvPicPr>
          <p:cNvPr id="3" name="Image 0" descr="preencoded.png">    </p:cNvPr>
          <p:cNvPicPr>
            <a:picLocks noChangeAspect="1"/>
          </p:cNvPicPr>
          <p:nvPr/>
        </p:nvPicPr>
        <p:blipFill>
          <a:blip r:embed="rId1"/>
          <a:stretch>
            <a:fillRect/>
          </a:stretch>
        </p:blipFill>
        <p:spPr>
          <a:xfrm>
            <a:off x="868680" y="2148840"/>
            <a:ext cx="1371600" cy="1371600"/>
          </a:xfrm>
          <a:prstGeom prst="rect">
            <a:avLst/>
          </a:prstGeom>
        </p:spPr>
      </p:pic>
      <p:sp>
        <p:nvSpPr>
          <p:cNvPr id="4" name="Text 1"/>
          <p:cNvSpPr/>
          <p:nvPr/>
        </p:nvSpPr>
        <p:spPr>
          <a:xfrm>
            <a:off x="868680" y="3703320"/>
            <a:ext cx="10058400" cy="502920"/>
          </a:xfrm>
          <a:prstGeom prst="rect">
            <a:avLst/>
          </a:prstGeom>
          <a:noFill/>
          <a:ln/>
        </p:spPr>
        <p:txBody>
          <a:bodyPr wrap="square" rtlCol="0" anchor="ctr"/>
          <a:lstStyle/>
          <a:p>
            <a:pPr indent="0" marL="0">
              <a:buNone/>
            </a:pPr>
            <a:r>
              <a:rPr lang="en-US" sz="1800" b="1" spc="200" kern="0" dirty="0">
                <a:solidFill>
                  <a:srgbClr val="C9A15A"/>
                </a:solidFill>
                <a:latin typeface="Calibri" pitchFamily="34" charset="0"/>
                <a:ea typeface="Calibri" pitchFamily="34" charset="-122"/>
                <a:cs typeface="Calibri" pitchFamily="34" charset="-120"/>
              </a:rPr>
              <a:t>WEEK FOUR</a:t>
            </a:r>
            <a:endParaRPr lang="en-US" sz="1800" dirty="0"/>
          </a:p>
        </p:txBody>
      </p:sp>
      <p:sp>
        <p:nvSpPr>
          <p:cNvPr id="5" name="Text 2"/>
          <p:cNvSpPr/>
          <p:nvPr/>
        </p:nvSpPr>
        <p:spPr>
          <a:xfrm>
            <a:off x="822960" y="4114800"/>
            <a:ext cx="10515600" cy="822960"/>
          </a:xfrm>
          <a:prstGeom prst="rect">
            <a:avLst/>
          </a:prstGeom>
          <a:noFill/>
          <a:ln/>
        </p:spPr>
        <p:txBody>
          <a:bodyPr wrap="square" rtlCol="0" anchor="ctr"/>
          <a:lstStyle/>
          <a:p>
            <a:pPr indent="0" marL="0">
              <a:buNone/>
            </a:pPr>
            <a:r>
              <a:rPr lang="en-US" sz="4000" b="1" dirty="0">
                <a:solidFill>
                  <a:srgbClr val="FBF9F3"/>
                </a:solidFill>
                <a:latin typeface="Bookman Old Style" pitchFamily="34" charset="0"/>
                <a:ea typeface="Bookman Old Style" pitchFamily="34" charset="-122"/>
                <a:cs typeface="Bookman Old Style" pitchFamily="34" charset="-120"/>
              </a:rPr>
              <a:t>Living as a Faithful Steward</a:t>
            </a:r>
            <a:endParaRPr lang="en-US" sz="4000" dirty="0"/>
          </a:p>
        </p:txBody>
      </p:sp>
      <p:sp>
        <p:nvSpPr>
          <p:cNvPr id="6" name="Text 3"/>
          <p:cNvSpPr/>
          <p:nvPr/>
        </p:nvSpPr>
        <p:spPr>
          <a:xfrm>
            <a:off x="868680" y="5074920"/>
            <a:ext cx="10241280" cy="1280160"/>
          </a:xfrm>
          <a:prstGeom prst="rect">
            <a:avLst/>
          </a:prstGeom>
          <a:noFill/>
          <a:ln/>
        </p:spPr>
        <p:txBody>
          <a:bodyPr wrap="square" rtlCol="0" anchor="ctr"/>
          <a:lstStyle/>
          <a:p>
            <a:pPr indent="0" marL="0">
              <a:lnSpc>
                <a:spcPct val="110000"/>
              </a:lnSpc>
              <a:buNone/>
            </a:pPr>
            <a:r>
              <a:rPr lang="en-US" sz="1600" i="1" dirty="0">
                <a:solidFill>
                  <a:srgbClr val="E7E8D1"/>
                </a:solidFill>
                <a:latin typeface="Calibri" pitchFamily="34" charset="0"/>
                <a:ea typeface="Calibri" pitchFamily="34" charset="-122"/>
                <a:cs typeface="Calibri" pitchFamily="34" charset="-120"/>
              </a:rPr>
              <a:t>The final week moves from personal reflection to ongoing practice, asking how your technology habits intersect with work, rest, generosity, and calling. It closes by inviting you to put your commitments into a lasting form.</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Week FOUR</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Living as a Faithful Steward</a:t>
            </a:r>
            <a:endParaRPr lang="en-US" sz="1500" dirty="0"/>
          </a:p>
        </p:txBody>
      </p:sp>
      <p:sp>
        <p:nvSpPr>
          <p:cNvPr id="6" name="Shape 3"/>
          <p:cNvSpPr/>
          <p:nvPr/>
        </p:nvSpPr>
        <p:spPr>
          <a:xfrm>
            <a:off x="868680" y="1965960"/>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097280" y="2167128"/>
            <a:ext cx="566928" cy="566928"/>
          </a:xfrm>
          <a:prstGeom prst="ellipse">
            <a:avLst/>
          </a:prstGeom>
          <a:solidFill>
            <a:srgbClr val="B85042"/>
          </a:solidFill>
          <a:ln/>
        </p:spPr>
      </p:sp>
      <p:sp>
        <p:nvSpPr>
          <p:cNvPr id="8" name="Text 5"/>
          <p:cNvSpPr/>
          <p:nvPr/>
        </p:nvSpPr>
        <p:spPr>
          <a:xfrm>
            <a:off x="1097280" y="2167128"/>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22</a:t>
            </a:r>
            <a:endParaRPr lang="en-US" sz="2000" dirty="0"/>
          </a:p>
        </p:txBody>
      </p:sp>
      <p:sp>
        <p:nvSpPr>
          <p:cNvPr id="9" name="Text 6"/>
          <p:cNvSpPr/>
          <p:nvPr/>
        </p:nvSpPr>
        <p:spPr>
          <a:xfrm>
            <a:off x="1874520" y="2075688"/>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AI Stewardship</a:t>
            </a:r>
            <a:endParaRPr lang="en-US" sz="1500" dirty="0"/>
          </a:p>
        </p:txBody>
      </p:sp>
      <p:sp>
        <p:nvSpPr>
          <p:cNvPr id="10" name="Text 7"/>
          <p:cNvSpPr/>
          <p:nvPr/>
        </p:nvSpPr>
        <p:spPr>
          <a:xfrm>
            <a:off x="1874520" y="2423160"/>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Evaluate how you currently use AI. Ask: Does it save time? Does it encourage laziness? Does it help me serve others?</a:t>
            </a:r>
            <a:endParaRPr lang="en-US" sz="1150" dirty="0"/>
          </a:p>
        </p:txBody>
      </p:sp>
      <p:sp>
        <p:nvSpPr>
          <p:cNvPr id="11" name="Text 8"/>
          <p:cNvSpPr/>
          <p:nvPr/>
        </p:nvSpPr>
        <p:spPr>
          <a:xfrm>
            <a:off x="9601200" y="2075688"/>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1 Corinthians 4:2</a:t>
            </a:r>
            <a:endParaRPr lang="en-US" sz="1100" dirty="0"/>
          </a:p>
        </p:txBody>
      </p:sp>
      <p:sp>
        <p:nvSpPr>
          <p:cNvPr id="12" name="Shape 9"/>
          <p:cNvSpPr/>
          <p:nvPr/>
        </p:nvSpPr>
        <p:spPr>
          <a:xfrm>
            <a:off x="868680" y="3054096"/>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Shape 10"/>
          <p:cNvSpPr/>
          <p:nvPr/>
        </p:nvSpPr>
        <p:spPr>
          <a:xfrm>
            <a:off x="1097280" y="3255264"/>
            <a:ext cx="566928" cy="566928"/>
          </a:xfrm>
          <a:prstGeom prst="ellipse">
            <a:avLst/>
          </a:prstGeom>
          <a:solidFill>
            <a:srgbClr val="B85042"/>
          </a:solidFill>
          <a:ln/>
        </p:spPr>
      </p:sp>
      <p:sp>
        <p:nvSpPr>
          <p:cNvPr id="14" name="Text 11"/>
          <p:cNvSpPr/>
          <p:nvPr/>
        </p:nvSpPr>
        <p:spPr>
          <a:xfrm>
            <a:off x="1097280" y="3255264"/>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23</a:t>
            </a:r>
            <a:endParaRPr lang="en-US" sz="2000" dirty="0"/>
          </a:p>
        </p:txBody>
      </p:sp>
      <p:sp>
        <p:nvSpPr>
          <p:cNvPr id="15" name="Text 12"/>
          <p:cNvSpPr/>
          <p:nvPr/>
        </p:nvSpPr>
        <p:spPr>
          <a:xfrm>
            <a:off x="1874520" y="3163824"/>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Work and Worship</a:t>
            </a:r>
            <a:endParaRPr lang="en-US" sz="1500" dirty="0"/>
          </a:p>
        </p:txBody>
      </p:sp>
      <p:sp>
        <p:nvSpPr>
          <p:cNvPr id="16" name="Text 13"/>
          <p:cNvSpPr/>
          <p:nvPr/>
        </p:nvSpPr>
        <p:spPr>
          <a:xfrm>
            <a:off x="1874520" y="3511296"/>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Offer your work to God intentionally today. Every email. Every meeting. Every task.</a:t>
            </a:r>
            <a:endParaRPr lang="en-US" sz="1150" dirty="0"/>
          </a:p>
        </p:txBody>
      </p:sp>
      <p:sp>
        <p:nvSpPr>
          <p:cNvPr id="17" name="Text 14"/>
          <p:cNvSpPr/>
          <p:nvPr/>
        </p:nvSpPr>
        <p:spPr>
          <a:xfrm>
            <a:off x="9601200" y="3163824"/>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Colossians 3:23</a:t>
            </a:r>
            <a:endParaRPr lang="en-US" sz="1100" dirty="0"/>
          </a:p>
        </p:txBody>
      </p:sp>
      <p:sp>
        <p:nvSpPr>
          <p:cNvPr id="18" name="Shape 15"/>
          <p:cNvSpPr/>
          <p:nvPr/>
        </p:nvSpPr>
        <p:spPr>
          <a:xfrm>
            <a:off x="868680" y="4142232"/>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Shape 16"/>
          <p:cNvSpPr/>
          <p:nvPr/>
        </p:nvSpPr>
        <p:spPr>
          <a:xfrm>
            <a:off x="1097280" y="4343400"/>
            <a:ext cx="566928" cy="566928"/>
          </a:xfrm>
          <a:prstGeom prst="ellipse">
            <a:avLst/>
          </a:prstGeom>
          <a:solidFill>
            <a:srgbClr val="B85042"/>
          </a:solidFill>
          <a:ln/>
        </p:spPr>
      </p:sp>
      <p:sp>
        <p:nvSpPr>
          <p:cNvPr id="20" name="Text 17"/>
          <p:cNvSpPr/>
          <p:nvPr/>
        </p:nvSpPr>
        <p:spPr>
          <a:xfrm>
            <a:off x="1097280" y="4343400"/>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24</a:t>
            </a:r>
            <a:endParaRPr lang="en-US" sz="2000" dirty="0"/>
          </a:p>
        </p:txBody>
      </p:sp>
      <p:sp>
        <p:nvSpPr>
          <p:cNvPr id="21" name="Text 18"/>
          <p:cNvSpPr/>
          <p:nvPr/>
        </p:nvSpPr>
        <p:spPr>
          <a:xfrm>
            <a:off x="1874520" y="4251960"/>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Digital Sabbath Planning</a:t>
            </a:r>
            <a:endParaRPr lang="en-US" sz="1500" dirty="0"/>
          </a:p>
        </p:txBody>
      </p:sp>
      <p:sp>
        <p:nvSpPr>
          <p:cNvPr id="22" name="Text 19"/>
          <p:cNvSpPr/>
          <p:nvPr/>
        </p:nvSpPr>
        <p:spPr>
          <a:xfrm>
            <a:off x="1874520" y="4599432"/>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Schedule a recurring Sabbath rhythm.</a:t>
            </a:r>
            <a:endParaRPr lang="en-US" sz="1150" dirty="0"/>
          </a:p>
        </p:txBody>
      </p:sp>
      <p:sp>
        <p:nvSpPr>
          <p:cNvPr id="23" name="Text 20"/>
          <p:cNvSpPr/>
          <p:nvPr/>
        </p:nvSpPr>
        <p:spPr>
          <a:xfrm>
            <a:off x="9601200" y="4251960"/>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Exodus 20:8-11</a:t>
            </a:r>
            <a:endParaRPr lang="en-US" sz="1100" dirty="0"/>
          </a:p>
        </p:txBody>
      </p:sp>
      <p:sp>
        <p:nvSpPr>
          <p:cNvPr id="24" name="Shape 21"/>
          <p:cNvSpPr/>
          <p:nvPr/>
        </p:nvSpPr>
        <p:spPr>
          <a:xfrm>
            <a:off x="868680" y="5230368"/>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5" name="Shape 22"/>
          <p:cNvSpPr/>
          <p:nvPr/>
        </p:nvSpPr>
        <p:spPr>
          <a:xfrm>
            <a:off x="1097280" y="5431536"/>
            <a:ext cx="566928" cy="566928"/>
          </a:xfrm>
          <a:prstGeom prst="ellipse">
            <a:avLst/>
          </a:prstGeom>
          <a:solidFill>
            <a:srgbClr val="B85042"/>
          </a:solidFill>
          <a:ln/>
        </p:spPr>
      </p:sp>
      <p:sp>
        <p:nvSpPr>
          <p:cNvPr id="26" name="Text 23"/>
          <p:cNvSpPr/>
          <p:nvPr/>
        </p:nvSpPr>
        <p:spPr>
          <a:xfrm>
            <a:off x="1097280" y="5431536"/>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25</a:t>
            </a:r>
            <a:endParaRPr lang="en-US" sz="2000" dirty="0"/>
          </a:p>
        </p:txBody>
      </p:sp>
      <p:sp>
        <p:nvSpPr>
          <p:cNvPr id="27" name="Text 24"/>
          <p:cNvSpPr/>
          <p:nvPr/>
        </p:nvSpPr>
        <p:spPr>
          <a:xfrm>
            <a:off x="1874520" y="5340096"/>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Technology and Generosity</a:t>
            </a:r>
            <a:endParaRPr lang="en-US" sz="1500" dirty="0"/>
          </a:p>
        </p:txBody>
      </p:sp>
      <p:sp>
        <p:nvSpPr>
          <p:cNvPr id="28" name="Text 25"/>
          <p:cNvSpPr/>
          <p:nvPr/>
        </p:nvSpPr>
        <p:spPr>
          <a:xfrm>
            <a:off x="1874520" y="5687568"/>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Use technology today to bless someone. Encourage. Teach. Give. Serve.</a:t>
            </a:r>
            <a:endParaRPr lang="en-US" sz="1150" dirty="0"/>
          </a:p>
        </p:txBody>
      </p:sp>
      <p:sp>
        <p:nvSpPr>
          <p:cNvPr id="29" name="Text 26"/>
          <p:cNvSpPr/>
          <p:nvPr/>
        </p:nvSpPr>
        <p:spPr>
          <a:xfrm>
            <a:off x="9601200" y="5340096"/>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Acts 20:35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Week FOUR</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Living as a Faithful Steward</a:t>
            </a:r>
            <a:endParaRPr lang="en-US" sz="1500" dirty="0"/>
          </a:p>
        </p:txBody>
      </p:sp>
      <p:sp>
        <p:nvSpPr>
          <p:cNvPr id="6" name="Shape 3"/>
          <p:cNvSpPr/>
          <p:nvPr/>
        </p:nvSpPr>
        <p:spPr>
          <a:xfrm>
            <a:off x="868680" y="1965960"/>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097280" y="2167128"/>
            <a:ext cx="566928" cy="566928"/>
          </a:xfrm>
          <a:prstGeom prst="ellipse">
            <a:avLst/>
          </a:prstGeom>
          <a:solidFill>
            <a:srgbClr val="B85042"/>
          </a:solidFill>
          <a:ln/>
        </p:spPr>
      </p:sp>
      <p:sp>
        <p:nvSpPr>
          <p:cNvPr id="8" name="Text 5"/>
          <p:cNvSpPr/>
          <p:nvPr/>
        </p:nvSpPr>
        <p:spPr>
          <a:xfrm>
            <a:off x="1097280" y="2167128"/>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26</a:t>
            </a:r>
            <a:endParaRPr lang="en-US" sz="2000" dirty="0"/>
          </a:p>
        </p:txBody>
      </p:sp>
      <p:sp>
        <p:nvSpPr>
          <p:cNvPr id="9" name="Text 6"/>
          <p:cNvSpPr/>
          <p:nvPr/>
        </p:nvSpPr>
        <p:spPr>
          <a:xfrm>
            <a:off x="1874520" y="2075688"/>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Human Dignity Reflection</a:t>
            </a:r>
            <a:endParaRPr lang="en-US" sz="1500" dirty="0"/>
          </a:p>
        </p:txBody>
      </p:sp>
      <p:sp>
        <p:nvSpPr>
          <p:cNvPr id="10" name="Text 7"/>
          <p:cNvSpPr/>
          <p:nvPr/>
        </p:nvSpPr>
        <p:spPr>
          <a:xfrm>
            <a:off x="1874520" y="2423160"/>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How can technology better serve people rather than exploit them?</a:t>
            </a:r>
            <a:endParaRPr lang="en-US" sz="1150" dirty="0"/>
          </a:p>
        </p:txBody>
      </p:sp>
      <p:sp>
        <p:nvSpPr>
          <p:cNvPr id="11" name="Text 8"/>
          <p:cNvSpPr/>
          <p:nvPr/>
        </p:nvSpPr>
        <p:spPr>
          <a:xfrm>
            <a:off x="9601200" y="2075688"/>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Genesis 1:27</a:t>
            </a:r>
            <a:endParaRPr lang="en-US" sz="1100" dirty="0"/>
          </a:p>
        </p:txBody>
      </p:sp>
      <p:sp>
        <p:nvSpPr>
          <p:cNvPr id="12" name="Shape 9"/>
          <p:cNvSpPr/>
          <p:nvPr/>
        </p:nvSpPr>
        <p:spPr>
          <a:xfrm>
            <a:off x="868680" y="3054096"/>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Shape 10"/>
          <p:cNvSpPr/>
          <p:nvPr/>
        </p:nvSpPr>
        <p:spPr>
          <a:xfrm>
            <a:off x="1097280" y="3255264"/>
            <a:ext cx="566928" cy="566928"/>
          </a:xfrm>
          <a:prstGeom prst="ellipse">
            <a:avLst/>
          </a:prstGeom>
          <a:solidFill>
            <a:srgbClr val="B85042"/>
          </a:solidFill>
          <a:ln/>
        </p:spPr>
      </p:sp>
      <p:sp>
        <p:nvSpPr>
          <p:cNvPr id="14" name="Text 11"/>
          <p:cNvSpPr/>
          <p:nvPr/>
        </p:nvSpPr>
        <p:spPr>
          <a:xfrm>
            <a:off x="1097280" y="3255264"/>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27</a:t>
            </a:r>
            <a:endParaRPr lang="en-US" sz="2000" dirty="0"/>
          </a:p>
        </p:txBody>
      </p:sp>
      <p:sp>
        <p:nvSpPr>
          <p:cNvPr id="15" name="Text 12"/>
          <p:cNvSpPr/>
          <p:nvPr/>
        </p:nvSpPr>
        <p:spPr>
          <a:xfrm>
            <a:off x="1874520" y="3163824"/>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Hope Inventory</a:t>
            </a:r>
            <a:endParaRPr lang="en-US" sz="1500" dirty="0"/>
          </a:p>
        </p:txBody>
      </p:sp>
      <p:sp>
        <p:nvSpPr>
          <p:cNvPr id="16" name="Text 13"/>
          <p:cNvSpPr/>
          <p:nvPr/>
        </p:nvSpPr>
        <p:spPr>
          <a:xfrm>
            <a:off x="1874520" y="3511296"/>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Where am I placing my hope? Technology? Career? Security? Christ?</a:t>
            </a:r>
            <a:endParaRPr lang="en-US" sz="1150" dirty="0"/>
          </a:p>
        </p:txBody>
      </p:sp>
      <p:sp>
        <p:nvSpPr>
          <p:cNvPr id="17" name="Text 14"/>
          <p:cNvSpPr/>
          <p:nvPr/>
        </p:nvSpPr>
        <p:spPr>
          <a:xfrm>
            <a:off x="9601200" y="3163824"/>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Psalm 20:7</a:t>
            </a:r>
            <a:endParaRPr lang="en-US" sz="1100" dirty="0"/>
          </a:p>
        </p:txBody>
      </p:sp>
      <p:sp>
        <p:nvSpPr>
          <p:cNvPr id="18" name="Shape 15"/>
          <p:cNvSpPr/>
          <p:nvPr/>
        </p:nvSpPr>
        <p:spPr>
          <a:xfrm>
            <a:off x="868680" y="4142232"/>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Shape 16"/>
          <p:cNvSpPr/>
          <p:nvPr/>
        </p:nvSpPr>
        <p:spPr>
          <a:xfrm>
            <a:off x="1097280" y="4343400"/>
            <a:ext cx="566928" cy="566928"/>
          </a:xfrm>
          <a:prstGeom prst="ellipse">
            <a:avLst/>
          </a:prstGeom>
          <a:solidFill>
            <a:srgbClr val="B85042"/>
          </a:solidFill>
          <a:ln/>
        </p:spPr>
      </p:sp>
      <p:sp>
        <p:nvSpPr>
          <p:cNvPr id="20" name="Text 17"/>
          <p:cNvSpPr/>
          <p:nvPr/>
        </p:nvSpPr>
        <p:spPr>
          <a:xfrm>
            <a:off x="1097280" y="4343400"/>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28</a:t>
            </a:r>
            <a:endParaRPr lang="en-US" sz="2000" dirty="0"/>
          </a:p>
        </p:txBody>
      </p:sp>
      <p:sp>
        <p:nvSpPr>
          <p:cNvPr id="21" name="Text 18"/>
          <p:cNvSpPr/>
          <p:nvPr/>
        </p:nvSpPr>
        <p:spPr>
          <a:xfrm>
            <a:off x="1874520" y="4251960"/>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Kingdom Impact</a:t>
            </a:r>
            <a:endParaRPr lang="en-US" sz="1500" dirty="0"/>
          </a:p>
        </p:txBody>
      </p:sp>
      <p:sp>
        <p:nvSpPr>
          <p:cNvPr id="22" name="Text 19"/>
          <p:cNvSpPr/>
          <p:nvPr/>
        </p:nvSpPr>
        <p:spPr>
          <a:xfrm>
            <a:off x="1874520" y="4599432"/>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Ask: How can my skills contribute to God's Kingdom?</a:t>
            </a:r>
            <a:endParaRPr lang="en-US" sz="1150" dirty="0"/>
          </a:p>
        </p:txBody>
      </p:sp>
      <p:sp>
        <p:nvSpPr>
          <p:cNvPr id="23" name="Text 20"/>
          <p:cNvSpPr/>
          <p:nvPr/>
        </p:nvSpPr>
        <p:spPr>
          <a:xfrm>
            <a:off x="9601200" y="4251960"/>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Matthew 28:19-20</a:t>
            </a:r>
            <a:endParaRPr lang="en-US" sz="1100" dirty="0"/>
          </a:p>
        </p:txBody>
      </p:sp>
      <p:sp>
        <p:nvSpPr>
          <p:cNvPr id="24" name="Shape 21"/>
          <p:cNvSpPr/>
          <p:nvPr/>
        </p:nvSpPr>
        <p:spPr>
          <a:xfrm>
            <a:off x="868680" y="5230368"/>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5" name="Shape 22"/>
          <p:cNvSpPr/>
          <p:nvPr/>
        </p:nvSpPr>
        <p:spPr>
          <a:xfrm>
            <a:off x="1097280" y="5431536"/>
            <a:ext cx="566928" cy="566928"/>
          </a:xfrm>
          <a:prstGeom prst="ellipse">
            <a:avLst/>
          </a:prstGeom>
          <a:solidFill>
            <a:srgbClr val="B85042"/>
          </a:solidFill>
          <a:ln/>
        </p:spPr>
      </p:sp>
      <p:sp>
        <p:nvSpPr>
          <p:cNvPr id="26" name="Text 23"/>
          <p:cNvSpPr/>
          <p:nvPr/>
        </p:nvSpPr>
        <p:spPr>
          <a:xfrm>
            <a:off x="1097280" y="5431536"/>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29</a:t>
            </a:r>
            <a:endParaRPr lang="en-US" sz="2000" dirty="0"/>
          </a:p>
        </p:txBody>
      </p:sp>
      <p:sp>
        <p:nvSpPr>
          <p:cNvPr id="27" name="Text 24"/>
          <p:cNvSpPr/>
          <p:nvPr/>
        </p:nvSpPr>
        <p:spPr>
          <a:xfrm>
            <a:off x="1874520" y="5340096"/>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Personal Technology Covenant</a:t>
            </a:r>
            <a:endParaRPr lang="en-US" sz="1500" dirty="0"/>
          </a:p>
        </p:txBody>
      </p:sp>
      <p:sp>
        <p:nvSpPr>
          <p:cNvPr id="28" name="Text 25"/>
          <p:cNvSpPr/>
          <p:nvPr/>
        </p:nvSpPr>
        <p:spPr>
          <a:xfrm>
            <a:off x="1874520" y="5687568"/>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Today, turn to Appendix N, The Digital Disciple's Covenant, and read through it slowly. Personalize the sections under "Personal Commitments," then sign and date it.</a:t>
            </a:r>
            <a:endParaRPr lang="en-US" sz="1150" dirty="0"/>
          </a:p>
        </p:txBody>
      </p:sp>
      <p:sp>
        <p:nvSpPr>
          <p:cNvPr id="29" name="Text 26"/>
          <p:cNvSpPr/>
          <p:nvPr/>
        </p:nvSpPr>
        <p:spPr>
          <a:xfrm>
            <a:off x="9601200" y="5340096"/>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Joshua 24:15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Week FOUR</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Living as a Faithful Steward</a:t>
            </a:r>
            <a:endParaRPr lang="en-US" sz="1500" dirty="0"/>
          </a:p>
        </p:txBody>
      </p:sp>
      <p:sp>
        <p:nvSpPr>
          <p:cNvPr id="6" name="Shape 3"/>
          <p:cNvSpPr/>
          <p:nvPr/>
        </p:nvSpPr>
        <p:spPr>
          <a:xfrm>
            <a:off x="868680" y="1965960"/>
            <a:ext cx="10424160" cy="960120"/>
          </a:xfrm>
          <a:prstGeom prst="roundRect">
            <a:avLst>
              <a:gd name="adj" fmla="val 9524"/>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097280" y="2167128"/>
            <a:ext cx="566928" cy="566928"/>
          </a:xfrm>
          <a:prstGeom prst="ellipse">
            <a:avLst/>
          </a:prstGeom>
          <a:solidFill>
            <a:srgbClr val="B85042"/>
          </a:solidFill>
          <a:ln/>
        </p:spPr>
      </p:sp>
      <p:sp>
        <p:nvSpPr>
          <p:cNvPr id="8" name="Text 5"/>
          <p:cNvSpPr/>
          <p:nvPr/>
        </p:nvSpPr>
        <p:spPr>
          <a:xfrm>
            <a:off x="1097280" y="2167128"/>
            <a:ext cx="566928" cy="566928"/>
          </a:xfrm>
          <a:prstGeom prst="rect">
            <a:avLst/>
          </a:prstGeom>
          <a:noFill/>
          <a:ln/>
        </p:spPr>
        <p:txBody>
          <a:bodyPr wrap="square" rtlCol="0" anchor="ctr"/>
          <a:lstStyle/>
          <a:p>
            <a:pPr algn="ctr" indent="0" marL="0">
              <a:buNone/>
            </a:pPr>
            <a:r>
              <a:rPr lang="en-US" sz="2000" b="1" dirty="0">
                <a:solidFill>
                  <a:srgbClr val="FBF9F3"/>
                </a:solidFill>
                <a:latin typeface="Bookman Old Style" pitchFamily="34" charset="0"/>
                <a:ea typeface="Bookman Old Style" pitchFamily="34" charset="-122"/>
                <a:cs typeface="Bookman Old Style" pitchFamily="34" charset="-120"/>
              </a:rPr>
              <a:t>30</a:t>
            </a:r>
            <a:endParaRPr lang="en-US" sz="2000" dirty="0"/>
          </a:p>
        </p:txBody>
      </p:sp>
      <p:sp>
        <p:nvSpPr>
          <p:cNvPr id="9" name="Text 6"/>
          <p:cNvSpPr/>
          <p:nvPr/>
        </p:nvSpPr>
        <p:spPr>
          <a:xfrm>
            <a:off x="1874520" y="2075688"/>
            <a:ext cx="5486400" cy="384048"/>
          </a:xfrm>
          <a:prstGeom prst="rect">
            <a:avLst/>
          </a:prstGeom>
          <a:noFill/>
          <a:ln/>
        </p:spPr>
        <p:txBody>
          <a:bodyPr wrap="square" rtlCol="0" anchor="ctr"/>
          <a:lstStyle/>
          <a:p>
            <a:pPr indent="0" marL="0">
              <a:buNone/>
            </a:pPr>
            <a:r>
              <a:rPr lang="en-US" sz="1500" b="1" dirty="0">
                <a:solidFill>
                  <a:srgbClr val="3E4A33"/>
                </a:solidFill>
                <a:latin typeface="Calibri" pitchFamily="34" charset="0"/>
                <a:ea typeface="Calibri" pitchFamily="34" charset="-122"/>
                <a:cs typeface="Calibri" pitchFamily="34" charset="-120"/>
              </a:rPr>
              <a:t>Looking Forward</a:t>
            </a:r>
            <a:endParaRPr lang="en-US" sz="1500" dirty="0"/>
          </a:p>
        </p:txBody>
      </p:sp>
      <p:sp>
        <p:nvSpPr>
          <p:cNvPr id="10" name="Text 7"/>
          <p:cNvSpPr/>
          <p:nvPr/>
        </p:nvSpPr>
        <p:spPr>
          <a:xfrm>
            <a:off x="1874520" y="2423160"/>
            <a:ext cx="7680960" cy="457200"/>
          </a:xfrm>
          <a:prstGeom prst="rect">
            <a:avLst/>
          </a:prstGeom>
          <a:noFill/>
          <a:ln/>
        </p:spPr>
        <p:txBody>
          <a:bodyPr wrap="square" rtlCol="0" anchor="t"/>
          <a:lstStyle/>
          <a:p>
            <a:pPr indent="0" marL="0">
              <a:lnSpc>
                <a:spcPct val="100000"/>
              </a:lnSpc>
              <a:buNone/>
            </a:pPr>
            <a:r>
              <a:rPr lang="en-US" sz="1150" dirty="0">
                <a:solidFill>
                  <a:srgbClr val="6B655A"/>
                </a:solidFill>
                <a:latin typeface="Calibri" pitchFamily="34" charset="0"/>
                <a:ea typeface="Calibri" pitchFamily="34" charset="-122"/>
                <a:cs typeface="Calibri" pitchFamily="34" charset="-120"/>
              </a:rPr>
              <a:t>Review your entire month. Ask: What changed? What needs further growth? What habits should continue?</a:t>
            </a:r>
            <a:endParaRPr lang="en-US" sz="1150" dirty="0"/>
          </a:p>
        </p:txBody>
      </p:sp>
      <p:sp>
        <p:nvSpPr>
          <p:cNvPr id="11" name="Text 8"/>
          <p:cNvSpPr/>
          <p:nvPr/>
        </p:nvSpPr>
        <p:spPr>
          <a:xfrm>
            <a:off x="9601200" y="2075688"/>
            <a:ext cx="1600200" cy="731520"/>
          </a:xfrm>
          <a:prstGeom prst="rect">
            <a:avLst/>
          </a:prstGeom>
          <a:noFill/>
          <a:ln/>
        </p:spPr>
        <p:txBody>
          <a:bodyPr wrap="square" rtlCol="0" anchor="ctr"/>
          <a:lstStyle/>
          <a:p>
            <a:pPr algn="r" indent="0" marL="0">
              <a:buNone/>
            </a:pPr>
            <a:r>
              <a:rPr lang="en-US" sz="1100" dirty="0">
                <a:solidFill>
                  <a:srgbClr val="C9A15A"/>
                </a:solidFill>
                <a:latin typeface="Calibri" pitchFamily="34" charset="0"/>
                <a:ea typeface="Calibri" pitchFamily="34" charset="-122"/>
                <a:cs typeface="Calibri" pitchFamily="34" charset="-120"/>
              </a:rPr>
              <a:t>✦ </a:t>
            </a:r>
            <a:pPr algn="r" indent="0" marL="0">
              <a:buNone/>
            </a:pPr>
            <a:r>
              <a:rPr lang="en-US" sz="1100" b="1" i="1" dirty="0">
                <a:solidFill>
                  <a:srgbClr val="B85042"/>
                </a:solidFill>
                <a:latin typeface="Calibri" pitchFamily="34" charset="0"/>
                <a:ea typeface="Calibri" pitchFamily="34" charset="-122"/>
                <a:cs typeface="Calibri" pitchFamily="34" charset="-120"/>
              </a:rPr>
              <a:t>Philippians 1:6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pic>
        <p:nvPicPr>
          <p:cNvPr id="3" name="Image 0" descr="preencoded.png">    </p:cNvPr>
          <p:cNvPicPr>
            <a:picLocks noChangeAspect="1"/>
          </p:cNvPicPr>
          <p:nvPr/>
        </p:nvPicPr>
        <p:blipFill>
          <a:blip r:embed="rId1"/>
          <a:stretch>
            <a:fillRect/>
          </a:stretch>
        </p:blipFill>
        <p:spPr>
          <a:xfrm>
            <a:off x="5486400" y="1828800"/>
            <a:ext cx="1188720" cy="1188720"/>
          </a:xfrm>
          <a:prstGeom prst="rect">
            <a:avLst/>
          </a:prstGeom>
        </p:spPr>
      </p:pic>
      <p:sp>
        <p:nvSpPr>
          <p:cNvPr id="4" name="Text 1"/>
          <p:cNvSpPr/>
          <p:nvPr/>
        </p:nvSpPr>
        <p:spPr>
          <a:xfrm>
            <a:off x="0" y="320040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Appendix C</a:t>
            </a:r>
            <a:endParaRPr lang="en-US" sz="1600" dirty="0"/>
          </a:p>
        </p:txBody>
      </p:sp>
      <p:sp>
        <p:nvSpPr>
          <p:cNvPr id="5" name="Text 2"/>
          <p:cNvSpPr/>
          <p:nvPr/>
        </p:nvSpPr>
        <p:spPr>
          <a:xfrm>
            <a:off x="914400" y="3611880"/>
            <a:ext cx="10332720" cy="1097280"/>
          </a:xfrm>
          <a:prstGeom prst="rect">
            <a:avLst/>
          </a:prstGeom>
          <a:noFill/>
          <a:ln/>
        </p:spPr>
        <p:txBody>
          <a:bodyPr wrap="square" rtlCol="0" anchor="t"/>
          <a:lstStyle/>
          <a:p>
            <a:pPr algn="ctr" indent="0" marL="0">
              <a:lnSpc>
                <a:spcPct val="98000"/>
              </a:lnSpc>
              <a:buNone/>
            </a:pPr>
            <a:r>
              <a:rPr lang="en-US" sz="3800" b="1" dirty="0">
                <a:solidFill>
                  <a:srgbClr val="FBF9F3"/>
                </a:solidFill>
                <a:latin typeface="Bookman Old Style" pitchFamily="34" charset="0"/>
                <a:ea typeface="Bookman Old Style" pitchFamily="34" charset="-122"/>
                <a:cs typeface="Bookman Old Style" pitchFamily="34" charset="-120"/>
              </a:rPr>
              <a:t>30 Days of Digital Discipleship</a:t>
            </a:r>
            <a:endParaRPr lang="en-US" sz="3800" dirty="0"/>
          </a:p>
        </p:txBody>
      </p:sp>
      <p:sp>
        <p:nvSpPr>
          <p:cNvPr id="6" name="Text 3"/>
          <p:cNvSpPr/>
          <p:nvPr/>
        </p:nvSpPr>
        <p:spPr>
          <a:xfrm>
            <a:off x="1371600" y="5074920"/>
            <a:ext cx="9418320" cy="822960"/>
          </a:xfrm>
          <a:prstGeom prst="rect">
            <a:avLst/>
          </a:prstGeom>
          <a:noFill/>
          <a:ln/>
        </p:spPr>
        <p:txBody>
          <a:bodyPr wrap="square" rtlCol="0" anchor="ctr"/>
          <a:lstStyle/>
          <a:p>
            <a:pPr algn="ctr" indent="0" marL="0">
              <a:buNone/>
            </a:pPr>
            <a:r>
              <a:rPr lang="en-US" sz="17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 Appendix C</dc:title>
  <dc:subject>PptxGenJS Presentation</dc:subject>
  <dc:creator>Rod Trent</dc:creator>
  <cp:lastModifiedBy>Rod Trent</cp:lastModifiedBy>
  <cp:revision>1</cp:revision>
  <dcterms:created xsi:type="dcterms:W3CDTF">2026-07-03T18:29:11Z</dcterms:created>
  <dcterms:modified xsi:type="dcterms:W3CDTF">2026-07-03T18:29:11Z</dcterms:modified>
</cp:coreProperties>
</file>