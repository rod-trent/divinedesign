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A6B4D"/>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5A6B4D"/>
          </a:solidFill>
          <a:ln/>
        </p:spPr>
      </p:sp>
      <p:sp>
        <p:nvSpPr>
          <p:cNvPr id="3" name="Shape 1"/>
          <p:cNvSpPr/>
          <p:nvPr/>
        </p:nvSpPr>
        <p:spPr>
          <a:xfrm>
            <a:off x="0" y="5349240"/>
            <a:ext cx="12161520" cy="1508760"/>
          </a:xfrm>
          <a:prstGeom prst="rect">
            <a:avLst/>
          </a:prstGeom>
          <a:solidFill>
            <a:srgbClr val="3E4A33"/>
          </a:solidFill>
          <a:ln/>
        </p:spPr>
      </p:sp>
      <p:sp>
        <p:nvSpPr>
          <p:cNvPr id="4" name="Shape 2"/>
          <p:cNvSpPr/>
          <p:nvPr/>
        </p:nvSpPr>
        <p:spPr>
          <a:xfrm>
            <a:off x="9326880" y="685800"/>
            <a:ext cx="1965960" cy="1965960"/>
          </a:xfrm>
          <a:prstGeom prst="ellipse">
            <a:avLst/>
          </a:prstGeom>
          <a:solidFill>
            <a:srgbClr val="3E4A33"/>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84080" y="1133856"/>
            <a:ext cx="1051560" cy="105156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Companion Resource</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Appendix G</a:t>
            </a:r>
            <a:endParaRPr lang="en-US" sz="3000" dirty="0"/>
          </a:p>
        </p:txBody>
      </p:sp>
      <p:sp>
        <p:nvSpPr>
          <p:cNvPr id="9" name="Text 6"/>
          <p:cNvSpPr/>
          <p:nvPr/>
        </p:nvSpPr>
        <p:spPr>
          <a:xfrm>
            <a:off x="777240" y="2926080"/>
            <a:ext cx="10607040" cy="2194560"/>
          </a:xfrm>
          <a:prstGeom prst="rect">
            <a:avLst/>
          </a:prstGeom>
          <a:noFill/>
          <a:ln/>
        </p:spPr>
        <p:txBody>
          <a:bodyPr wrap="square" rtlCol="0" anchor="t"/>
          <a:lstStyle/>
          <a:p>
            <a:pPr indent="0" marL="0">
              <a:lnSpc>
                <a:spcPct val="96000"/>
              </a:lnSpc>
              <a:buNone/>
            </a:pPr>
            <a:r>
              <a:rPr lang="en-US" sz="5200" b="1" dirty="0">
                <a:solidFill>
                  <a:srgbClr val="FBF9F3"/>
                </a:solidFill>
                <a:latin typeface="Bookman Old Style" pitchFamily="34" charset="0"/>
                <a:ea typeface="Bookman Old Style" pitchFamily="34" charset="-122"/>
                <a:cs typeface="Bookman Old Style" pitchFamily="34" charset="-120"/>
              </a:rPr>
              <a:t>Digital Witness Field Guide</a:t>
            </a:r>
            <a:endParaRPr lang="en-US" sz="5200" dirty="0"/>
          </a:p>
        </p:txBody>
      </p:sp>
      <p:sp>
        <p:nvSpPr>
          <p:cNvPr id="10" name="Text 7"/>
          <p:cNvSpPr/>
          <p:nvPr/>
        </p:nvSpPr>
        <p:spPr>
          <a:xfrm>
            <a:off x="868680" y="5715000"/>
            <a:ext cx="10058400" cy="822960"/>
          </a:xfrm>
          <a:prstGeom prst="rect">
            <a:avLst/>
          </a:prstGeom>
          <a:noFill/>
          <a:ln/>
        </p:spPr>
        <p:txBody>
          <a:bodyPr wrap="square" rtlCol="0" anchor="ctr"/>
          <a:lstStyle/>
          <a:p>
            <a:pPr indent="0" marL="0">
              <a:buNone/>
            </a:pPr>
            <a:r>
              <a:rPr lang="en-US" sz="1600" i="1" dirty="0">
                <a:solidFill>
                  <a:srgbClr val="E7E8D1"/>
                </a:solidFill>
                <a:latin typeface="Calibri" pitchFamily="34" charset="0"/>
                <a:ea typeface="Calibri" pitchFamily="34" charset="-122"/>
                <a:cs typeface="Calibri" pitchFamily="34" charset="-120"/>
              </a:rPr>
              <a:t>Sharing Christ with Grace and Truth Online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What's Inside</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The sections of this resource</a:t>
            </a:r>
            <a:endParaRPr lang="en-US" sz="1500" dirty="0"/>
          </a:p>
        </p:txBody>
      </p:sp>
      <p:sp>
        <p:nvSpPr>
          <p:cNvPr id="6" name="Shape 3"/>
          <p:cNvSpPr/>
          <p:nvPr/>
        </p:nvSpPr>
        <p:spPr>
          <a:xfrm>
            <a:off x="868680" y="1783080"/>
            <a:ext cx="457200" cy="457200"/>
          </a:xfrm>
          <a:prstGeom prst="ellipse">
            <a:avLst/>
          </a:prstGeom>
          <a:solidFill>
            <a:srgbClr val="B85042"/>
          </a:solidFill>
          <a:ln/>
        </p:spPr>
      </p:sp>
      <p:sp>
        <p:nvSpPr>
          <p:cNvPr id="7" name="Text 4"/>
          <p:cNvSpPr/>
          <p:nvPr/>
        </p:nvSpPr>
        <p:spPr>
          <a:xfrm>
            <a:off x="868680" y="178308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527048" y="173736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Introduction</a:t>
            </a:r>
            <a:endParaRPr lang="en-US" sz="1300" dirty="0"/>
          </a:p>
        </p:txBody>
      </p:sp>
      <p:sp>
        <p:nvSpPr>
          <p:cNvPr id="9" name="Shape 6"/>
          <p:cNvSpPr/>
          <p:nvPr/>
        </p:nvSpPr>
        <p:spPr>
          <a:xfrm>
            <a:off x="868680" y="2350008"/>
            <a:ext cx="457200" cy="457200"/>
          </a:xfrm>
          <a:prstGeom prst="ellipse">
            <a:avLst/>
          </a:prstGeom>
          <a:solidFill>
            <a:srgbClr val="B85042"/>
          </a:solidFill>
          <a:ln/>
        </p:spPr>
      </p:sp>
      <p:sp>
        <p:nvSpPr>
          <p:cNvPr id="10" name="Text 7"/>
          <p:cNvSpPr/>
          <p:nvPr/>
        </p:nvSpPr>
        <p:spPr>
          <a:xfrm>
            <a:off x="868680" y="235000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527048" y="230428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The Mission Field Has a Screen</a:t>
            </a:r>
            <a:endParaRPr lang="en-US" sz="1300" dirty="0"/>
          </a:p>
        </p:txBody>
      </p:sp>
      <p:sp>
        <p:nvSpPr>
          <p:cNvPr id="12" name="Shape 9"/>
          <p:cNvSpPr/>
          <p:nvPr/>
        </p:nvSpPr>
        <p:spPr>
          <a:xfrm>
            <a:off x="868680" y="2916936"/>
            <a:ext cx="457200" cy="457200"/>
          </a:xfrm>
          <a:prstGeom prst="ellipse">
            <a:avLst/>
          </a:prstGeom>
          <a:solidFill>
            <a:srgbClr val="B85042"/>
          </a:solidFill>
          <a:ln/>
        </p:spPr>
      </p:sp>
      <p:sp>
        <p:nvSpPr>
          <p:cNvPr id="13" name="Text 10"/>
          <p:cNvSpPr/>
          <p:nvPr/>
        </p:nvSpPr>
        <p:spPr>
          <a:xfrm>
            <a:off x="868680" y="291693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527048" y="287121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Witness Begins Before Words</a:t>
            </a:r>
            <a:endParaRPr lang="en-US" sz="1300" dirty="0"/>
          </a:p>
        </p:txBody>
      </p:sp>
      <p:sp>
        <p:nvSpPr>
          <p:cNvPr id="15" name="Shape 12"/>
          <p:cNvSpPr/>
          <p:nvPr/>
        </p:nvSpPr>
        <p:spPr>
          <a:xfrm>
            <a:off x="868680" y="3483864"/>
            <a:ext cx="457200" cy="457200"/>
          </a:xfrm>
          <a:prstGeom prst="ellipse">
            <a:avLst/>
          </a:prstGeom>
          <a:solidFill>
            <a:srgbClr val="B85042"/>
          </a:solidFill>
          <a:ln/>
        </p:spPr>
      </p:sp>
      <p:sp>
        <p:nvSpPr>
          <p:cNvPr id="16" name="Text 13"/>
          <p:cNvSpPr/>
          <p:nvPr/>
        </p:nvSpPr>
        <p:spPr>
          <a:xfrm>
            <a:off x="868680" y="3483864"/>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527048" y="3438144"/>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The Digital Ambassador</a:t>
            </a:r>
            <a:endParaRPr lang="en-US" sz="1300" dirty="0"/>
          </a:p>
        </p:txBody>
      </p:sp>
      <p:sp>
        <p:nvSpPr>
          <p:cNvPr id="18" name="Shape 15"/>
          <p:cNvSpPr/>
          <p:nvPr/>
        </p:nvSpPr>
        <p:spPr>
          <a:xfrm>
            <a:off x="868680" y="4050792"/>
            <a:ext cx="457200" cy="457200"/>
          </a:xfrm>
          <a:prstGeom prst="ellipse">
            <a:avLst/>
          </a:prstGeom>
          <a:solidFill>
            <a:srgbClr val="B85042"/>
          </a:solidFill>
          <a:ln/>
        </p:spPr>
      </p:sp>
      <p:sp>
        <p:nvSpPr>
          <p:cNvPr id="19" name="Text 16"/>
          <p:cNvSpPr/>
          <p:nvPr/>
        </p:nvSpPr>
        <p:spPr>
          <a:xfrm>
            <a:off x="868680" y="4050792"/>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527048" y="4005072"/>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Before You Post, The T.H.I.N.K. Test</a:t>
            </a:r>
            <a:endParaRPr lang="en-US" sz="1300" dirty="0"/>
          </a:p>
        </p:txBody>
      </p:sp>
      <p:sp>
        <p:nvSpPr>
          <p:cNvPr id="21" name="Shape 18"/>
          <p:cNvSpPr/>
          <p:nvPr/>
        </p:nvSpPr>
        <p:spPr>
          <a:xfrm>
            <a:off x="868680" y="4617720"/>
            <a:ext cx="457200" cy="457200"/>
          </a:xfrm>
          <a:prstGeom prst="ellipse">
            <a:avLst/>
          </a:prstGeom>
          <a:solidFill>
            <a:srgbClr val="B85042"/>
          </a:solidFill>
          <a:ln/>
        </p:spPr>
      </p:sp>
      <p:sp>
        <p:nvSpPr>
          <p:cNvPr id="22" name="Text 19"/>
          <p:cNvSpPr/>
          <p:nvPr/>
        </p:nvSpPr>
        <p:spPr>
          <a:xfrm>
            <a:off x="868680" y="461772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6</a:t>
            </a:r>
            <a:endParaRPr lang="en-US" sz="1400" dirty="0"/>
          </a:p>
        </p:txBody>
      </p:sp>
      <p:sp>
        <p:nvSpPr>
          <p:cNvPr id="23" name="Text 20"/>
          <p:cNvSpPr/>
          <p:nvPr/>
        </p:nvSpPr>
        <p:spPr>
          <a:xfrm>
            <a:off x="1527048" y="457200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Evangelism in Digital Spaces</a:t>
            </a:r>
            <a:endParaRPr lang="en-US" sz="1300" dirty="0"/>
          </a:p>
        </p:txBody>
      </p:sp>
      <p:sp>
        <p:nvSpPr>
          <p:cNvPr id="24" name="Shape 21"/>
          <p:cNvSpPr/>
          <p:nvPr/>
        </p:nvSpPr>
        <p:spPr>
          <a:xfrm>
            <a:off x="868680" y="5184648"/>
            <a:ext cx="457200" cy="457200"/>
          </a:xfrm>
          <a:prstGeom prst="ellipse">
            <a:avLst/>
          </a:prstGeom>
          <a:solidFill>
            <a:srgbClr val="B85042"/>
          </a:solidFill>
          <a:ln/>
        </p:spPr>
      </p:sp>
      <p:sp>
        <p:nvSpPr>
          <p:cNvPr id="25" name="Text 22"/>
          <p:cNvSpPr/>
          <p:nvPr/>
        </p:nvSpPr>
        <p:spPr>
          <a:xfrm>
            <a:off x="868680" y="518464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7</a:t>
            </a:r>
            <a:endParaRPr lang="en-US" sz="1400" dirty="0"/>
          </a:p>
        </p:txBody>
      </p:sp>
      <p:sp>
        <p:nvSpPr>
          <p:cNvPr id="26" name="Text 23"/>
          <p:cNvSpPr/>
          <p:nvPr/>
        </p:nvSpPr>
        <p:spPr>
          <a:xfrm>
            <a:off x="1527048" y="513892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Responding to Hostility</a:t>
            </a:r>
            <a:endParaRPr lang="en-US" sz="1300" dirty="0"/>
          </a:p>
        </p:txBody>
      </p:sp>
      <p:sp>
        <p:nvSpPr>
          <p:cNvPr id="27" name="Shape 24"/>
          <p:cNvSpPr/>
          <p:nvPr/>
        </p:nvSpPr>
        <p:spPr>
          <a:xfrm>
            <a:off x="868680" y="5751576"/>
            <a:ext cx="457200" cy="457200"/>
          </a:xfrm>
          <a:prstGeom prst="ellipse">
            <a:avLst/>
          </a:prstGeom>
          <a:solidFill>
            <a:srgbClr val="B85042"/>
          </a:solidFill>
          <a:ln/>
        </p:spPr>
      </p:sp>
      <p:sp>
        <p:nvSpPr>
          <p:cNvPr id="28" name="Text 25"/>
          <p:cNvSpPr/>
          <p:nvPr/>
        </p:nvSpPr>
        <p:spPr>
          <a:xfrm>
            <a:off x="868680" y="575157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8</a:t>
            </a:r>
            <a:endParaRPr lang="en-US" sz="1400" dirty="0"/>
          </a:p>
        </p:txBody>
      </p:sp>
      <p:sp>
        <p:nvSpPr>
          <p:cNvPr id="29" name="Text 26"/>
          <p:cNvSpPr/>
          <p:nvPr/>
        </p:nvSpPr>
        <p:spPr>
          <a:xfrm>
            <a:off x="1527048" y="570585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When to Move Offline</a:t>
            </a:r>
            <a:endParaRPr lang="en-US" sz="1300" dirty="0"/>
          </a:p>
        </p:txBody>
      </p:sp>
      <p:sp>
        <p:nvSpPr>
          <p:cNvPr id="30" name="Shape 27"/>
          <p:cNvSpPr/>
          <p:nvPr/>
        </p:nvSpPr>
        <p:spPr>
          <a:xfrm>
            <a:off x="868680" y="6318504"/>
            <a:ext cx="457200" cy="457200"/>
          </a:xfrm>
          <a:prstGeom prst="ellipse">
            <a:avLst/>
          </a:prstGeom>
          <a:solidFill>
            <a:srgbClr val="B85042"/>
          </a:solidFill>
          <a:ln/>
        </p:spPr>
      </p:sp>
      <p:sp>
        <p:nvSpPr>
          <p:cNvPr id="31" name="Text 28"/>
          <p:cNvSpPr/>
          <p:nvPr/>
        </p:nvSpPr>
        <p:spPr>
          <a:xfrm>
            <a:off x="868680" y="6318504"/>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9</a:t>
            </a:r>
            <a:endParaRPr lang="en-US" sz="1400" dirty="0"/>
          </a:p>
        </p:txBody>
      </p:sp>
      <p:sp>
        <p:nvSpPr>
          <p:cNvPr id="32" name="Text 29"/>
          <p:cNvSpPr/>
          <p:nvPr/>
        </p:nvSpPr>
        <p:spPr>
          <a:xfrm>
            <a:off x="1527048" y="6272784"/>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Avoiding Performative Faith</a:t>
            </a:r>
            <a:endParaRPr lang="en-US" sz="1300" dirty="0"/>
          </a:p>
        </p:txBody>
      </p:sp>
      <p:sp>
        <p:nvSpPr>
          <p:cNvPr id="33" name="Shape 30"/>
          <p:cNvSpPr/>
          <p:nvPr/>
        </p:nvSpPr>
        <p:spPr>
          <a:xfrm>
            <a:off x="6355080" y="1783080"/>
            <a:ext cx="457200" cy="457200"/>
          </a:xfrm>
          <a:prstGeom prst="ellipse">
            <a:avLst/>
          </a:prstGeom>
          <a:solidFill>
            <a:srgbClr val="B85042"/>
          </a:solidFill>
          <a:ln/>
        </p:spPr>
      </p:sp>
      <p:sp>
        <p:nvSpPr>
          <p:cNvPr id="34" name="Text 31"/>
          <p:cNvSpPr/>
          <p:nvPr/>
        </p:nvSpPr>
        <p:spPr>
          <a:xfrm>
            <a:off x="6355080" y="178308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10</a:t>
            </a:r>
            <a:endParaRPr lang="en-US" sz="1400" dirty="0"/>
          </a:p>
        </p:txBody>
      </p:sp>
      <p:sp>
        <p:nvSpPr>
          <p:cNvPr id="35" name="Text 32"/>
          <p:cNvSpPr/>
          <p:nvPr/>
        </p:nvSpPr>
        <p:spPr>
          <a:xfrm>
            <a:off x="7013448" y="173736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Apologetics with Humility</a:t>
            </a:r>
            <a:endParaRPr lang="en-US" sz="1300" dirty="0"/>
          </a:p>
        </p:txBody>
      </p:sp>
      <p:sp>
        <p:nvSpPr>
          <p:cNvPr id="36" name="Shape 33"/>
          <p:cNvSpPr/>
          <p:nvPr/>
        </p:nvSpPr>
        <p:spPr>
          <a:xfrm>
            <a:off x="6355080" y="2350008"/>
            <a:ext cx="457200" cy="457200"/>
          </a:xfrm>
          <a:prstGeom prst="ellipse">
            <a:avLst/>
          </a:prstGeom>
          <a:solidFill>
            <a:srgbClr val="B85042"/>
          </a:solidFill>
          <a:ln/>
        </p:spPr>
      </p:sp>
      <p:sp>
        <p:nvSpPr>
          <p:cNvPr id="37" name="Text 34"/>
          <p:cNvSpPr/>
          <p:nvPr/>
        </p:nvSpPr>
        <p:spPr>
          <a:xfrm>
            <a:off x="6355080" y="235000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11</a:t>
            </a:r>
            <a:endParaRPr lang="en-US" sz="1400" dirty="0"/>
          </a:p>
        </p:txBody>
      </p:sp>
      <p:sp>
        <p:nvSpPr>
          <p:cNvPr id="38" name="Text 35"/>
          <p:cNvSpPr/>
          <p:nvPr/>
        </p:nvSpPr>
        <p:spPr>
          <a:xfrm>
            <a:off x="7013448" y="230428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Sharing Scripture Wisely</a:t>
            </a:r>
            <a:endParaRPr lang="en-US" sz="1300" dirty="0"/>
          </a:p>
        </p:txBody>
      </p:sp>
      <p:sp>
        <p:nvSpPr>
          <p:cNvPr id="39" name="Shape 36"/>
          <p:cNvSpPr/>
          <p:nvPr/>
        </p:nvSpPr>
        <p:spPr>
          <a:xfrm>
            <a:off x="6355080" y="2916936"/>
            <a:ext cx="457200" cy="457200"/>
          </a:xfrm>
          <a:prstGeom prst="ellipse">
            <a:avLst/>
          </a:prstGeom>
          <a:solidFill>
            <a:srgbClr val="B85042"/>
          </a:solidFill>
          <a:ln/>
        </p:spPr>
      </p:sp>
      <p:sp>
        <p:nvSpPr>
          <p:cNvPr id="40" name="Text 37"/>
          <p:cNvSpPr/>
          <p:nvPr/>
        </p:nvSpPr>
        <p:spPr>
          <a:xfrm>
            <a:off x="6355080" y="291693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12</a:t>
            </a:r>
            <a:endParaRPr lang="en-US" sz="1400" dirty="0"/>
          </a:p>
        </p:txBody>
      </p:sp>
      <p:sp>
        <p:nvSpPr>
          <p:cNvPr id="41" name="Text 38"/>
          <p:cNvSpPr/>
          <p:nvPr/>
        </p:nvSpPr>
        <p:spPr>
          <a:xfrm>
            <a:off x="7013448" y="287121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AI and Digital Witness</a:t>
            </a:r>
            <a:endParaRPr lang="en-US" sz="1300" dirty="0"/>
          </a:p>
        </p:txBody>
      </p:sp>
      <p:sp>
        <p:nvSpPr>
          <p:cNvPr id="42" name="Shape 39"/>
          <p:cNvSpPr/>
          <p:nvPr/>
        </p:nvSpPr>
        <p:spPr>
          <a:xfrm>
            <a:off x="6355080" y="3483864"/>
            <a:ext cx="457200" cy="457200"/>
          </a:xfrm>
          <a:prstGeom prst="ellipse">
            <a:avLst/>
          </a:prstGeom>
          <a:solidFill>
            <a:srgbClr val="B85042"/>
          </a:solidFill>
          <a:ln/>
        </p:spPr>
      </p:sp>
      <p:sp>
        <p:nvSpPr>
          <p:cNvPr id="43" name="Text 40"/>
          <p:cNvSpPr/>
          <p:nvPr/>
        </p:nvSpPr>
        <p:spPr>
          <a:xfrm>
            <a:off x="6355080" y="3483864"/>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13</a:t>
            </a:r>
            <a:endParaRPr lang="en-US" sz="1400" dirty="0"/>
          </a:p>
        </p:txBody>
      </p:sp>
      <p:sp>
        <p:nvSpPr>
          <p:cNvPr id="44" name="Text 41"/>
          <p:cNvSpPr/>
          <p:nvPr/>
        </p:nvSpPr>
        <p:spPr>
          <a:xfrm>
            <a:off x="7013448" y="3438144"/>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The Ministry of Encouragement</a:t>
            </a:r>
            <a:endParaRPr lang="en-US" sz="1300" dirty="0"/>
          </a:p>
        </p:txBody>
      </p:sp>
      <p:sp>
        <p:nvSpPr>
          <p:cNvPr id="45" name="Shape 42"/>
          <p:cNvSpPr/>
          <p:nvPr/>
        </p:nvSpPr>
        <p:spPr>
          <a:xfrm>
            <a:off x="6355080" y="4050792"/>
            <a:ext cx="457200" cy="457200"/>
          </a:xfrm>
          <a:prstGeom prst="ellipse">
            <a:avLst/>
          </a:prstGeom>
          <a:solidFill>
            <a:srgbClr val="B85042"/>
          </a:solidFill>
          <a:ln/>
        </p:spPr>
      </p:sp>
      <p:sp>
        <p:nvSpPr>
          <p:cNvPr id="46" name="Text 43"/>
          <p:cNvSpPr/>
          <p:nvPr/>
        </p:nvSpPr>
        <p:spPr>
          <a:xfrm>
            <a:off x="6355080" y="4050792"/>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14</a:t>
            </a:r>
            <a:endParaRPr lang="en-US" sz="1400" dirty="0"/>
          </a:p>
        </p:txBody>
      </p:sp>
      <p:sp>
        <p:nvSpPr>
          <p:cNvPr id="47" name="Text 44"/>
          <p:cNvSpPr/>
          <p:nvPr/>
        </p:nvSpPr>
        <p:spPr>
          <a:xfrm>
            <a:off x="7013448" y="4005072"/>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 Digital Witness Audit</a:t>
            </a:r>
            <a:endParaRPr lang="en-US" sz="1300" dirty="0"/>
          </a:p>
        </p:txBody>
      </p:sp>
      <p:sp>
        <p:nvSpPr>
          <p:cNvPr id="48" name="Shape 45"/>
          <p:cNvSpPr/>
          <p:nvPr/>
        </p:nvSpPr>
        <p:spPr>
          <a:xfrm>
            <a:off x="6355080" y="4617720"/>
            <a:ext cx="457200" cy="457200"/>
          </a:xfrm>
          <a:prstGeom prst="ellipse">
            <a:avLst/>
          </a:prstGeom>
          <a:solidFill>
            <a:srgbClr val="B85042"/>
          </a:solidFill>
          <a:ln/>
        </p:spPr>
      </p:sp>
      <p:sp>
        <p:nvSpPr>
          <p:cNvPr id="49" name="Text 46"/>
          <p:cNvSpPr/>
          <p:nvPr/>
        </p:nvSpPr>
        <p:spPr>
          <a:xfrm>
            <a:off x="6355080" y="461772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15</a:t>
            </a:r>
            <a:endParaRPr lang="en-US" sz="1400" dirty="0"/>
          </a:p>
        </p:txBody>
      </p:sp>
      <p:sp>
        <p:nvSpPr>
          <p:cNvPr id="50" name="Text 47"/>
          <p:cNvSpPr/>
          <p:nvPr/>
        </p:nvSpPr>
        <p:spPr>
          <a:xfrm>
            <a:off x="7013448" y="457200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Practical Commitments</a:t>
            </a:r>
            <a:endParaRPr lang="en-US" sz="1300" dirty="0"/>
          </a:p>
        </p:txBody>
      </p:sp>
      <p:sp>
        <p:nvSpPr>
          <p:cNvPr id="51" name="Shape 48"/>
          <p:cNvSpPr/>
          <p:nvPr/>
        </p:nvSpPr>
        <p:spPr>
          <a:xfrm>
            <a:off x="6355080" y="5184648"/>
            <a:ext cx="457200" cy="457200"/>
          </a:xfrm>
          <a:prstGeom prst="ellipse">
            <a:avLst/>
          </a:prstGeom>
          <a:solidFill>
            <a:srgbClr val="B85042"/>
          </a:solidFill>
          <a:ln/>
        </p:spPr>
      </p:sp>
      <p:sp>
        <p:nvSpPr>
          <p:cNvPr id="52" name="Text 49"/>
          <p:cNvSpPr/>
          <p:nvPr/>
        </p:nvSpPr>
        <p:spPr>
          <a:xfrm>
            <a:off x="6355080" y="518464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16</a:t>
            </a:r>
            <a:endParaRPr lang="en-US" sz="1400" dirty="0"/>
          </a:p>
        </p:txBody>
      </p:sp>
      <p:sp>
        <p:nvSpPr>
          <p:cNvPr id="53" name="Text 50"/>
          <p:cNvSpPr/>
          <p:nvPr/>
        </p:nvSpPr>
        <p:spPr>
          <a:xfrm>
            <a:off x="7013448" y="513892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Sample Responses for Difficult Moments</a:t>
            </a:r>
            <a:endParaRPr lang="en-US" sz="1300" dirty="0"/>
          </a:p>
        </p:txBody>
      </p:sp>
      <p:sp>
        <p:nvSpPr>
          <p:cNvPr id="54" name="Shape 51"/>
          <p:cNvSpPr/>
          <p:nvPr/>
        </p:nvSpPr>
        <p:spPr>
          <a:xfrm>
            <a:off x="6355080" y="5751576"/>
            <a:ext cx="457200" cy="457200"/>
          </a:xfrm>
          <a:prstGeom prst="ellipse">
            <a:avLst/>
          </a:prstGeom>
          <a:solidFill>
            <a:srgbClr val="B85042"/>
          </a:solidFill>
          <a:ln/>
        </p:spPr>
      </p:sp>
      <p:sp>
        <p:nvSpPr>
          <p:cNvPr id="55" name="Text 52"/>
          <p:cNvSpPr/>
          <p:nvPr/>
        </p:nvSpPr>
        <p:spPr>
          <a:xfrm>
            <a:off x="6355080" y="575157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17</a:t>
            </a:r>
            <a:endParaRPr lang="en-US" sz="1400" dirty="0"/>
          </a:p>
        </p:txBody>
      </p:sp>
      <p:sp>
        <p:nvSpPr>
          <p:cNvPr id="56" name="Text 53"/>
          <p:cNvSpPr/>
          <p:nvPr/>
        </p:nvSpPr>
        <p:spPr>
          <a:xfrm>
            <a:off x="7013448" y="570585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Closing Prayer</a:t>
            </a:r>
            <a:endParaRPr lang="en-US" sz="1300" dirty="0"/>
          </a:p>
        </p:txBody>
      </p:sp>
      <p:sp>
        <p:nvSpPr>
          <p:cNvPr id="57" name="Shape 54"/>
          <p:cNvSpPr/>
          <p:nvPr/>
        </p:nvSpPr>
        <p:spPr>
          <a:xfrm>
            <a:off x="6355080" y="6318504"/>
            <a:ext cx="457200" cy="457200"/>
          </a:xfrm>
          <a:prstGeom prst="ellipse">
            <a:avLst/>
          </a:prstGeom>
          <a:solidFill>
            <a:srgbClr val="B85042"/>
          </a:solidFill>
          <a:ln/>
        </p:spPr>
      </p:sp>
      <p:sp>
        <p:nvSpPr>
          <p:cNvPr id="58" name="Text 55"/>
          <p:cNvSpPr/>
          <p:nvPr/>
        </p:nvSpPr>
        <p:spPr>
          <a:xfrm>
            <a:off x="6355080" y="6318504"/>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18</a:t>
            </a:r>
            <a:endParaRPr lang="en-US" sz="1400" dirty="0"/>
          </a:p>
        </p:txBody>
      </p:sp>
      <p:sp>
        <p:nvSpPr>
          <p:cNvPr id="59" name="Text 56"/>
          <p:cNvSpPr/>
          <p:nvPr/>
        </p:nvSpPr>
        <p:spPr>
          <a:xfrm>
            <a:off x="7013448" y="6272784"/>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Final Challenge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01 / 18</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Introduction</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Expanding Chapter 11: the internet is not separate from real life. The people behind usernames are real people.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02 / 18</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The Mission Field Has a Screen</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Christ's call to be witnesses didn't disappear when communication moved to screens. The mission field now has a screen.</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03 / 18</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Witness Begins Before Words</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Online witness begins in the heart. Before posting or replying, ask why you're saying it — and whether it reflects Christ.</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04 / 18</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The Digital Ambassador</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'We are ambassadors for Christ.' Online you represent a kingdom, not merely your own opinions or preferences.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05 / 18</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Before You Post, The T.H.I.N.K. Test</a:t>
            </a:r>
            <a:endParaRPr lang="en-US" sz="30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Before posting, run it through THINK: is it True, Helpful, Inspiring, Necessary, and Kind?</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06 / 18</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Evangelism in Digital Spaces</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Digital evangelism requires no manipulation — only faithfulness, patience, and a willingness to represent Christ honestly.</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07 / 18</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Responding to Hostility</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Not every conversation deserves a reply. Discern who asks sincerely and who only seeks a fight, and respond accordingly.</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G</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08 / 18</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When to Move Offline</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When someone reveals real pain or sincere spiritual interest, move the conversation to a more personal, private setting.</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G</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09 / 18</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Avoiding Performative Faith</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Beware posting truth for applause or compassion for approval. Witness turns hollow the moment faith becomes a brand.</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G</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10 / 18</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Apologetics with Humility</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The digital world is full of objections. Answer with humility and honesty, not with the goal of winning every argument.</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G</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11 / 18</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Sharing Scripture Wisely</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Scripture is powerful, but never a weapon. Share it thoughtfully, with care for the person, not just the point.</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G</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12 / 18</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AI and Digital Witness</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AI can help draft, translate, and organize outreach — a useful assistant, never a substitute for a genuine, praying witness.</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G</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13 / 18</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The Ministry of Encouragement</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Sometimes the most Christlike online act is simply encouragement — a timely, sincere word that builds someone up.</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G</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14 / 18</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A Digital Witness Audit</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Review your online presence honestly. Ask what your posts reveal about what you truly love.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G</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15 / 18</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Practical Commitments</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Pray before posting. Verify before sharing. Respond with grace. A few firm commitments reshape a digital witness.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G</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16 / 18</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Sample Responses for Difficult Moments</a:t>
            </a:r>
            <a:endParaRPr lang="en-US" sz="30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Ready, gracious replies for hostile or painful moments — modeling how to answer attacks and honest questions with Christ's tone.</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G</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5486400" y="640080"/>
            <a:ext cx="1188720" cy="1188720"/>
          </a:xfrm>
          <a:prstGeom prst="ellipse">
            <a:avLst/>
          </a:prstGeom>
          <a:solidFill>
            <a:srgbClr val="96392E"/>
          </a:solidFill>
          <a:ln w="15875">
            <a:solidFill>
              <a:srgbClr val="C9A15A"/>
            </a:solidFill>
            <a:prstDash val="solid"/>
          </a:ln>
        </p:spPr>
      </p:sp>
      <p:pic>
        <p:nvPicPr>
          <p:cNvPr id="4" name="Image 0" descr="preencoded.png">    </p:cNvPr>
          <p:cNvPicPr>
            <a:picLocks noChangeAspect="1"/>
          </p:cNvPicPr>
          <p:nvPr/>
        </p:nvPicPr>
        <p:blipFill>
          <a:blip r:embed="rId1"/>
          <a:stretch>
            <a:fillRect/>
          </a:stretch>
        </p:blipFill>
        <p:spPr>
          <a:xfrm>
            <a:off x="5788152" y="941832"/>
            <a:ext cx="585216" cy="585216"/>
          </a:xfrm>
          <a:prstGeom prst="rect">
            <a:avLst/>
          </a:prstGeom>
        </p:spPr>
      </p:pic>
      <p:sp>
        <p:nvSpPr>
          <p:cNvPr id="5" name="Text 2"/>
          <p:cNvSpPr/>
          <p:nvPr/>
        </p:nvSpPr>
        <p:spPr>
          <a:xfrm>
            <a:off x="0" y="1965960"/>
            <a:ext cx="12161520" cy="457200"/>
          </a:xfrm>
          <a:prstGeom prst="rect">
            <a:avLst/>
          </a:prstGeom>
          <a:noFill/>
          <a:ln/>
        </p:spPr>
        <p:txBody>
          <a:bodyPr wrap="square" rtlCol="0" anchor="ctr"/>
          <a:lstStyle/>
          <a:p>
            <a:pPr algn="ctr" indent="0" marL="0">
              <a:buNone/>
            </a:pPr>
            <a:r>
              <a:rPr lang="en-US" sz="2400" b="1" spc="200" kern="0" dirty="0">
                <a:solidFill>
                  <a:srgbClr val="C9A15A"/>
                </a:solidFill>
                <a:latin typeface="Bookman Old Style" pitchFamily="34" charset="0"/>
                <a:ea typeface="Bookman Old Style" pitchFamily="34" charset="-122"/>
                <a:cs typeface="Bookman Old Style" pitchFamily="34" charset="-120"/>
              </a:rPr>
              <a:t>CLOSING PRAYER</a:t>
            </a:r>
            <a:endParaRPr lang="en-US" sz="2400" dirty="0"/>
          </a:p>
        </p:txBody>
      </p:sp>
      <p:sp>
        <p:nvSpPr>
          <p:cNvPr id="6" name="Shape 3"/>
          <p:cNvSpPr/>
          <p:nvPr/>
        </p:nvSpPr>
        <p:spPr>
          <a:xfrm>
            <a:off x="1554480" y="2697480"/>
            <a:ext cx="9052560" cy="3611880"/>
          </a:xfrm>
          <a:prstGeom prst="roundRect">
            <a:avLst>
              <a:gd name="adj" fmla="val 3544"/>
            </a:avLst>
          </a:prstGeom>
          <a:solidFill>
            <a:srgbClr val="96392E"/>
          </a:solidFill>
          <a:ln/>
        </p:spPr>
      </p:sp>
      <p:sp>
        <p:nvSpPr>
          <p:cNvPr id="7" name="Text 4"/>
          <p:cNvSpPr/>
          <p:nvPr/>
        </p:nvSpPr>
        <p:spPr>
          <a:xfrm>
            <a:off x="2057400" y="2926080"/>
            <a:ext cx="8046720" cy="3154680"/>
          </a:xfrm>
          <a:prstGeom prst="rect">
            <a:avLst/>
          </a:prstGeom>
          <a:noFill/>
          <a:ln/>
        </p:spPr>
        <p:txBody>
          <a:bodyPr wrap="square" rtlCol="0" anchor="ctr"/>
          <a:lstStyle/>
          <a:p>
            <a:pPr algn="ctr" indent="0" marL="0">
              <a:lnSpc>
                <a:spcPct val="112000"/>
              </a:lnSpc>
              <a:buNone/>
            </a:pPr>
            <a:r>
              <a:rPr lang="en-US" sz="2100" i="1" dirty="0">
                <a:solidFill>
                  <a:srgbClr val="FBF9F3"/>
                </a:solidFill>
                <a:latin typeface="Bookman Old Style" pitchFamily="34" charset="0"/>
                <a:ea typeface="Bookman Old Style" pitchFamily="34" charset="-122"/>
                <a:cs typeface="Bookman Old Style" pitchFamily="34" charset="-120"/>
              </a:rPr>
              <a:t>"Lord Jesus, make me a faithful witness in every digital space. Guard my words, my tone, my motives, and my heart. Help me speak truth without arrogance, show grace without compromise, and love people who disagree with me. Teach me when to speak and when to remain silent. Use my online presence to encourage, serve, disciple, and point others toward You. May every post, message, comment, and conversation reflect Your character. Amen."</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18 / 18</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Final Challenge</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Before your next online interaction, pause and pray: 'Lord, help me represent You well.' That prayer may change everything.</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G</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pic>
        <p:nvPicPr>
          <p:cNvPr id="3" name="Image 0" descr="preencoded.png">    </p:cNvPr>
          <p:cNvPicPr>
            <a:picLocks noChangeAspect="1"/>
          </p:cNvPicPr>
          <p:nvPr/>
        </p:nvPicPr>
        <p:blipFill>
          <a:blip r:embed="rId1"/>
          <a:stretch>
            <a:fillRect/>
          </a:stretch>
        </p:blipFill>
        <p:spPr>
          <a:xfrm>
            <a:off x="5486400" y="1828800"/>
            <a:ext cx="1188720" cy="1188720"/>
          </a:xfrm>
          <a:prstGeom prst="rect">
            <a:avLst/>
          </a:prstGeom>
        </p:spPr>
      </p:pic>
      <p:sp>
        <p:nvSpPr>
          <p:cNvPr id="4" name="Text 1"/>
          <p:cNvSpPr/>
          <p:nvPr/>
        </p:nvSpPr>
        <p:spPr>
          <a:xfrm>
            <a:off x="0" y="320040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Appendix G</a:t>
            </a:r>
            <a:endParaRPr lang="en-US" sz="1600" dirty="0"/>
          </a:p>
        </p:txBody>
      </p:sp>
      <p:sp>
        <p:nvSpPr>
          <p:cNvPr id="5" name="Text 2"/>
          <p:cNvSpPr/>
          <p:nvPr/>
        </p:nvSpPr>
        <p:spPr>
          <a:xfrm>
            <a:off x="914400" y="3611880"/>
            <a:ext cx="10332720" cy="1097280"/>
          </a:xfrm>
          <a:prstGeom prst="rect">
            <a:avLst/>
          </a:prstGeom>
          <a:noFill/>
          <a:ln/>
        </p:spPr>
        <p:txBody>
          <a:bodyPr wrap="square" rtlCol="0" anchor="t"/>
          <a:lstStyle/>
          <a:p>
            <a:pPr algn="ctr" indent="0" marL="0">
              <a:lnSpc>
                <a:spcPct val="98000"/>
              </a:lnSpc>
              <a:buNone/>
            </a:pPr>
            <a:r>
              <a:rPr lang="en-US" sz="3800" b="1" dirty="0">
                <a:solidFill>
                  <a:srgbClr val="FBF9F3"/>
                </a:solidFill>
                <a:latin typeface="Bookman Old Style" pitchFamily="34" charset="0"/>
                <a:ea typeface="Bookman Old Style" pitchFamily="34" charset="-122"/>
                <a:cs typeface="Bookman Old Style" pitchFamily="34" charset="-120"/>
              </a:rPr>
              <a:t>Digital Witness Field Guide</a:t>
            </a:r>
            <a:endParaRPr lang="en-US" sz="3800" dirty="0"/>
          </a:p>
        </p:txBody>
      </p:sp>
      <p:sp>
        <p:nvSpPr>
          <p:cNvPr id="6" name="Text 3"/>
          <p:cNvSpPr/>
          <p:nvPr/>
        </p:nvSpPr>
        <p:spPr>
          <a:xfrm>
            <a:off x="1371600" y="5074920"/>
            <a:ext cx="9418320" cy="822960"/>
          </a:xfrm>
          <a:prstGeom prst="rect">
            <a:avLst/>
          </a:prstGeom>
          <a:noFill/>
          <a:ln/>
        </p:spPr>
        <p:txBody>
          <a:bodyPr wrap="square" rtlCol="0" anchor="ctr"/>
          <a:lstStyle/>
          <a:p>
            <a:pPr algn="ctr" indent="0" marL="0">
              <a:buNone/>
            </a:pPr>
            <a:r>
              <a:rPr lang="en-US" sz="17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 Appendix G</dc:title>
  <dc:subject>PptxGenJS Presentation</dc:subject>
  <dc:creator>Rod Trent</dc:creator>
  <cp:lastModifiedBy>Rod Trent</cp:lastModifiedBy>
  <cp:revision>1</cp:revision>
  <dcterms:created xsi:type="dcterms:W3CDTF">2026-07-03T18:29:11Z</dcterms:created>
  <dcterms:modified xsi:type="dcterms:W3CDTF">2026-07-03T18:29:11Z</dcterms:modified>
</cp:coreProperties>
</file>