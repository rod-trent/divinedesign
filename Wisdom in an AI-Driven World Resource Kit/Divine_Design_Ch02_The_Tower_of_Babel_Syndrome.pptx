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The Tower of Babel Syndrome. Open by welcoming the group and reading the key scripture, Genesis 11:1–9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Dream of Becoming More. Every generation senses it stands at the edge of something extraordinary. That conviction is ancient, not new to us.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World's First Mega Project. Babel began with unity, shared language, and real capability — a coordinated project to build something that reached the heavens.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When Innovation Becomes Self-Exaltation. Babel is not a warning against skill or ambition. Scripture celebrates excellence. The problem was the motive behind the building.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Modern Babel. The spirit of Babel never scattered — it changed materials. Ancient towers were brick; ours are built of technology.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Illusion of Self-Sufficiency. Technology's deepest appeal is the feeling of control — the sense that every problem has a setting we can adjust.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Silicon Valley and Shinar. Walk among Babel's builders and you'd meet visionaries fixed on the future — driven, gifted, and quietly certain they needed no one.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Why God Came Down. They built a tower to reach heaven; God had to 'come down' to see it. The irony is devastating and intentional.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Grace Hidden in Judgment. Scattering the builders looks like pure judgment, but mercy is woven through it — God restrained a united pride from destroying itself.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Artificial Intelligence and Ancient Temptations. AI's power is genuinely revolutionary — and it revives Babel's ancient temptation to make a name and secure our own future.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Building the Kingdom or Building a Tower?. Every Christian in tech eventually faces the searching question: why am I building this — for God's name, or my own?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Humility: The Antidote to Babel. If pride is Babel's disease, humility is the cure — not self-hatred, but rightly remembering who God is and who we are.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Living Beyond Babel. The answer to Babel is not abandoning innovation but reordering worship, so God holds the place our creations try to seize.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2</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The Tower of Babel Syndrome</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Genesis 11:1–9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Dream of Becoming More</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World's First Mega Project</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When Innovation Becomes Self-Exaltation</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Modern Babel</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Illusion of Self-Sufficiency</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Silicon Valley and Shinar</a:t>
            </a:r>
            <a:endParaRPr lang="en-US" sz="1500" dirty="0"/>
          </a:p>
        </p:txBody>
      </p:sp>
      <p:sp>
        <p:nvSpPr>
          <p:cNvPr id="24" name="Shape 21"/>
          <p:cNvSpPr/>
          <p:nvPr/>
        </p:nvSpPr>
        <p:spPr>
          <a:xfrm>
            <a:off x="6355080" y="1783080"/>
            <a:ext cx="457200" cy="457200"/>
          </a:xfrm>
          <a:prstGeom prst="ellipse">
            <a:avLst/>
          </a:prstGeom>
          <a:solidFill>
            <a:srgbClr val="6B7A5E"/>
          </a:solidFill>
          <a:ln/>
        </p:spPr>
      </p:sp>
      <p:sp>
        <p:nvSpPr>
          <p:cNvPr id="25" name="Text 22"/>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Why God Came Down</a:t>
            </a:r>
            <a:endParaRPr lang="en-US" sz="1500" dirty="0"/>
          </a:p>
        </p:txBody>
      </p:sp>
      <p:sp>
        <p:nvSpPr>
          <p:cNvPr id="27" name="Shape 24"/>
          <p:cNvSpPr/>
          <p:nvPr/>
        </p:nvSpPr>
        <p:spPr>
          <a:xfrm>
            <a:off x="6355080" y="2441448"/>
            <a:ext cx="457200" cy="457200"/>
          </a:xfrm>
          <a:prstGeom prst="ellipse">
            <a:avLst/>
          </a:prstGeom>
          <a:solidFill>
            <a:srgbClr val="6B7A5E"/>
          </a:solidFill>
          <a:ln/>
        </p:spPr>
      </p:sp>
      <p:sp>
        <p:nvSpPr>
          <p:cNvPr id="28" name="Text 25"/>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Grace Hidden in Judgment</a:t>
            </a:r>
            <a:endParaRPr lang="en-US" sz="1500" dirty="0"/>
          </a:p>
        </p:txBody>
      </p:sp>
      <p:sp>
        <p:nvSpPr>
          <p:cNvPr id="30" name="Shape 27"/>
          <p:cNvSpPr/>
          <p:nvPr/>
        </p:nvSpPr>
        <p:spPr>
          <a:xfrm>
            <a:off x="6355080" y="3099816"/>
            <a:ext cx="457200" cy="457200"/>
          </a:xfrm>
          <a:prstGeom prst="ellipse">
            <a:avLst/>
          </a:prstGeom>
          <a:solidFill>
            <a:srgbClr val="6B7A5E"/>
          </a:solidFill>
          <a:ln/>
        </p:spPr>
      </p:sp>
      <p:sp>
        <p:nvSpPr>
          <p:cNvPr id="31" name="Text 28"/>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Artificial Intelligence and Ancient Temptations</a:t>
            </a:r>
            <a:endParaRPr lang="en-US" sz="1500" dirty="0"/>
          </a:p>
        </p:txBody>
      </p:sp>
      <p:sp>
        <p:nvSpPr>
          <p:cNvPr id="33" name="Shape 30"/>
          <p:cNvSpPr/>
          <p:nvPr/>
        </p:nvSpPr>
        <p:spPr>
          <a:xfrm>
            <a:off x="6355080" y="3758184"/>
            <a:ext cx="457200" cy="457200"/>
          </a:xfrm>
          <a:prstGeom prst="ellipse">
            <a:avLst/>
          </a:prstGeom>
          <a:solidFill>
            <a:srgbClr val="6B7A5E"/>
          </a:solidFill>
          <a:ln/>
        </p:spPr>
      </p:sp>
      <p:sp>
        <p:nvSpPr>
          <p:cNvPr id="34" name="Text 31"/>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Building the Kingdom or Building a Tower?</a:t>
            </a:r>
            <a:endParaRPr lang="en-US" sz="1500" dirty="0"/>
          </a:p>
        </p:txBody>
      </p:sp>
      <p:sp>
        <p:nvSpPr>
          <p:cNvPr id="36" name="Shape 33"/>
          <p:cNvSpPr/>
          <p:nvPr/>
        </p:nvSpPr>
        <p:spPr>
          <a:xfrm>
            <a:off x="6355080" y="4416552"/>
            <a:ext cx="457200" cy="457200"/>
          </a:xfrm>
          <a:prstGeom prst="ellipse">
            <a:avLst/>
          </a:prstGeom>
          <a:solidFill>
            <a:srgbClr val="6B7A5E"/>
          </a:solidFill>
          <a:ln/>
        </p:spPr>
      </p:sp>
      <p:sp>
        <p:nvSpPr>
          <p:cNvPr id="37" name="Text 34"/>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Humility: The Antidote to Babel</a:t>
            </a:r>
            <a:endParaRPr lang="en-US" sz="1500" dirty="0"/>
          </a:p>
        </p:txBody>
      </p:sp>
      <p:sp>
        <p:nvSpPr>
          <p:cNvPr id="39" name="Shape 36"/>
          <p:cNvSpPr/>
          <p:nvPr/>
        </p:nvSpPr>
        <p:spPr>
          <a:xfrm>
            <a:off x="6355080" y="5074920"/>
            <a:ext cx="457200" cy="457200"/>
          </a:xfrm>
          <a:prstGeom prst="ellipse">
            <a:avLst/>
          </a:prstGeom>
          <a:solidFill>
            <a:srgbClr val="6B7A5E"/>
          </a:solidFill>
          <a:ln/>
        </p:spPr>
      </p:sp>
      <p:sp>
        <p:nvSpPr>
          <p:cNvPr id="40" name="Text 37"/>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Living Beyond Babel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Genesis 11:1–9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1800" i="1" dirty="0">
                <a:solidFill>
                  <a:srgbClr val="FBF7F0"/>
                </a:solidFill>
                <a:latin typeface="Bookman Old Style" pitchFamily="34" charset="0"/>
                <a:ea typeface="Bookman Old Style" pitchFamily="34" charset="-122"/>
                <a:cs typeface="Bookman Old Style" pitchFamily="34" charset="-120"/>
              </a:rPr>
              <a:t>"Now the whole earth had one language and the same words. And as people migrated from the east, they found a plain in the land of Shinar and settled there. And they said to one another, 'Come, let us make bricks, and burn them thoroughly.' And they had brick for stone, and bitumen for mortar. Then they said, 'Come, let us build ourselves a city and a tower with its top in the heavens, and let us make a name for ourselves, lest we be dispersed over the face of the whole earth.' And the LORD came down to see the city and the tower, which the children of man had built. And the LORD said, 'Behold, they are one people, and they have all one language, and this is only the beginning of what they will do. And nothing that they propose to do will now be impossible for them. Come, let us go down and there confuse their language, so that they may not understand one another's speech.' So the LORD dispersed them from there over the face of all the earth, and they left off building the city. Therefore its name was called Babel, because there the LORD confused the language of all the earth. And from there the LORD dispersed them over the face of all the earth."</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Dream of Becoming More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Every generation senses it stands at the edge of something extraordinary. That conviction is ancient, not new to us.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World's First Mega Project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Babel began with unity, shared language, and real capability — a coordinated project to build something that reached the heavens.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When Innovation Becomes Self-Exaltation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Babel is not a warning against skill or ambition. Scripture celebrates excellence. The problem was the motive behind the building.</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Modern Babel</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The spirit of Babel never scattered — it changed materials. Ancient towers were brick; ours are built of technology.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Illusion of Self-Sufficiency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Technology's deepest appeal is the feeling of control — the sense that every problem has a setting we can adjust.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Silicon Valley and Shinar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Walk among Babel's builders and you'd meet visionaries fixed on the future — driven, gifted, and quietly certain they needed no one.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Why God Came Down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They built a tower to reach heaven; God had to 'come down' to see it. The irony is devastating and intentional.</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Grace Hidden in Judgment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Scattering the builders looks like pure judgment, but mercy is woven through it — God restrained a united pride from destroying itself.</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Artificial Intelligence and Ancient Temptations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AI's power is genuinely revolutionary — and it revives Babel's ancient temptation to make a name and secure our own future.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Building the Kingdom or Building a Tower?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Every Christian in tech eventually faces the searching question: why am I building this — for God's name, or my own?</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Humility: The Antidote to Babel</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If pride is Babel's disease, humility is the cure — not self-hatred, but rightly remembering who God is and who we are.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Living Beyond Babel</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The answer to Babel is not abandoning innovation but reordering worship, so God holds the place our creations try to seize.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"towers" are most celebrated in today's culture, and why do we admire them so readily?</a:t>
            </a:r>
            <a:endParaRPr lang="en-US" sz="1300" dirty="0"/>
          </a:p>
        </p:txBody>
      </p:sp>
      <p:sp>
        <p:nvSpPr>
          <p:cNvPr id="9" name="Shape 6"/>
          <p:cNvSpPr/>
          <p:nvPr/>
        </p:nvSpPr>
        <p:spPr>
          <a:xfrm>
            <a:off x="868680" y="2852928"/>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2944368"/>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can technological success quietly tempt people toward a sense of self-sufficiency?</a:t>
            </a:r>
            <a:endParaRPr lang="en-US" sz="1300" dirty="0"/>
          </a:p>
        </p:txBody>
      </p:sp>
      <p:sp>
        <p:nvSpPr>
          <p:cNvPr id="12" name="Shape 9"/>
          <p:cNvSpPr/>
          <p:nvPr/>
        </p:nvSpPr>
        <p:spPr>
          <a:xfrm>
            <a:off x="868680" y="3968496"/>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41330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4059936"/>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Have you ever found your identity becoming tied to your achievements or to the recognition of others?</a:t>
            </a:r>
            <a:endParaRPr lang="en-US" sz="1300" dirty="0"/>
          </a:p>
        </p:txBody>
      </p:sp>
      <p:sp>
        <p:nvSpPr>
          <p:cNvPr id="15" name="Shape 12"/>
          <p:cNvSpPr/>
          <p:nvPr/>
        </p:nvSpPr>
        <p:spPr>
          <a:xfrm>
            <a:off x="868680" y="5312664"/>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47725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404104"/>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In what specific ways does technology create the illusion of control in your own life?</a:t>
            </a:r>
            <a:endParaRPr lang="en-US" sz="1300" dirty="0"/>
          </a:p>
        </p:txBody>
      </p:sp>
      <p:sp>
        <p:nvSpPr>
          <p:cNvPr id="18" name="Shape 15"/>
          <p:cNvSpPr/>
          <p:nvPr/>
        </p:nvSpPr>
        <p:spPr>
          <a:xfrm>
            <a:off x="6355080" y="1737360"/>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might artificial intelligence amplify both the strengths and the weaknesses already present in humanity?</a:t>
            </a:r>
            <a:endParaRPr lang="en-US" sz="1300" dirty="0"/>
          </a:p>
        </p:txBody>
      </p:sp>
      <p:sp>
        <p:nvSpPr>
          <p:cNvPr id="21" name="Shape 18"/>
          <p:cNvSpPr/>
          <p:nvPr/>
        </p:nvSpPr>
        <p:spPr>
          <a:xfrm>
            <a:off x="6355080" y="3081528"/>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32461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3172968"/>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truly motivates your professional ambitions when no one else is watching?</a:t>
            </a:r>
            <a:endParaRPr lang="en-US" sz="1300" dirty="0"/>
          </a:p>
        </p:txBody>
      </p:sp>
      <p:sp>
        <p:nvSpPr>
          <p:cNvPr id="24" name="Shape 21"/>
          <p:cNvSpPr/>
          <p:nvPr/>
        </p:nvSpPr>
        <p:spPr>
          <a:xfrm>
            <a:off x="6355080" y="4197096"/>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43616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4288536"/>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Are you building God's Kingdom, your own kingdom, or some mixture of both, and how would you know?</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1900" i="1" dirty="0">
                <a:solidFill>
                  <a:srgbClr val="FBF7F0"/>
                </a:solidFill>
                <a:latin typeface="Bookman Old Style" pitchFamily="34" charset="0"/>
                <a:ea typeface="Bookman Old Style" pitchFamily="34" charset="-122"/>
                <a:cs typeface="Bookman Old Style" pitchFamily="34" charset="-120"/>
              </a:rPr>
              <a:t>"Father, protect me from the pride that led to Babel. Help me to remember, in every success and in every season, that every ability, every opportunity, and every accomplishment comes from Your hand and not my own. Give me the wisdom to use technology faithfully, as a servant and never as a savior, and grant me the humility to recognize how deeply I depend upon You. Keep me from the restless habit of seeking my significance through achievement, and teach me instead to find my identity in Christ alone. May everything I build serve Your purposes and bring glory to Your name rather than to mine. I ask this through Jesus Christ, my Lord and Savior. Amen."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2000" dirty="0">
                <a:solidFill>
                  <a:srgbClr val="3A342E"/>
                </a:solidFill>
                <a:latin typeface="Calibri" pitchFamily="34" charset="0"/>
                <a:ea typeface="Calibri" pitchFamily="34" charset="-122"/>
                <a:cs typeface="Calibri" pitchFamily="34" charset="-120"/>
              </a:rPr>
              <a:t>Sometime this week, set aside thirty unhurried minutes to examine one major goal, project, or ambition in your life, something you are genuinely pouring yourself into. Bring it honestly before God, and ask yourself three searching questions: Write your answers in a journal, where you can return to them and see them plainly. Then pray, asking God to purify your motives, to root out the hidden desire to make a name for yourself and to replace it with a desire to serve Him. Ask that your work would become an act of stewardship rather than self-promotion, a small Kingdom built for His glory rather than a tower built for your own.</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2</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The Tower of Babel Syndrome</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2</dc:title>
  <dc:subject>PptxGenJS Presentation</dc:subject>
  <dc:creator>Rod Trent</dc:creator>
  <cp:lastModifiedBy>Rod Trent</cp:lastModifiedBy>
  <cp:revision>1</cp:revision>
  <dcterms:created xsi:type="dcterms:W3CDTF">2026-07-03T18:17:18Z</dcterms:created>
  <dcterms:modified xsi:type="dcterms:W3CDTF">2026-07-03T18:17:18Z</dcterms:modified>
</cp:coreProperties>
</file>