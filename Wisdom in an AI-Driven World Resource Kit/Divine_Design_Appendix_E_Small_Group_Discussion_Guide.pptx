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E</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5200" b="1" dirty="0">
                <a:solidFill>
                  <a:srgbClr val="FBF9F3"/>
                </a:solidFill>
                <a:latin typeface="Bookman Old Style" pitchFamily="34" charset="0"/>
                <a:ea typeface="Bookman Old Style" pitchFamily="34" charset="-122"/>
                <a:cs typeface="Bookman Old Style" pitchFamily="34" charset="-120"/>
              </a:rPr>
              <a:t>Small Group Discussion Guide</a:t>
            </a:r>
            <a:endParaRPr lang="en-US" sz="52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Fourteen Sessions for Groups Working Through the Book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How to Use This Guide</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1800" dirty="0">
                <a:solidFill>
                  <a:srgbClr val="37352E"/>
                </a:solidFill>
                <a:latin typeface="Calibri" pitchFamily="34" charset="0"/>
                <a:ea typeface="Calibri" pitchFamily="34" charset="-122"/>
                <a:cs typeface="Calibri" pitchFamily="34" charset="-120"/>
              </a:rPr>
              <a:t>This book was written not only to be read individually, but also to be discussed in community. Technology shapes individuals, but it also shapes families, churches, workplaces, friendships, ministries, and entire cultures. Because of that, digital discipleship should not remain a private concern. Christians need places where they can think together, pray together, confess honestly, ask difficult questions, and encourage one another toward faithful stewardship. A small group provides that kind of space. This guide is designed to help leaders facilitate meaningful conversations around the major themes of this book. It can be used in Sunday school classes, Bible studies, workplace Christian fellowships, technology teams, leadership groups, youth parent groups, or discipleship ministries. The goal is not technical mastery. The goal is faithful formation. A good discussion does not require the leader to have every answer. It requires humility, preparation, and prayer. Before each session, read the assigned chapter, review the Scripture passages, pray for discernment, choose the most relevant questions, and be prepared to guide the discussion back to Scripture. During discussion, encourage honesty and avoid unnecessary technical debates, keeping the focus on discipleship. Invite quieter participants to share, and do not shame people for struggling with technology habits, emphasize grace and growth instead. Remember, the purpose is not to win arguments about technology. The purpose is to help people follow Jesus faithfully.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Choose Your Format</a:t>
            </a:r>
            <a:endParaRPr lang="en-US" sz="3300" dirty="0"/>
          </a:p>
        </p:txBody>
      </p:sp>
      <p:sp>
        <p:nvSpPr>
          <p:cNvPr id="5" name="Text 2"/>
          <p:cNvSpPr/>
          <p:nvPr/>
        </p:nvSpPr>
        <p:spPr>
          <a:xfrm>
            <a:off x="2130552" y="1298448"/>
            <a:ext cx="9326880" cy="365760"/>
          </a:xfrm>
          <a:prstGeom prst="rect">
            <a:avLst/>
          </a:prstGeom>
          <a:noFill/>
          <a:ln/>
        </p:spPr>
        <p:txBody>
          <a:bodyPr wrap="square" rtlCol="0" anchor="ctr"/>
          <a:lstStyle/>
          <a:p>
            <a:pPr indent="0" marL="0">
              <a:buNone/>
            </a:pPr>
            <a:r>
              <a:rPr lang="en-US" sz="1500" i="1" dirty="0">
                <a:solidFill>
                  <a:srgbClr val="6B655A"/>
                </a:solidFill>
                <a:latin typeface="Calibri" pitchFamily="34" charset="0"/>
                <a:ea typeface="Calibri" pitchFamily="34" charset="-122"/>
                <a:cs typeface="Calibri" pitchFamily="34" charset="-120"/>
              </a:rPr>
              <a:t>Three ways to pace the study</a:t>
            </a:r>
            <a:endParaRPr lang="en-US" sz="1500" dirty="0"/>
          </a:p>
        </p:txBody>
      </p:sp>
      <p:sp>
        <p:nvSpPr>
          <p:cNvPr id="6" name="Shape 3"/>
          <p:cNvSpPr/>
          <p:nvPr/>
        </p:nvSpPr>
        <p:spPr>
          <a:xfrm>
            <a:off x="868680" y="2011680"/>
            <a:ext cx="3429000" cy="3657600"/>
          </a:xfrm>
          <a:prstGeom prst="roundRect">
            <a:avLst>
              <a:gd name="adj" fmla="val 320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7" name="Shape 4"/>
          <p:cNvSpPr/>
          <p:nvPr/>
        </p:nvSpPr>
        <p:spPr>
          <a:xfrm>
            <a:off x="2240280" y="2286000"/>
            <a:ext cx="685800" cy="685800"/>
          </a:xfrm>
          <a:prstGeom prst="ellipse">
            <a:avLst/>
          </a:prstGeom>
          <a:solidFill>
            <a:srgbClr val="5A6B4D"/>
          </a:solidFill>
          <a:ln/>
        </p:spPr>
      </p:sp>
      <p:pic>
        <p:nvPicPr>
          <p:cNvPr id="8" name="Image 1" descr="preencoded.png">    </p:cNvPr>
          <p:cNvPicPr>
            <a:picLocks noChangeAspect="1"/>
          </p:cNvPicPr>
          <p:nvPr/>
        </p:nvPicPr>
        <p:blipFill>
          <a:blip r:embed="rId2"/>
          <a:stretch>
            <a:fillRect/>
          </a:stretch>
        </p:blipFill>
        <p:spPr>
          <a:xfrm>
            <a:off x="2404872" y="2450592"/>
            <a:ext cx="365760" cy="365760"/>
          </a:xfrm>
          <a:prstGeom prst="rect">
            <a:avLst/>
          </a:prstGeom>
        </p:spPr>
      </p:pic>
      <p:sp>
        <p:nvSpPr>
          <p:cNvPr id="9" name="Text 5"/>
          <p:cNvSpPr/>
          <p:nvPr/>
        </p:nvSpPr>
        <p:spPr>
          <a:xfrm>
            <a:off x="1051560" y="3063240"/>
            <a:ext cx="3063240" cy="457200"/>
          </a:xfrm>
          <a:prstGeom prst="rect">
            <a:avLst/>
          </a:prstGeom>
          <a:noFill/>
          <a:ln/>
        </p:spPr>
        <p:txBody>
          <a:bodyPr wrap="square" rtlCol="0" anchor="ctr"/>
          <a:lstStyle/>
          <a:p>
            <a:pPr algn="ctr" indent="0" marL="0">
              <a:buNone/>
            </a:pPr>
            <a:r>
              <a:rPr lang="en-US" sz="1900" b="1" dirty="0">
                <a:solidFill>
                  <a:srgbClr val="3E4A33"/>
                </a:solidFill>
                <a:latin typeface="Bookman Old Style" pitchFamily="34" charset="0"/>
                <a:ea typeface="Bookman Old Style" pitchFamily="34" charset="-122"/>
                <a:cs typeface="Bookman Old Style" pitchFamily="34" charset="-120"/>
              </a:rPr>
              <a:t>Four-Week</a:t>
            </a:r>
            <a:endParaRPr lang="en-US" sz="1900" dirty="0"/>
          </a:p>
        </p:txBody>
      </p:sp>
      <p:sp>
        <p:nvSpPr>
          <p:cNvPr id="10" name="Text 6"/>
          <p:cNvSpPr/>
          <p:nvPr/>
        </p:nvSpPr>
        <p:spPr>
          <a:xfrm>
            <a:off x="1188720" y="3611880"/>
            <a:ext cx="2788920" cy="1920240"/>
          </a:xfrm>
          <a:prstGeom prst="rect">
            <a:avLst/>
          </a:prstGeom>
          <a:noFill/>
          <a:ln/>
        </p:spPr>
        <p:txBody>
          <a:bodyPr wrap="square" rtlCol="0" anchor="t"/>
          <a:lstStyle/>
          <a:p>
            <a:pPr indent="0" marL="0">
              <a:lnSpc>
                <a:spcPct val="108000"/>
              </a:lnSpc>
              <a:buNone/>
            </a:pPr>
            <a:r>
              <a:rPr lang="en-US" sz="1200" dirty="0">
                <a:solidFill>
                  <a:srgbClr val="37352E"/>
                </a:solidFill>
                <a:latin typeface="Calibri" pitchFamily="34" charset="0"/>
                <a:ea typeface="Calibri" pitchFamily="34" charset="-122"/>
                <a:cs typeface="Calibri" pitchFamily="34" charset="-120"/>
              </a:rPr>
              <a:t>Week 1: Technology, Creation, and Idolatry Week 2: Guarding the Heart and Mind Week 3: AI, Work, Rest, and Witness Week 4: Hope, Stewardship, and Digital Discipleship</a:t>
            </a:r>
            <a:endParaRPr lang="en-US" sz="1200" dirty="0"/>
          </a:p>
        </p:txBody>
      </p:sp>
      <p:sp>
        <p:nvSpPr>
          <p:cNvPr id="11" name="Shape 7"/>
          <p:cNvSpPr/>
          <p:nvPr/>
        </p:nvSpPr>
        <p:spPr>
          <a:xfrm>
            <a:off x="4480560" y="2011680"/>
            <a:ext cx="3429000" cy="3657600"/>
          </a:xfrm>
          <a:prstGeom prst="roundRect">
            <a:avLst>
              <a:gd name="adj" fmla="val 320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2" name="Shape 8"/>
          <p:cNvSpPr/>
          <p:nvPr/>
        </p:nvSpPr>
        <p:spPr>
          <a:xfrm>
            <a:off x="5852160" y="2286000"/>
            <a:ext cx="685800" cy="685800"/>
          </a:xfrm>
          <a:prstGeom prst="ellipse">
            <a:avLst/>
          </a:prstGeom>
          <a:solidFill>
            <a:srgbClr val="5A6B4D"/>
          </a:solidFill>
          <a:ln/>
        </p:spPr>
      </p:sp>
      <p:pic>
        <p:nvPicPr>
          <p:cNvPr id="13" name="Image 2" descr="preencoded.png">    </p:cNvPr>
          <p:cNvPicPr>
            <a:picLocks noChangeAspect="1"/>
          </p:cNvPicPr>
          <p:nvPr/>
        </p:nvPicPr>
        <p:blipFill>
          <a:blip r:embed="rId3"/>
          <a:stretch>
            <a:fillRect/>
          </a:stretch>
        </p:blipFill>
        <p:spPr>
          <a:xfrm>
            <a:off x="6016752" y="2450592"/>
            <a:ext cx="365760" cy="365760"/>
          </a:xfrm>
          <a:prstGeom prst="rect">
            <a:avLst/>
          </a:prstGeom>
        </p:spPr>
      </p:pic>
      <p:sp>
        <p:nvSpPr>
          <p:cNvPr id="14" name="Text 9"/>
          <p:cNvSpPr/>
          <p:nvPr/>
        </p:nvSpPr>
        <p:spPr>
          <a:xfrm>
            <a:off x="4663440" y="3063240"/>
            <a:ext cx="3063240" cy="457200"/>
          </a:xfrm>
          <a:prstGeom prst="rect">
            <a:avLst/>
          </a:prstGeom>
          <a:noFill/>
          <a:ln/>
        </p:spPr>
        <p:txBody>
          <a:bodyPr wrap="square" rtlCol="0" anchor="ctr"/>
          <a:lstStyle/>
          <a:p>
            <a:pPr algn="ctr" indent="0" marL="0">
              <a:buNone/>
            </a:pPr>
            <a:r>
              <a:rPr lang="en-US" sz="1900" b="1" dirty="0">
                <a:solidFill>
                  <a:srgbClr val="3E4A33"/>
                </a:solidFill>
                <a:latin typeface="Bookman Old Style" pitchFamily="34" charset="0"/>
                <a:ea typeface="Bookman Old Style" pitchFamily="34" charset="-122"/>
                <a:cs typeface="Bookman Old Style" pitchFamily="34" charset="-120"/>
              </a:rPr>
              <a:t>Seven-Week</a:t>
            </a:r>
            <a:endParaRPr lang="en-US" sz="1900" dirty="0"/>
          </a:p>
        </p:txBody>
      </p:sp>
      <p:sp>
        <p:nvSpPr>
          <p:cNvPr id="15" name="Text 10"/>
          <p:cNvSpPr/>
          <p:nvPr/>
        </p:nvSpPr>
        <p:spPr>
          <a:xfrm>
            <a:off x="4800600" y="3611880"/>
            <a:ext cx="2788920" cy="1920240"/>
          </a:xfrm>
          <a:prstGeom prst="rect">
            <a:avLst/>
          </a:prstGeom>
          <a:noFill/>
          <a:ln/>
        </p:spPr>
        <p:txBody>
          <a:bodyPr wrap="square" rtlCol="0" anchor="t"/>
          <a:lstStyle/>
          <a:p>
            <a:pPr indent="0" marL="0">
              <a:lnSpc>
                <a:spcPct val="108000"/>
              </a:lnSpc>
              <a:buNone/>
            </a:pPr>
            <a:r>
              <a:rPr lang="en-US" sz="1200" dirty="0">
                <a:solidFill>
                  <a:srgbClr val="37352E"/>
                </a:solidFill>
                <a:latin typeface="Calibri" pitchFamily="34" charset="0"/>
                <a:ea typeface="Calibri" pitchFamily="34" charset="-122"/>
                <a:cs typeface="Calibri" pitchFamily="34" charset="-120"/>
              </a:rPr>
              <a:t>Week 1: Created to Create Week 2: Innovation Without Idolatry Week 3: A Zero-Trust Heart Week 4: Truth in an Age of Algorithms Week 5: AI and Human Wisdom Week 6: Work, Sabbath, and Witness Week 7: Hope Beyond the Machine</a:t>
            </a:r>
            <a:endParaRPr lang="en-US" sz="1200" dirty="0"/>
          </a:p>
        </p:txBody>
      </p:sp>
      <p:sp>
        <p:nvSpPr>
          <p:cNvPr id="16" name="Shape 11"/>
          <p:cNvSpPr/>
          <p:nvPr/>
        </p:nvSpPr>
        <p:spPr>
          <a:xfrm>
            <a:off x="8092440" y="2011680"/>
            <a:ext cx="3429000" cy="3657600"/>
          </a:xfrm>
          <a:prstGeom prst="roundRect">
            <a:avLst>
              <a:gd name="adj" fmla="val 320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Shape 12"/>
          <p:cNvSpPr/>
          <p:nvPr/>
        </p:nvSpPr>
        <p:spPr>
          <a:xfrm>
            <a:off x="9464040" y="2286000"/>
            <a:ext cx="685800" cy="685800"/>
          </a:xfrm>
          <a:prstGeom prst="ellipse">
            <a:avLst/>
          </a:prstGeom>
          <a:solidFill>
            <a:srgbClr val="5A6B4D"/>
          </a:solidFill>
          <a:ln/>
        </p:spPr>
      </p:sp>
      <p:pic>
        <p:nvPicPr>
          <p:cNvPr id="18" name="Image 3" descr="preencoded.png">    </p:cNvPr>
          <p:cNvPicPr>
            <a:picLocks noChangeAspect="1"/>
          </p:cNvPicPr>
          <p:nvPr/>
        </p:nvPicPr>
        <p:blipFill>
          <a:blip r:embed="rId4"/>
          <a:stretch>
            <a:fillRect/>
          </a:stretch>
        </p:blipFill>
        <p:spPr>
          <a:xfrm>
            <a:off x="9628632" y="2450592"/>
            <a:ext cx="365760" cy="365760"/>
          </a:xfrm>
          <a:prstGeom prst="rect">
            <a:avLst/>
          </a:prstGeom>
        </p:spPr>
      </p:pic>
      <p:sp>
        <p:nvSpPr>
          <p:cNvPr id="19" name="Text 13"/>
          <p:cNvSpPr/>
          <p:nvPr/>
        </p:nvSpPr>
        <p:spPr>
          <a:xfrm>
            <a:off x="8275320" y="3063240"/>
            <a:ext cx="3063240" cy="457200"/>
          </a:xfrm>
          <a:prstGeom prst="rect">
            <a:avLst/>
          </a:prstGeom>
          <a:noFill/>
          <a:ln/>
        </p:spPr>
        <p:txBody>
          <a:bodyPr wrap="square" rtlCol="0" anchor="ctr"/>
          <a:lstStyle/>
          <a:p>
            <a:pPr algn="ctr" indent="0" marL="0">
              <a:buNone/>
            </a:pPr>
            <a:r>
              <a:rPr lang="en-US" sz="1900" b="1" dirty="0">
                <a:solidFill>
                  <a:srgbClr val="3E4A33"/>
                </a:solidFill>
                <a:latin typeface="Bookman Old Style" pitchFamily="34" charset="0"/>
                <a:ea typeface="Bookman Old Style" pitchFamily="34" charset="-122"/>
                <a:cs typeface="Bookman Old Style" pitchFamily="34" charset="-120"/>
              </a:rPr>
              <a:t>Fourteen-Week</a:t>
            </a:r>
            <a:endParaRPr lang="en-US" sz="1900" dirty="0"/>
          </a:p>
        </p:txBody>
      </p:sp>
      <p:sp>
        <p:nvSpPr>
          <p:cNvPr id="20" name="Text 14"/>
          <p:cNvSpPr/>
          <p:nvPr/>
        </p:nvSpPr>
        <p:spPr>
          <a:xfrm>
            <a:off x="8412480" y="3611880"/>
            <a:ext cx="2788920" cy="1920240"/>
          </a:xfrm>
          <a:prstGeom prst="rect">
            <a:avLst/>
          </a:prstGeom>
          <a:noFill/>
          <a:ln/>
        </p:spPr>
        <p:txBody>
          <a:bodyPr wrap="square" rtlCol="0" anchor="t"/>
          <a:lstStyle/>
          <a:p>
            <a:pPr indent="0" marL="0">
              <a:lnSpc>
                <a:spcPct val="108000"/>
              </a:lnSpc>
              <a:buNone/>
            </a:pPr>
            <a:r>
              <a:rPr lang="en-US" sz="1200" dirty="0">
                <a:solidFill>
                  <a:srgbClr val="37352E"/>
                </a:solidFill>
                <a:latin typeface="Calibri" pitchFamily="34" charset="0"/>
                <a:ea typeface="Calibri" pitchFamily="34" charset="-122"/>
                <a:cs typeface="Calibri" pitchFamily="34" charset="-120"/>
              </a:rPr>
              <a:t>Read and discuss one chapter per week. This format allows the deepest study and works well for adult Bible classes or leadership cohorts.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1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1</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Created to Create</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that human beings are created in the image of God?</a:t>
            </a:r>
            <a:endParaRPr lang="en-US" sz="1300" dirty="0"/>
          </a:p>
        </p:txBody>
      </p:sp>
      <p:sp>
        <p:nvSpPr>
          <p:cNvPr id="10" name="Shape 8"/>
          <p:cNvSpPr/>
          <p:nvPr/>
        </p:nvSpPr>
        <p:spPr>
          <a:xfrm>
            <a:off x="868680" y="3419856"/>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419856"/>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419856"/>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creativity reflect something about God's character?</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do you see technology being used for good in the world?</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do you see creativity becoming prideful or self-centered?</a:t>
            </a:r>
            <a:endParaRPr lang="en-US" sz="1300" dirty="0"/>
          </a:p>
        </p:txBody>
      </p:sp>
      <p:sp>
        <p:nvSpPr>
          <p:cNvPr id="19" name="Shape 17"/>
          <p:cNvSpPr/>
          <p:nvPr/>
        </p:nvSpPr>
        <p:spPr>
          <a:xfrm>
            <a:off x="868680" y="585216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Christians create, build, and innovate with humility?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2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2</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Tower of Babel Syndrome</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was wrong with Babel's ambition?</a:t>
            </a:r>
            <a:endParaRPr lang="en-US" sz="1300" dirty="0"/>
          </a:p>
        </p:txBody>
      </p:sp>
      <p:sp>
        <p:nvSpPr>
          <p:cNvPr id="10" name="Shape 8"/>
          <p:cNvSpPr/>
          <p:nvPr/>
        </p:nvSpPr>
        <p:spPr>
          <a:xfrm>
            <a:off x="868680" y="3273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 modern technologies sometimes reflect a desire to "make a name for ourselves"?</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are examples of technology being treated as humanity's savior?</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churches and Christian leaders avoid Babel-like thinking?</a:t>
            </a:r>
            <a:endParaRPr lang="en-US" sz="1300" dirty="0"/>
          </a:p>
        </p:txBody>
      </p:sp>
      <p:sp>
        <p:nvSpPr>
          <p:cNvPr id="19" name="Shape 17"/>
          <p:cNvSpPr/>
          <p:nvPr/>
        </p:nvSpPr>
        <p:spPr>
          <a:xfrm>
            <a:off x="868680" y="585216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humility look like in an age of innovation?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3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3</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Innovation Without Idolatry</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to have "no other gods" in a world full of devices and platforms?</a:t>
            </a:r>
            <a:endParaRPr lang="en-US" sz="1300" dirty="0"/>
          </a:p>
        </p:txBody>
      </p:sp>
      <p:sp>
        <p:nvSpPr>
          <p:cNvPr id="10" name="Shape 8"/>
          <p:cNvSpPr/>
          <p:nvPr/>
        </p:nvSpPr>
        <p:spPr>
          <a:xfrm>
            <a:off x="868680" y="3419856"/>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419856"/>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419856"/>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a good tool quietly become an idol?</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is the difference between using technology and trusting technology?</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do wealth, convenience, or innovation compete for your devotion?</a:t>
            </a:r>
            <a:endParaRPr lang="en-US" sz="1300" dirty="0"/>
          </a:p>
        </p:txBody>
      </p:sp>
      <p:sp>
        <p:nvSpPr>
          <p:cNvPr id="19" name="Shape 17"/>
          <p:cNvSpPr/>
          <p:nvPr/>
        </p:nvSpPr>
        <p:spPr>
          <a:xfrm>
            <a:off x="868680" y="585216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a Christian innovate boldly without serving two masters?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4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4</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A Zero-Trust Heart</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Why does Scripture describe the human heart as deceitful?</a:t>
            </a:r>
            <a:endParaRPr lang="en-US" sz="1300" dirty="0"/>
          </a:p>
        </p:txBody>
      </p:sp>
      <p:sp>
        <p:nvSpPr>
          <p:cNvPr id="10" name="Shape 8"/>
          <p:cNvSpPr/>
          <p:nvPr/>
        </p:nvSpPr>
        <p:spPr>
          <a:xfrm>
            <a:off x="868680" y="3273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look like practically to "guard your heart" in a digital world?</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thoughts or messages do you receive online that need to be taken captive?</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a habit of verification protect us spiritually as well as digitally?</a:t>
            </a:r>
            <a:endParaRPr lang="en-US" sz="1300" dirty="0"/>
          </a:p>
        </p:txBody>
      </p:sp>
      <p:sp>
        <p:nvSpPr>
          <p:cNvPr id="19" name="Shape 17"/>
          <p:cNvSpPr/>
          <p:nvPr/>
        </p:nvSpPr>
        <p:spPr>
          <a:xfrm>
            <a:off x="868680" y="585216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safeguards has God given His people to test what is true?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5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5</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Attention Economy</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to "be still" in a world designed to keep us moving and scrolling?</a:t>
            </a:r>
            <a:endParaRPr lang="en-US" sz="1300" dirty="0"/>
          </a:p>
        </p:txBody>
      </p:sp>
      <p:sp>
        <p:nvSpPr>
          <p:cNvPr id="10" name="Shape 8"/>
          <p:cNvSpPr/>
          <p:nvPr/>
        </p:nvSpPr>
        <p:spPr>
          <a:xfrm>
            <a:off x="868680" y="3419856"/>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419856"/>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419856"/>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Mary's choice in Luke 10 speak to our distracted age?</a:t>
            </a:r>
            <a:endParaRPr lang="en-US" sz="1300" dirty="0"/>
          </a:p>
        </p:txBody>
      </p:sp>
      <p:sp>
        <p:nvSpPr>
          <p:cNvPr id="13" name="Shape 11"/>
          <p:cNvSpPr/>
          <p:nvPr/>
        </p:nvSpPr>
        <p:spPr>
          <a:xfrm>
            <a:off x="868680" y="4279392"/>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279392"/>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279392"/>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is lost when our attention is constantly fragmented?</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setting our minds "on things above" reshape our relationship with our devices?</a:t>
            </a:r>
            <a:endParaRPr lang="en-US" sz="1300" dirty="0"/>
          </a:p>
        </p:txBody>
      </p:sp>
      <p:sp>
        <p:nvSpPr>
          <p:cNvPr id="19" name="Shape 17"/>
          <p:cNvSpPr/>
          <p:nvPr/>
        </p:nvSpPr>
        <p:spPr>
          <a:xfrm>
            <a:off x="868680" y="585216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practices help you reclaim attention for God and for people?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6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6</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Truth in an Age of Algorithms</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that the truth will "set you free"?</a:t>
            </a:r>
            <a:endParaRPr lang="en-US" sz="1300" dirty="0"/>
          </a:p>
        </p:txBody>
      </p:sp>
      <p:sp>
        <p:nvSpPr>
          <p:cNvPr id="10" name="Shape 8"/>
          <p:cNvSpPr/>
          <p:nvPr/>
        </p:nvSpPr>
        <p:spPr>
          <a:xfrm>
            <a:off x="868680" y="3273552"/>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 algorithms shape belief without our realizing it?</a:t>
            </a:r>
            <a:endParaRPr lang="en-US" sz="1300" dirty="0"/>
          </a:p>
        </p:txBody>
      </p:sp>
      <p:sp>
        <p:nvSpPr>
          <p:cNvPr id="13" name="Shape 11"/>
          <p:cNvSpPr/>
          <p:nvPr/>
        </p:nvSpPr>
        <p:spPr>
          <a:xfrm>
            <a:off x="868680" y="3986784"/>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3986784"/>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3986784"/>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look like to speak "the truth in love" online?</a:t>
            </a:r>
            <a:endParaRPr lang="en-US" sz="1300" dirty="0"/>
          </a:p>
        </p:txBody>
      </p:sp>
      <p:sp>
        <p:nvSpPr>
          <p:cNvPr id="16" name="Shape 14"/>
          <p:cNvSpPr/>
          <p:nvPr/>
        </p:nvSpPr>
        <p:spPr>
          <a:xfrm>
            <a:off x="868680" y="4700016"/>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700016"/>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700016"/>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Philippians 4:8 guide what we allow ourselves to consume?</a:t>
            </a:r>
            <a:endParaRPr lang="en-US" sz="1300" dirty="0"/>
          </a:p>
        </p:txBody>
      </p:sp>
      <p:sp>
        <p:nvSpPr>
          <p:cNvPr id="19" name="Shape 17"/>
          <p:cNvSpPr/>
          <p:nvPr/>
        </p:nvSpPr>
        <p:spPr>
          <a:xfrm>
            <a:off x="868680" y="5559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559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559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habits help guard against misinformation and manipulation?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7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7</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Digital Temptations</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James describe the progression from desire to sin?</a:t>
            </a:r>
            <a:endParaRPr lang="en-US" sz="1300" dirty="0"/>
          </a:p>
        </p:txBody>
      </p:sp>
      <p:sp>
        <p:nvSpPr>
          <p:cNvPr id="10" name="Shape 8"/>
          <p:cNvSpPr/>
          <p:nvPr/>
        </p:nvSpPr>
        <p:spPr>
          <a:xfrm>
            <a:off x="868680" y="3273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that God always provides "a way of escape"?</a:t>
            </a:r>
            <a:endParaRPr lang="en-US" sz="1300" dirty="0"/>
          </a:p>
        </p:txBody>
      </p:sp>
      <p:sp>
        <p:nvSpPr>
          <p:cNvPr id="13" name="Shape 11"/>
          <p:cNvSpPr/>
          <p:nvPr/>
        </p:nvSpPr>
        <p:spPr>
          <a:xfrm>
            <a:off x="868680" y="4133088"/>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Why is secrecy often temptation's greatest ally?</a:t>
            </a:r>
            <a:endParaRPr lang="en-US" sz="1300" dirty="0"/>
          </a:p>
        </p:txBody>
      </p:sp>
      <p:sp>
        <p:nvSpPr>
          <p:cNvPr id="16" name="Shape 14"/>
          <p:cNvSpPr/>
          <p:nvPr/>
        </p:nvSpPr>
        <p:spPr>
          <a:xfrm>
            <a:off x="868680" y="4846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846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846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role does accountability play in digital faithfulness?</a:t>
            </a:r>
            <a:endParaRPr lang="en-US" sz="1300" dirty="0"/>
          </a:p>
        </p:txBody>
      </p:sp>
      <p:sp>
        <p:nvSpPr>
          <p:cNvPr id="19" name="Shape 17"/>
          <p:cNvSpPr/>
          <p:nvPr/>
        </p:nvSpPr>
        <p:spPr>
          <a:xfrm>
            <a:off x="868680" y="5559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559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559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practical "way of escape" has helped you resist temptation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8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8</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Artificial Intelligence and Human Wisdom</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is the difference between information and wisdom?</a:t>
            </a:r>
            <a:endParaRPr lang="en-US" sz="1300" dirty="0"/>
          </a:p>
        </p:txBody>
      </p:sp>
      <p:sp>
        <p:nvSpPr>
          <p:cNvPr id="10" name="Shape 8"/>
          <p:cNvSpPr/>
          <p:nvPr/>
        </p:nvSpPr>
        <p:spPr>
          <a:xfrm>
            <a:off x="868680" y="3273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Proverbs 3:5-6 challenge the temptation to lean entirely on artificial intelligence?</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to ask God for wisdom the way James 1:5 describes?</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"the fear of the Lord" reorient our use of powerful tools?</a:t>
            </a:r>
            <a:endParaRPr lang="en-US" sz="1300" dirty="0"/>
          </a:p>
        </p:txBody>
      </p:sp>
      <p:sp>
        <p:nvSpPr>
          <p:cNvPr id="19" name="Shape 17"/>
          <p:cNvSpPr/>
          <p:nvPr/>
        </p:nvSpPr>
        <p:spPr>
          <a:xfrm>
            <a:off x="868680" y="585216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should human responsibility remain non-negotiable, regardless of what AI can do?</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9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9</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Working for an Audience of One</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to work "as for the Lord and not for men"?</a:t>
            </a:r>
            <a:endParaRPr lang="en-US" sz="1300" dirty="0"/>
          </a:p>
        </p:txBody>
      </p:sp>
      <p:sp>
        <p:nvSpPr>
          <p:cNvPr id="10" name="Shape 8"/>
          <p:cNvSpPr/>
          <p:nvPr/>
        </p:nvSpPr>
        <p:spPr>
          <a:xfrm>
            <a:off x="868680" y="3273552"/>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viewing work as worship change daily motivation?</a:t>
            </a:r>
            <a:endParaRPr lang="en-US" sz="1300" dirty="0"/>
          </a:p>
        </p:txBody>
      </p:sp>
      <p:sp>
        <p:nvSpPr>
          <p:cNvPr id="13" name="Shape 11"/>
          <p:cNvSpPr/>
          <p:nvPr/>
        </p:nvSpPr>
        <p:spPr>
          <a:xfrm>
            <a:off x="868680" y="398678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398678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398678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temptations arise when productivity becomes our identity?</a:t>
            </a:r>
            <a:endParaRPr lang="en-US" sz="1300" dirty="0"/>
          </a:p>
        </p:txBody>
      </p:sp>
      <p:sp>
        <p:nvSpPr>
          <p:cNvPr id="16" name="Shape 14"/>
          <p:cNvSpPr/>
          <p:nvPr/>
        </p:nvSpPr>
        <p:spPr>
          <a:xfrm>
            <a:off x="868680" y="484632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84632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84632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technology help or hinder working for an audience of One?</a:t>
            </a:r>
            <a:endParaRPr lang="en-US" sz="1300" dirty="0"/>
          </a:p>
        </p:txBody>
      </p:sp>
      <p:sp>
        <p:nvSpPr>
          <p:cNvPr id="19" name="Shape 17"/>
          <p:cNvSpPr/>
          <p:nvPr/>
        </p:nvSpPr>
        <p:spPr>
          <a:xfrm>
            <a:off x="868680" y="5705856"/>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705856"/>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705856"/>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would change in your work if you were most concerned with God's approval?</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10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10</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The Sabbath in a 24/7 World</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Why did God command rest as part of His created order?</a:t>
            </a:r>
            <a:endParaRPr lang="en-US" sz="1300" dirty="0"/>
          </a:p>
        </p:txBody>
      </p:sp>
      <p:sp>
        <p:nvSpPr>
          <p:cNvPr id="10" name="Shape 8"/>
          <p:cNvSpPr/>
          <p:nvPr/>
        </p:nvSpPr>
        <p:spPr>
          <a:xfrm>
            <a:off x="868680" y="3273552"/>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that "the Sabbath was made for man"?</a:t>
            </a:r>
            <a:endParaRPr lang="en-US" sz="1300" dirty="0"/>
          </a:p>
        </p:txBody>
      </p:sp>
      <p:sp>
        <p:nvSpPr>
          <p:cNvPr id="13" name="Shape 11"/>
          <p:cNvSpPr/>
          <p:nvPr/>
        </p:nvSpPr>
        <p:spPr>
          <a:xfrm>
            <a:off x="868680" y="398678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398678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398678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fears or beliefs make it hard to disconnect from devices?</a:t>
            </a:r>
            <a:endParaRPr lang="en-US" sz="1300" dirty="0"/>
          </a:p>
        </p:txBody>
      </p:sp>
      <p:sp>
        <p:nvSpPr>
          <p:cNvPr id="16" name="Shape 14"/>
          <p:cNvSpPr/>
          <p:nvPr/>
        </p:nvSpPr>
        <p:spPr>
          <a:xfrm>
            <a:off x="868680" y="484632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84632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84632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Jesus' invitation in Matthew 11:28-30 speak to digital exhaustion?</a:t>
            </a:r>
            <a:endParaRPr lang="en-US" sz="1300" dirty="0"/>
          </a:p>
        </p:txBody>
      </p:sp>
      <p:sp>
        <p:nvSpPr>
          <p:cNvPr id="19" name="Shape 17"/>
          <p:cNvSpPr/>
          <p:nvPr/>
        </p:nvSpPr>
        <p:spPr>
          <a:xfrm>
            <a:off x="868680" y="5705856"/>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705856"/>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705856"/>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would a meaningful digital sabbath look like for you?</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11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11</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Online Witness and Digital Discipleship</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mean to let your light shine in digital spaces?</a:t>
            </a:r>
            <a:endParaRPr lang="en-US" sz="1300" dirty="0"/>
          </a:p>
        </p:txBody>
      </p:sp>
      <p:sp>
        <p:nvSpPr>
          <p:cNvPr id="10" name="Shape 8"/>
          <p:cNvSpPr/>
          <p:nvPr/>
        </p:nvSpPr>
        <p:spPr>
          <a:xfrm>
            <a:off x="868680" y="3273552"/>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Colossians 4:6 describe gracious, "salty" speech?</a:t>
            </a:r>
            <a:endParaRPr lang="en-US" sz="1300" dirty="0"/>
          </a:p>
        </p:txBody>
      </p:sp>
      <p:sp>
        <p:nvSpPr>
          <p:cNvPr id="13" name="Shape 11"/>
          <p:cNvSpPr/>
          <p:nvPr/>
        </p:nvSpPr>
        <p:spPr>
          <a:xfrm>
            <a:off x="868680" y="398678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398678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398678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look like to give a reason for your hope "with gentleness and respect"?</a:t>
            </a:r>
            <a:endParaRPr lang="en-US" sz="1300" dirty="0"/>
          </a:p>
        </p:txBody>
      </p:sp>
      <p:sp>
        <p:nvSpPr>
          <p:cNvPr id="16" name="Shape 14"/>
          <p:cNvSpPr/>
          <p:nvPr/>
        </p:nvSpPr>
        <p:spPr>
          <a:xfrm>
            <a:off x="868680" y="4846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846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846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have you seen online witness done well or poorly?</a:t>
            </a:r>
            <a:endParaRPr lang="en-US" sz="1300" dirty="0"/>
          </a:p>
        </p:txBody>
      </p:sp>
      <p:sp>
        <p:nvSpPr>
          <p:cNvPr id="19" name="Shape 17"/>
          <p:cNvSpPr/>
          <p:nvPr/>
        </p:nvSpPr>
        <p:spPr>
          <a:xfrm>
            <a:off x="868680" y="5559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559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559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practices help you respond rather than merely react online?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12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12</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Stewarding Powerful Tools</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"to whom much is given, much will be required" mean for technologists today?</a:t>
            </a:r>
            <a:endParaRPr lang="en-US" sz="1300" dirty="0"/>
          </a:p>
        </p:txBody>
      </p:sp>
      <p:sp>
        <p:nvSpPr>
          <p:cNvPr id="10" name="Shape 8"/>
          <p:cNvSpPr/>
          <p:nvPr/>
        </p:nvSpPr>
        <p:spPr>
          <a:xfrm>
            <a:off x="868680" y="3419856"/>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419856"/>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419856"/>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Micah 6:8 define faithful stewardship of power?</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it look like to use your gifts to serve others rather than yourself?</a:t>
            </a:r>
            <a:endParaRPr lang="en-US" sz="1300" dirty="0"/>
          </a:p>
        </p:txBody>
      </p:sp>
      <p:sp>
        <p:nvSpPr>
          <p:cNvPr id="16" name="Shape 14"/>
          <p:cNvSpPr/>
          <p:nvPr/>
        </p:nvSpPr>
        <p:spPr>
          <a:xfrm>
            <a:off x="868680" y="4992624"/>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do you see technological power being used unjustly?</a:t>
            </a:r>
            <a:endParaRPr lang="en-US" sz="1300" dirty="0"/>
          </a:p>
        </p:txBody>
      </p:sp>
      <p:sp>
        <p:nvSpPr>
          <p:cNvPr id="19" name="Shape 17"/>
          <p:cNvSpPr/>
          <p:nvPr/>
        </p:nvSpPr>
        <p:spPr>
          <a:xfrm>
            <a:off x="868680" y="5705856"/>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705856"/>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705856"/>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responsibility do Christians in technical fields carry that others may not?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13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13</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Hope Beyond the Machine</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does Romans 15:13 say is the source of true hope?</a:t>
            </a:r>
            <a:endParaRPr lang="en-US" sz="1300" dirty="0"/>
          </a:p>
        </p:txBody>
      </p:sp>
      <p:sp>
        <p:nvSpPr>
          <p:cNvPr id="10" name="Shape 8"/>
          <p:cNvSpPr/>
          <p:nvPr/>
        </p:nvSpPr>
        <p:spPr>
          <a:xfrm>
            <a:off x="868680" y="3273552"/>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does Revelation 21:1-5 describe God's ultimate restoration of all things?</a:t>
            </a:r>
            <a:endParaRPr lang="en-US" sz="1300" dirty="0"/>
          </a:p>
        </p:txBody>
      </p:sp>
      <p:sp>
        <p:nvSpPr>
          <p:cNvPr id="13" name="Shape 11"/>
          <p:cNvSpPr/>
          <p:nvPr/>
        </p:nvSpPr>
        <p:spPr>
          <a:xfrm>
            <a:off x="868680" y="4133088"/>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4133088"/>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4133088"/>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Where have you been tempted to place ultimate hope in progress or innovation?</a:t>
            </a:r>
            <a:endParaRPr lang="en-US" sz="1300" dirty="0"/>
          </a:p>
        </p:txBody>
      </p:sp>
      <p:sp>
        <p:nvSpPr>
          <p:cNvPr id="16" name="Shape 14"/>
          <p:cNvSpPr/>
          <p:nvPr/>
        </p:nvSpPr>
        <p:spPr>
          <a:xfrm>
            <a:off x="868680" y="4992624"/>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992624"/>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992624"/>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comfort comes from knowing Jesus Christ is "the same yesterday and today and forever"?</a:t>
            </a:r>
            <a:endParaRPr lang="en-US" sz="1300" dirty="0"/>
          </a:p>
        </p:txBody>
      </p:sp>
      <p:sp>
        <p:nvSpPr>
          <p:cNvPr id="19" name="Shape 17"/>
          <p:cNvSpPr/>
          <p:nvPr/>
        </p:nvSpPr>
        <p:spPr>
          <a:xfrm>
            <a:off x="868680" y="5852160"/>
            <a:ext cx="10424160" cy="713232"/>
          </a:xfrm>
          <a:prstGeom prst="roundRect">
            <a:avLst>
              <a:gd name="adj" fmla="val 11538"/>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852160"/>
            <a:ext cx="502920" cy="713232"/>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852160"/>
            <a:ext cx="9326880" cy="713232"/>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should future hope shape the way we engage technology today?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3"/>
        </a:solidFill>
      </p:bgPr>
    </p:bg>
    <p:spTree>
      <p:nvGrpSpPr>
        <p:cNvPr id="1" name=""/>
        <p:cNvGrpSpPr/>
        <p:nvPr/>
      </p:nvGrpSpPr>
      <p:grpSpPr>
        <a:xfrm>
          <a:off x="0" y="0"/>
          <a:ext cx="0" cy="0"/>
          <a:chOff x="0" y="0"/>
          <a:chExt cx="0" cy="0"/>
        </a:xfrm>
      </p:grpSpPr>
      <p:sp>
        <p:nvSpPr>
          <p:cNvPr id="2" name="Text 0"/>
          <p:cNvSpPr/>
          <p:nvPr/>
        </p:nvSpPr>
        <p:spPr>
          <a:xfrm>
            <a:off x="10058400" y="457200"/>
            <a:ext cx="1645920" cy="320040"/>
          </a:xfrm>
          <a:prstGeom prst="rect">
            <a:avLst/>
          </a:prstGeom>
          <a:noFill/>
          <a:ln/>
        </p:spPr>
        <p:txBody>
          <a:bodyPr wrap="square" rtlCol="0" anchor="ctr"/>
          <a:lstStyle/>
          <a:p>
            <a:pPr algn="r" indent="0" marL="0">
              <a:buNone/>
            </a:pPr>
            <a:r>
              <a:rPr lang="en-US" sz="1200" b="1" dirty="0">
                <a:solidFill>
                  <a:srgbClr val="6B655A"/>
                </a:solidFill>
                <a:latin typeface="Calibri" pitchFamily="34" charset="0"/>
                <a:ea typeface="Calibri" pitchFamily="34" charset="-122"/>
                <a:cs typeface="Calibri" pitchFamily="34" charset="-120"/>
              </a:rPr>
              <a:t>Session 14 of 14</a:t>
            </a:r>
            <a:endParaRPr lang="en-US" sz="1200" dirty="0"/>
          </a:p>
        </p:txBody>
      </p:sp>
      <p:sp>
        <p:nvSpPr>
          <p:cNvPr id="3" name="Shape 1"/>
          <p:cNvSpPr/>
          <p:nvPr/>
        </p:nvSpPr>
        <p:spPr>
          <a:xfrm>
            <a:off x="822960" y="713232"/>
            <a:ext cx="1097280" cy="1097280"/>
          </a:xfrm>
          <a:prstGeom prst="ellipse">
            <a:avLst/>
          </a:prstGeom>
          <a:solidFill>
            <a:srgbClr val="5A6B4D"/>
          </a:solidFill>
          <a:ln/>
          <a:effectLst>
            <a:outerShdw sx="100000" sy="100000" kx="0" ky="0" algn="bl" rotWithShape="0" blurRad="114300" dist="38100" dir="5400000">
              <a:srgbClr val="000000">
                <a:alpha val="12000"/>
              </a:srgbClr>
            </a:outerShdw>
          </a:effectLst>
        </p:spPr>
      </p:sp>
      <p:sp>
        <p:nvSpPr>
          <p:cNvPr id="4" name="Text 2"/>
          <p:cNvSpPr/>
          <p:nvPr/>
        </p:nvSpPr>
        <p:spPr>
          <a:xfrm>
            <a:off x="822960" y="713232"/>
            <a:ext cx="1097280" cy="1097280"/>
          </a:xfrm>
          <a:prstGeom prst="rect">
            <a:avLst/>
          </a:prstGeom>
          <a:noFill/>
          <a:ln/>
        </p:spPr>
        <p:txBody>
          <a:bodyPr wrap="square" rtlCol="0" anchor="ctr"/>
          <a:lstStyle/>
          <a:p>
            <a:pPr algn="ctr" indent="0" marL="0">
              <a:buNone/>
            </a:pPr>
            <a:r>
              <a:rPr lang="en-US" sz="3400" b="1" dirty="0">
                <a:solidFill>
                  <a:srgbClr val="FBF9F3"/>
                </a:solidFill>
                <a:latin typeface="Bookman Old Style" pitchFamily="34" charset="0"/>
                <a:ea typeface="Bookman Old Style" pitchFamily="34" charset="-122"/>
                <a:cs typeface="Bookman Old Style" pitchFamily="34" charset="-120"/>
              </a:rPr>
              <a:t>14</a:t>
            </a:r>
            <a:endParaRPr lang="en-US" sz="3400" dirty="0"/>
          </a:p>
        </p:txBody>
      </p:sp>
      <p:sp>
        <p:nvSpPr>
          <p:cNvPr id="5" name="Text 3"/>
          <p:cNvSpPr/>
          <p:nvPr/>
        </p:nvSpPr>
        <p:spPr>
          <a:xfrm>
            <a:off x="2148840" y="713232"/>
            <a:ext cx="9144000" cy="1097280"/>
          </a:xfrm>
          <a:prstGeom prst="rect">
            <a:avLst/>
          </a:prstGeom>
          <a:noFill/>
          <a:ln/>
        </p:spPr>
        <p:txBody>
          <a:bodyPr wrap="square" rtlCol="0" anchor="ctr"/>
          <a:lstStyle/>
          <a:p>
            <a:pPr indent="0" marL="0">
              <a:lnSpc>
                <a:spcPct val="98000"/>
              </a:lnSpc>
              <a:buNone/>
            </a:pPr>
            <a:r>
              <a:rPr lang="en-US" sz="3000" b="1" dirty="0">
                <a:solidFill>
                  <a:srgbClr val="3E4A33"/>
                </a:solidFill>
                <a:latin typeface="Bookman Old Style" pitchFamily="34" charset="0"/>
                <a:ea typeface="Bookman Old Style" pitchFamily="34" charset="-122"/>
                <a:cs typeface="Bookman Old Style" pitchFamily="34" charset="-120"/>
              </a:rPr>
              <a:t>Redeeming the Digital Age</a:t>
            </a:r>
            <a:endParaRPr lang="en-US" sz="3000" dirty="0"/>
          </a:p>
        </p:txBody>
      </p:sp>
      <p:sp>
        <p:nvSpPr>
          <p:cNvPr id="6" name="Text 4"/>
          <p:cNvSpPr/>
          <p:nvPr/>
        </p:nvSpPr>
        <p:spPr>
          <a:xfrm>
            <a:off x="868680" y="2057400"/>
            <a:ext cx="7315200" cy="365760"/>
          </a:xfrm>
          <a:prstGeom prst="rect">
            <a:avLst/>
          </a:prstGeom>
          <a:noFill/>
          <a:ln/>
        </p:spPr>
        <p:txBody>
          <a:bodyPr wrap="square" rtlCol="0" anchor="ctr"/>
          <a:lstStyle/>
          <a:p>
            <a:pPr indent="0" marL="0">
              <a:buNone/>
            </a:pPr>
            <a:r>
              <a:rPr lang="en-US" sz="1400" b="1" spc="100" kern="0" dirty="0">
                <a:solidFill>
                  <a:srgbClr val="B85042"/>
                </a:solidFill>
                <a:latin typeface="Calibri" pitchFamily="34" charset="0"/>
                <a:ea typeface="Calibri" pitchFamily="34" charset="-122"/>
                <a:cs typeface="Calibri" pitchFamily="34" charset="-120"/>
              </a:rPr>
              <a:t>Discussion Questions</a:t>
            </a:r>
            <a:endParaRPr lang="en-US" sz="1400" dirty="0"/>
          </a:p>
        </p:txBody>
      </p:sp>
      <p:sp>
        <p:nvSpPr>
          <p:cNvPr id="7" name="Shape 5"/>
          <p:cNvSpPr/>
          <p:nvPr/>
        </p:nvSpPr>
        <p:spPr>
          <a:xfrm>
            <a:off x="868680" y="2560320"/>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8" name="Text 6"/>
          <p:cNvSpPr/>
          <p:nvPr/>
        </p:nvSpPr>
        <p:spPr>
          <a:xfrm>
            <a:off x="1097280" y="2560320"/>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1</a:t>
            </a:r>
            <a:endParaRPr lang="en-US" sz="1800" dirty="0"/>
          </a:p>
        </p:txBody>
      </p:sp>
      <p:sp>
        <p:nvSpPr>
          <p:cNvPr id="9" name="Text 7"/>
          <p:cNvSpPr/>
          <p:nvPr/>
        </p:nvSpPr>
        <p:spPr>
          <a:xfrm>
            <a:off x="1691640" y="2560320"/>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themes from the book have challenged you most?</a:t>
            </a:r>
            <a:endParaRPr lang="en-US" sz="1300" dirty="0"/>
          </a:p>
        </p:txBody>
      </p:sp>
      <p:sp>
        <p:nvSpPr>
          <p:cNvPr id="10" name="Shape 8"/>
          <p:cNvSpPr/>
          <p:nvPr/>
        </p:nvSpPr>
        <p:spPr>
          <a:xfrm>
            <a:off x="868680" y="3273552"/>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1" name="Text 9"/>
          <p:cNvSpPr/>
          <p:nvPr/>
        </p:nvSpPr>
        <p:spPr>
          <a:xfrm>
            <a:off x="1097280" y="3273552"/>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91640" y="3273552"/>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technology habit needs to change?</a:t>
            </a:r>
            <a:endParaRPr lang="en-US" sz="1300" dirty="0"/>
          </a:p>
        </p:txBody>
      </p:sp>
      <p:sp>
        <p:nvSpPr>
          <p:cNvPr id="13" name="Shape 11"/>
          <p:cNvSpPr/>
          <p:nvPr/>
        </p:nvSpPr>
        <p:spPr>
          <a:xfrm>
            <a:off x="868680" y="3986784"/>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4" name="Text 12"/>
          <p:cNvSpPr/>
          <p:nvPr/>
        </p:nvSpPr>
        <p:spPr>
          <a:xfrm>
            <a:off x="1097280" y="3986784"/>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3</a:t>
            </a:r>
            <a:endParaRPr lang="en-US" sz="1800" dirty="0"/>
          </a:p>
        </p:txBody>
      </p:sp>
      <p:sp>
        <p:nvSpPr>
          <p:cNvPr id="15" name="Text 13"/>
          <p:cNvSpPr/>
          <p:nvPr/>
        </p:nvSpPr>
        <p:spPr>
          <a:xfrm>
            <a:off x="1691640" y="3986784"/>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opportunity has God placed before you?</a:t>
            </a:r>
            <a:endParaRPr lang="en-US" sz="1300" dirty="0"/>
          </a:p>
        </p:txBody>
      </p:sp>
      <p:sp>
        <p:nvSpPr>
          <p:cNvPr id="16" name="Shape 14"/>
          <p:cNvSpPr/>
          <p:nvPr/>
        </p:nvSpPr>
        <p:spPr>
          <a:xfrm>
            <a:off x="868680" y="4700016"/>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17" name="Text 15"/>
          <p:cNvSpPr/>
          <p:nvPr/>
        </p:nvSpPr>
        <p:spPr>
          <a:xfrm>
            <a:off x="1097280" y="4700016"/>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4</a:t>
            </a:r>
            <a:endParaRPr lang="en-US" sz="1800" dirty="0"/>
          </a:p>
        </p:txBody>
      </p:sp>
      <p:sp>
        <p:nvSpPr>
          <p:cNvPr id="18" name="Text 16"/>
          <p:cNvSpPr/>
          <p:nvPr/>
        </p:nvSpPr>
        <p:spPr>
          <a:xfrm>
            <a:off x="1691640" y="4700016"/>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How can the church engage technology more faithfully?</a:t>
            </a:r>
            <a:endParaRPr lang="en-US" sz="1300" dirty="0"/>
          </a:p>
        </p:txBody>
      </p:sp>
      <p:sp>
        <p:nvSpPr>
          <p:cNvPr id="19" name="Shape 17"/>
          <p:cNvSpPr/>
          <p:nvPr/>
        </p:nvSpPr>
        <p:spPr>
          <a:xfrm>
            <a:off x="868680" y="5413248"/>
            <a:ext cx="10424160" cy="566928"/>
          </a:xfrm>
          <a:prstGeom prst="roundRect">
            <a:avLst>
              <a:gd name="adj" fmla="val 14516"/>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20" name="Text 18"/>
          <p:cNvSpPr/>
          <p:nvPr/>
        </p:nvSpPr>
        <p:spPr>
          <a:xfrm>
            <a:off x="1097280" y="5413248"/>
            <a:ext cx="502920" cy="566928"/>
          </a:xfrm>
          <a:prstGeom prst="rect">
            <a:avLst/>
          </a:prstGeom>
          <a:noFill/>
          <a:ln/>
        </p:spPr>
        <p:txBody>
          <a:bodyPr wrap="square" rtlCol="0" anchor="ctr"/>
          <a:lstStyle/>
          <a:p>
            <a:pPr algn="ctr" indent="0" marL="0">
              <a:buNone/>
            </a:pPr>
            <a:r>
              <a:rPr lang="en-US" sz="1800" b="1" dirty="0">
                <a:solidFill>
                  <a:srgbClr val="B85042"/>
                </a:solidFill>
                <a:latin typeface="Bookman Old Style" pitchFamily="34" charset="0"/>
                <a:ea typeface="Bookman Old Style" pitchFamily="34" charset="-122"/>
                <a:cs typeface="Bookman Old Style" pitchFamily="34" charset="-120"/>
              </a:rPr>
              <a:t>5</a:t>
            </a:r>
            <a:endParaRPr lang="en-US" sz="1800" dirty="0"/>
          </a:p>
        </p:txBody>
      </p:sp>
      <p:sp>
        <p:nvSpPr>
          <p:cNvPr id="21" name="Text 19"/>
          <p:cNvSpPr/>
          <p:nvPr/>
        </p:nvSpPr>
        <p:spPr>
          <a:xfrm>
            <a:off x="1691640" y="5413248"/>
            <a:ext cx="9326880" cy="566928"/>
          </a:xfrm>
          <a:prstGeom prst="rect">
            <a:avLst/>
          </a:prstGeom>
          <a:noFill/>
          <a:ln/>
        </p:spPr>
        <p:txBody>
          <a:bodyPr wrap="square" rtlCol="0" anchor="ctr"/>
          <a:lstStyle/>
          <a:p>
            <a:pPr indent="0" marL="0">
              <a:lnSpc>
                <a:spcPct val="102000"/>
              </a:lnSpc>
              <a:buNone/>
            </a:pPr>
            <a:r>
              <a:rPr lang="en-US" sz="1300" dirty="0">
                <a:solidFill>
                  <a:srgbClr val="37352E"/>
                </a:solidFill>
                <a:latin typeface="Calibri" pitchFamily="34" charset="0"/>
                <a:ea typeface="Calibri" pitchFamily="34" charset="-122"/>
                <a:cs typeface="Calibri" pitchFamily="34" charset="-120"/>
              </a:rPr>
              <a:t>What is one practical commitment you will make?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E</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Small Group Discussion Guide</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E</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