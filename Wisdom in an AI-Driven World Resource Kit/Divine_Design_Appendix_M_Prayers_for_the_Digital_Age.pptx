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A6B4D"/>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5A6B4D"/>
          </a:solidFill>
          <a:ln/>
        </p:spPr>
      </p:sp>
      <p:sp>
        <p:nvSpPr>
          <p:cNvPr id="3" name="Shape 1"/>
          <p:cNvSpPr/>
          <p:nvPr/>
        </p:nvSpPr>
        <p:spPr>
          <a:xfrm>
            <a:off x="0" y="5349240"/>
            <a:ext cx="12161520" cy="1508760"/>
          </a:xfrm>
          <a:prstGeom prst="rect">
            <a:avLst/>
          </a:prstGeom>
          <a:solidFill>
            <a:srgbClr val="3E4A33"/>
          </a:solidFill>
          <a:ln/>
        </p:spPr>
      </p:sp>
      <p:sp>
        <p:nvSpPr>
          <p:cNvPr id="4" name="Shape 2"/>
          <p:cNvSpPr/>
          <p:nvPr/>
        </p:nvSpPr>
        <p:spPr>
          <a:xfrm>
            <a:off x="9326880" y="685800"/>
            <a:ext cx="1965960" cy="1965960"/>
          </a:xfrm>
          <a:prstGeom prst="ellipse">
            <a:avLst/>
          </a:prstGeom>
          <a:solidFill>
            <a:srgbClr val="3E4A33"/>
          </a:solidFill>
          <a:ln w="19050">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9784080" y="1133856"/>
            <a:ext cx="1051560" cy="1051560"/>
          </a:xfrm>
          <a:prstGeom prst="rect">
            <a:avLst/>
          </a:prstGeom>
        </p:spPr>
      </p:pic>
      <p:sp>
        <p:nvSpPr>
          <p:cNvPr id="6" name="Text 3"/>
          <p:cNvSpPr/>
          <p:nvPr/>
        </p:nvSpPr>
        <p:spPr>
          <a:xfrm>
            <a:off x="822960" y="1051560"/>
            <a:ext cx="8686800" cy="365760"/>
          </a:xfrm>
          <a:prstGeom prst="rect">
            <a:avLst/>
          </a:prstGeom>
          <a:noFill/>
          <a:ln/>
        </p:spPr>
        <p:txBody>
          <a:bodyPr wrap="square" rtlCol="0" anchor="ctr"/>
          <a:lstStyle/>
          <a:p>
            <a:pPr indent="0" marL="0">
              <a:buNone/>
            </a:pPr>
            <a:r>
              <a:rPr lang="en-US" sz="1400" b="1" spc="300" kern="0" dirty="0">
                <a:solidFill>
                  <a:srgbClr val="E7E8D1"/>
                </a:solidFill>
                <a:latin typeface="Calibri" pitchFamily="34" charset="0"/>
                <a:ea typeface="Calibri" pitchFamily="34" charset="-122"/>
                <a:cs typeface="Calibri" pitchFamily="34" charset="-120"/>
              </a:rPr>
              <a:t>DIVINE DESIGN FOR THE DIGITAL AGE</a:t>
            </a:r>
            <a:endParaRPr lang="en-US" sz="1400" dirty="0"/>
          </a:p>
        </p:txBody>
      </p:sp>
      <p:sp>
        <p:nvSpPr>
          <p:cNvPr id="7" name="Text 4"/>
          <p:cNvSpPr/>
          <p:nvPr/>
        </p:nvSpPr>
        <p:spPr>
          <a:xfrm>
            <a:off x="822960" y="1371600"/>
            <a:ext cx="8686800" cy="320040"/>
          </a:xfrm>
          <a:prstGeom prst="rect">
            <a:avLst/>
          </a:prstGeom>
          <a:noFill/>
          <a:ln/>
        </p:spPr>
        <p:txBody>
          <a:bodyPr wrap="square" rtlCol="0" anchor="ctr"/>
          <a:lstStyle/>
          <a:p>
            <a:pPr indent="0" marL="0">
              <a:buNone/>
            </a:pPr>
            <a:r>
              <a:rPr lang="en-US" sz="1300" i="1" dirty="0">
                <a:solidFill>
                  <a:srgbClr val="C9A15A"/>
                </a:solidFill>
                <a:latin typeface="Calibri" pitchFamily="34" charset="0"/>
                <a:ea typeface="Calibri" pitchFamily="34" charset="-122"/>
                <a:cs typeface="Calibri" pitchFamily="34" charset="-120"/>
              </a:rPr>
              <a:t>Companion Resource</a:t>
            </a:r>
            <a:endParaRPr lang="en-US" sz="1300" dirty="0"/>
          </a:p>
        </p:txBody>
      </p:sp>
      <p:sp>
        <p:nvSpPr>
          <p:cNvPr id="8" name="Text 5"/>
          <p:cNvSpPr/>
          <p:nvPr/>
        </p:nvSpPr>
        <p:spPr>
          <a:xfrm>
            <a:off x="822960" y="2331720"/>
            <a:ext cx="8229600" cy="640080"/>
          </a:xfrm>
          <a:prstGeom prst="rect">
            <a:avLst/>
          </a:prstGeom>
          <a:noFill/>
          <a:ln/>
        </p:spPr>
        <p:txBody>
          <a:bodyPr wrap="square" rtlCol="0" anchor="ctr"/>
          <a:lstStyle/>
          <a:p>
            <a:pPr indent="0" marL="0">
              <a:buNone/>
            </a:pPr>
            <a:r>
              <a:rPr lang="en-US" sz="3000" b="1" dirty="0">
                <a:solidFill>
                  <a:srgbClr val="C9A15A"/>
                </a:solidFill>
                <a:latin typeface="Bookman Old Style" pitchFamily="34" charset="0"/>
                <a:ea typeface="Bookman Old Style" pitchFamily="34" charset="-122"/>
                <a:cs typeface="Bookman Old Style" pitchFamily="34" charset="-120"/>
              </a:rPr>
              <a:t>Appendix M</a:t>
            </a:r>
            <a:endParaRPr lang="en-US" sz="3000" dirty="0"/>
          </a:p>
        </p:txBody>
      </p:sp>
      <p:sp>
        <p:nvSpPr>
          <p:cNvPr id="9" name="Text 6"/>
          <p:cNvSpPr/>
          <p:nvPr/>
        </p:nvSpPr>
        <p:spPr>
          <a:xfrm>
            <a:off x="777240" y="2926080"/>
            <a:ext cx="10607040" cy="2194560"/>
          </a:xfrm>
          <a:prstGeom prst="rect">
            <a:avLst/>
          </a:prstGeom>
          <a:noFill/>
          <a:ln/>
        </p:spPr>
        <p:txBody>
          <a:bodyPr wrap="square" rtlCol="0" anchor="t"/>
          <a:lstStyle/>
          <a:p>
            <a:pPr indent="0" marL="0">
              <a:lnSpc>
                <a:spcPct val="96000"/>
              </a:lnSpc>
              <a:buNone/>
            </a:pPr>
            <a:r>
              <a:rPr lang="en-US" sz="5200" b="1" dirty="0">
                <a:solidFill>
                  <a:srgbClr val="FBF9F3"/>
                </a:solidFill>
                <a:latin typeface="Bookman Old Style" pitchFamily="34" charset="0"/>
                <a:ea typeface="Bookman Old Style" pitchFamily="34" charset="-122"/>
                <a:cs typeface="Bookman Old Style" pitchFamily="34" charset="-120"/>
              </a:rPr>
              <a:t>Prayers for the Digital Age</a:t>
            </a:r>
            <a:endParaRPr lang="en-US" sz="5200" dirty="0"/>
          </a:p>
        </p:txBody>
      </p:sp>
      <p:sp>
        <p:nvSpPr>
          <p:cNvPr id="10" name="Text 7"/>
          <p:cNvSpPr/>
          <p:nvPr/>
        </p:nvSpPr>
        <p:spPr>
          <a:xfrm>
            <a:off x="868680" y="5715000"/>
            <a:ext cx="10058400" cy="822960"/>
          </a:xfrm>
          <a:prstGeom prst="rect">
            <a:avLst/>
          </a:prstGeom>
          <a:noFill/>
          <a:ln/>
        </p:spPr>
        <p:txBody>
          <a:bodyPr wrap="square" rtlCol="0" anchor="ctr"/>
          <a:lstStyle/>
          <a:p>
            <a:pPr indent="0" marL="0">
              <a:buNone/>
            </a:pPr>
            <a:r>
              <a:rPr lang="en-US" sz="1600" i="1" dirty="0">
                <a:solidFill>
                  <a:srgbClr val="E7E8D1"/>
                </a:solidFill>
                <a:latin typeface="Calibri" pitchFamily="34" charset="0"/>
                <a:ea typeface="Calibri" pitchFamily="34" charset="-122"/>
                <a:cs typeface="Calibri" pitchFamily="34" charset="-120"/>
              </a:rPr>
              <a:t>Seeking God's Wisdom in a Connected World</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9F3"/>
        </a:solidFill>
      </p:bgPr>
    </p:bg>
    <p:spTree>
      <p:nvGrpSpPr>
        <p:cNvPr id="1" name=""/>
        <p:cNvGrpSpPr/>
        <p:nvPr/>
      </p:nvGrpSpPr>
      <p:grpSpPr>
        <a:xfrm>
          <a:off x="0" y="0"/>
          <a:ext cx="0" cy="0"/>
          <a:chOff x="0" y="0"/>
          <a:chExt cx="0" cy="0"/>
        </a:xfrm>
      </p:grpSpPr>
      <p:sp>
        <p:nvSpPr>
          <p:cNvPr id="2" name="Shape 0"/>
          <p:cNvSpPr/>
          <p:nvPr/>
        </p:nvSpPr>
        <p:spPr>
          <a:xfrm>
            <a:off x="822960" y="658368"/>
            <a:ext cx="1051560" cy="1051560"/>
          </a:xfrm>
          <a:prstGeom prst="ellipse">
            <a:avLst/>
          </a:prstGeom>
          <a:solidFill>
            <a:srgbClr val="5A6B4D"/>
          </a:solidFill>
          <a:ln/>
          <a:effectLst>
            <a:outerShdw sx="100000" sy="100000" kx="0" ky="0" algn="bl" rotWithShape="0" blurRad="114300" dist="381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1097280" y="932688"/>
            <a:ext cx="502920" cy="502920"/>
          </a:xfrm>
          <a:prstGeom prst="rect">
            <a:avLst/>
          </a:prstGeom>
        </p:spPr>
      </p:pic>
      <p:sp>
        <p:nvSpPr>
          <p:cNvPr id="4" name="Text 1"/>
          <p:cNvSpPr/>
          <p:nvPr/>
        </p:nvSpPr>
        <p:spPr>
          <a:xfrm>
            <a:off x="2103120" y="621792"/>
            <a:ext cx="9326880" cy="685800"/>
          </a:xfrm>
          <a:prstGeom prst="rect">
            <a:avLst/>
          </a:prstGeom>
          <a:noFill/>
          <a:ln/>
        </p:spPr>
        <p:txBody>
          <a:bodyPr wrap="square" rtlCol="0" anchor="ctr"/>
          <a:lstStyle/>
          <a:p>
            <a:pPr indent="0" marL="0">
              <a:buNone/>
            </a:pPr>
            <a:r>
              <a:rPr lang="en-US" sz="3300" b="1" dirty="0">
                <a:solidFill>
                  <a:srgbClr val="3E4A33"/>
                </a:solidFill>
                <a:latin typeface="Bookman Old Style" pitchFamily="34" charset="0"/>
                <a:ea typeface="Bookman Old Style" pitchFamily="34" charset="-122"/>
                <a:cs typeface="Bookman Old Style" pitchFamily="34" charset="-120"/>
              </a:rPr>
              <a:t>Introduction</a:t>
            </a:r>
            <a:endParaRPr lang="en-US" sz="3300" dirty="0"/>
          </a:p>
        </p:txBody>
      </p:sp>
      <p:sp>
        <p:nvSpPr>
          <p:cNvPr id="5" name="Shape 2"/>
          <p:cNvSpPr/>
          <p:nvPr/>
        </p:nvSpPr>
        <p:spPr>
          <a:xfrm>
            <a:off x="868680" y="2011680"/>
            <a:ext cx="10424160" cy="3566160"/>
          </a:xfrm>
          <a:prstGeom prst="roundRect">
            <a:avLst>
              <a:gd name="adj" fmla="val 3590"/>
            </a:avLst>
          </a:prstGeom>
          <a:solidFill>
            <a:srgbClr val="FFFFFF"/>
          </a:solidFill>
          <a:ln w="12700">
            <a:solidFill>
              <a:srgbClr val="E7E8D1"/>
            </a:solidFill>
            <a:prstDash val="solid"/>
          </a:ln>
          <a:effectLst>
            <a:outerShdw sx="100000" sy="100000" kx="0" ky="0" algn="bl" rotWithShape="0" blurRad="114300" dist="38100" dir="5400000">
              <a:srgbClr val="000000">
                <a:alpha val="12000"/>
              </a:srgbClr>
            </a:outerShdw>
          </a:effectLst>
        </p:spPr>
      </p:sp>
      <p:sp>
        <p:nvSpPr>
          <p:cNvPr id="6" name="Text 3"/>
          <p:cNvSpPr/>
          <p:nvPr/>
        </p:nvSpPr>
        <p:spPr>
          <a:xfrm>
            <a:off x="1417320" y="2331720"/>
            <a:ext cx="9326880" cy="2926080"/>
          </a:xfrm>
          <a:prstGeom prst="rect">
            <a:avLst/>
          </a:prstGeom>
          <a:noFill/>
          <a:ln/>
        </p:spPr>
        <p:txBody>
          <a:bodyPr wrap="square" rtlCol="0" anchor="ctr"/>
          <a:lstStyle/>
          <a:p>
            <a:pPr indent="0" marL="0">
              <a:lnSpc>
                <a:spcPct val="114000"/>
              </a:lnSpc>
              <a:buNone/>
            </a:pPr>
            <a:r>
              <a:rPr lang="en-US" sz="1800" dirty="0">
                <a:solidFill>
                  <a:srgbClr val="37352E"/>
                </a:solidFill>
                <a:latin typeface="Calibri" pitchFamily="34" charset="0"/>
                <a:ea typeface="Calibri" pitchFamily="34" charset="-122"/>
                <a:cs typeface="Calibri" pitchFamily="34" charset="-120"/>
              </a:rPr>
              <a:t>Technology changes rapidly, but God does not. Artificial intelligence evolves, but God's wisdom remains. New devices appear, but God's truth endures. The digital age presents challenges previous generations never imagined, constant connectivity, information overload, online conflict, artificial intelligence, digital distraction, privacy concerns, work without boundaries. Yet the answer remains the same. God invites His people to pray, and prayer reminds us that wisdom comes from Him, strength comes from Him, discernment comes from Him, and hope comes from Him. These prayers are designed to help believers seek God's guidance as they navigate life in a technology-driven world. Use them personally, with family, in small groups, or whenever digital life feels overwhelming.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Wisdom</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000" i="1" dirty="0">
                <a:solidFill>
                  <a:srgbClr val="FBF9F3"/>
                </a:solidFill>
                <a:latin typeface="Bookman Old Style" pitchFamily="34" charset="0"/>
                <a:ea typeface="Bookman Old Style" pitchFamily="34" charset="-122"/>
                <a:cs typeface="Bookman Old Style" pitchFamily="34" charset="-120"/>
              </a:rPr>
              <a:t>"Father, You are the source of all wisdom. In a world overflowing with information, help me pursue wisdom above knowledge. Teach me to think carefully, speak thoughtfully, and act faithfully. Protect me from pride in what I know and fear of what I do not know. Help me recognize truth, reject deception, and follow Your guidance. When difficult decisions arise, give me discernment. When new technologies emerge, give me perspective. When uncertainty surrounds me, remind me that You remain sovereign. May every decision I make reflect trust in You. In Jesus' name, Amen."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2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Before Going Online</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200" i="1" dirty="0">
                <a:solidFill>
                  <a:srgbClr val="FBF9F3"/>
                </a:solidFill>
                <a:latin typeface="Bookman Old Style" pitchFamily="34" charset="0"/>
                <a:ea typeface="Bookman Old Style" pitchFamily="34" charset="-122"/>
                <a:cs typeface="Bookman Old Style" pitchFamily="34" charset="-120"/>
              </a:rPr>
              <a:t>"Lord, before I enter today's digital conversations, prepare my heart. Guard my thoughts. Guide my words. Help me reflect Your character in everything I read, write, share, and say. Protect me from unnecessary anger. Protect me from pride. Protect me from foolish arguments. Help me encourage others. Help me pursue truth. Help me honor You. May my digital presence become a testimony to Your grace. Amen."</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3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Discernment</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200" i="1" dirty="0">
                <a:solidFill>
                  <a:srgbClr val="FBF9F3"/>
                </a:solidFill>
                <a:latin typeface="Bookman Old Style" pitchFamily="34" charset="0"/>
                <a:ea typeface="Bookman Old Style" pitchFamily="34" charset="-122"/>
                <a:cs typeface="Bookman Old Style" pitchFamily="34" charset="-120"/>
              </a:rPr>
              <a:t>"Father, many voices compete for my attention. Many opinions seek influence. Many messages claim authority. Help me recognize what is true. Give me wisdom to evaluate information carefully. Protect me from deception. Protect me from manipulation. Protect me from confusion. Teach me to measure every idea against Your Word. Help me value truth more than popularity. May Your Spirit guide my understanding. Amen."</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4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Social Media</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000" i="1" dirty="0">
                <a:solidFill>
                  <a:srgbClr val="FBF9F3"/>
                </a:solidFill>
                <a:latin typeface="Bookman Old Style" pitchFamily="34" charset="0"/>
                <a:ea typeface="Bookman Old Style" pitchFamily="34" charset="-122"/>
                <a:cs typeface="Bookman Old Style" pitchFamily="34" charset="-120"/>
              </a:rPr>
              <a:t>"Lord, social media can be useful. It can also be dangerous. Help me use these platforms wisely. Protect me from envy. Protect me from comparison. Protect me from seeking approval from others. Teach me to celebrate others without jealousy. Help me encourage rather than criticize. Help me listen more than react. Help me remember that my identity is found in Christ, not in likes, shares, followers, or online recognition. Use my presence to reflect Your love. Amen."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5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Truth</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200" i="1" dirty="0">
                <a:solidFill>
                  <a:srgbClr val="FBF9F3"/>
                </a:solidFill>
                <a:latin typeface="Bookman Old Style" pitchFamily="34" charset="0"/>
                <a:ea typeface="Bookman Old Style" pitchFamily="34" charset="-122"/>
                <a:cs typeface="Bookman Old Style" pitchFamily="34" charset="-120"/>
              </a:rPr>
              <a:t>"God of Truth, in an age of misinformation, confusion, and manipulation, help me become a person of integrity. May I speak truth, share truth, defend truth, live truth. Protect me from carelessness. Help me verify before sharing. Help me seek understanding before reacting. Help me resist the temptation to spread information simply because it confirms my preferences. May truth always matter more than convenience. Amen."</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6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Christian Technologists</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000" i="1" dirty="0">
                <a:solidFill>
                  <a:srgbClr val="FBF9F3"/>
                </a:solidFill>
                <a:latin typeface="Bookman Old Style" pitchFamily="34" charset="0"/>
                <a:ea typeface="Bookman Old Style" pitchFamily="34" charset="-122"/>
                <a:cs typeface="Bookman Old Style" pitchFamily="34" charset="-120"/>
              </a:rPr>
              <a:t>"Lord, thank You for the gifts, skills, and opportunities You have entrusted to me. Help me use technology as a servant rather than a master. Give me wisdom as I build, secure, manage, design, develop, and deploy technology. May my work serve people. May my decisions reflect integrity. May my influence be guided by humility. Protect me from pride in my abilities. Help me remember that all wisdom ultimately comes from You. May my work become an act of worship. Amen."</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7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Cybersecurity Professionals</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000" i="1" dirty="0">
                <a:solidFill>
                  <a:srgbClr val="FBF9F3"/>
                </a:solidFill>
                <a:latin typeface="Bookman Old Style" pitchFamily="34" charset="0"/>
                <a:ea typeface="Bookman Old Style" pitchFamily="34" charset="-122"/>
                <a:cs typeface="Bookman Old Style" pitchFamily="34" charset="-120"/>
              </a:rPr>
              <a:t>"Father, You understand protection better than anyone. You are my refuge and fortress. As I work to protect systems, data, identities, and organizations, remind me that true security ultimately comes from You. Give me wisdom to recognize risks. Patience to solve difficult problems. Integrity when no one is watching. Humility when success comes. Strength when challenges feel overwhelming. Help me use my skills to serve others and protect what matters. May my work reflect Your care for people. Amen."</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8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AI Developers and Leaders</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000" i="1" dirty="0">
                <a:solidFill>
                  <a:srgbClr val="FBF9F3"/>
                </a:solidFill>
                <a:latin typeface="Bookman Old Style" pitchFamily="34" charset="0"/>
                <a:ea typeface="Bookman Old Style" pitchFamily="34" charset="-122"/>
                <a:cs typeface="Bookman Old Style" pitchFamily="34" charset="-120"/>
              </a:rPr>
              <a:t>"Lord, artificial intelligence offers tremendous opportunity and significant responsibility. Give wisdom to those designing, building, deploying, and governing these systems. Help them value people above profits, truth above convenience, stewardship above power. Protect them from arrogance. Help them recognize the dignity of every human being. May technology be used to serve humanity rather than diminish it. Guide leaders toward ethical decisions and wise governance. May innovation never replace wisdom. Amen."</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9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Parents</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000" i="1" dirty="0">
                <a:solidFill>
                  <a:srgbClr val="FBF9F3"/>
                </a:solidFill>
                <a:latin typeface="Bookman Old Style" pitchFamily="34" charset="0"/>
                <a:ea typeface="Bookman Old Style" pitchFamily="34" charset="-122"/>
                <a:cs typeface="Bookman Old Style" pitchFamily="34" charset="-120"/>
              </a:rPr>
              <a:t>"Father, raising children in a digital world is challenging. Give parents wisdom. Help them lead with both grace and truth. Teach them when to set boundaries, and teach them when to listen. Help them model healthy technology habits. Protect their children from harmful influences. Develop discernment in young hearts. May homes become places of conversation, discipleship, and spiritual growth. Help families use technology wisely while keeping relationships at the center. Amen."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10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Students</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200" i="1" dirty="0">
                <a:solidFill>
                  <a:srgbClr val="FBF9F3"/>
                </a:solidFill>
                <a:latin typeface="Bookman Old Style" pitchFamily="34" charset="0"/>
                <a:ea typeface="Bookman Old Style" pitchFamily="34" charset="-122"/>
                <a:cs typeface="Bookman Old Style" pitchFamily="34" charset="-120"/>
              </a:rPr>
              <a:t>"Lord, many students are growing up surrounded by devices, information, and constant connection. Give them wisdom beyond their years. Help them use technology for learning rather than distraction. Protect them from harmful influences. Strengthen their identity in Christ. Give them courage to stand for truth. Help them use their gifts for Your glory. Guide them as they prepare for the future. Amen."</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11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Digital Witness</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000" i="1" dirty="0">
                <a:solidFill>
                  <a:srgbClr val="FBF9F3"/>
                </a:solidFill>
                <a:latin typeface="Bookman Old Style" pitchFamily="34" charset="0"/>
                <a:ea typeface="Bookman Old Style" pitchFamily="34" charset="-122"/>
                <a:cs typeface="Bookman Old Style" pitchFamily="34" charset="-120"/>
              </a:rPr>
              <a:t>"Father, help me represent You well online. When I speak, let my words be gracious. When I disagree, let me remain respectful. When I share truth, let me do so with love. When opportunities arise, give me courage to point others toward Christ. Help me remember that every screen connects me to real people with real struggles and real needs. May my online presence become an instrument of encouragement, compassion, and hope. Amen."</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12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Work-Life Balance</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200" i="1" dirty="0">
                <a:solidFill>
                  <a:srgbClr val="FBF9F3"/>
                </a:solidFill>
                <a:latin typeface="Bookman Old Style" pitchFamily="34" charset="0"/>
                <a:ea typeface="Bookman Old Style" pitchFamily="34" charset="-122"/>
                <a:cs typeface="Bookman Old Style" pitchFamily="34" charset="-120"/>
              </a:rPr>
              <a:t>"Lord, technology often makes it difficult to disconnect. Emails continue. Messages arrive. Notifications never stop. Help me establish healthy boundaries. Teach me when to work and when to rest. Protect me from burnout. Protect me from anxiety. Help me trust You enough to step away. Remind me that my value is not measured by productivity. May my work honor You and my rest honor You as well. Amen."</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13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Sabbath Rest</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200" i="1" dirty="0">
                <a:solidFill>
                  <a:srgbClr val="FBF9F3"/>
                </a:solidFill>
                <a:latin typeface="Bookman Old Style" pitchFamily="34" charset="0"/>
                <a:ea typeface="Bookman Old Style" pitchFamily="34" charset="-122"/>
                <a:cs typeface="Bookman Old Style" pitchFamily="34" charset="-120"/>
              </a:rPr>
              <a:t>"Father, thank You for creating rest as a gift. Teach me to receive it. Help me disconnect from the pressures of constant availability. Quiet the noise around me. Slow my thoughts. Renew my spirit. Restore my perspective. Help me remember that the world continues because You sustain it, not because I remain connected. Teach me to rest in Your presence. Amen."</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14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During Seasons of Digital Overload</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200" i="1" dirty="0">
                <a:solidFill>
                  <a:srgbClr val="FBF9F3"/>
                </a:solidFill>
                <a:latin typeface="Bookman Old Style" pitchFamily="34" charset="0"/>
                <a:ea typeface="Bookman Old Style" pitchFamily="34" charset="-122"/>
                <a:cs typeface="Bookman Old Style" pitchFamily="34" charset="-120"/>
              </a:rPr>
              <a:t>"Lord, my mind feels crowded. My attention feels fragmented. The noise feels constant. I am overwhelmed. Help me slow down. Help me breathe. Help me remember what matters most. Give me wisdom to simplify. Give me courage to establish boundaries. Give me peace that does not depend on perfect circumstances. Draw my attention back to You. Amen."</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15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the Church</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200" i="1" dirty="0">
                <a:solidFill>
                  <a:srgbClr val="FBF9F3"/>
                </a:solidFill>
                <a:latin typeface="Bookman Old Style" pitchFamily="34" charset="0"/>
                <a:ea typeface="Bookman Old Style" pitchFamily="34" charset="-122"/>
                <a:cs typeface="Bookman Old Style" pitchFamily="34" charset="-120"/>
              </a:rPr>
              <a:t>"Father, help Your church navigate the digital age faithfully. Give pastors wisdom. Give leaders discernment. Give congregations unity. Help churches use technology as a tool for ministry while remaining committed to authentic relationships and biblical community. Protect Your people from distraction. Protect them from compromise. Protect them from division. May the church shine brightly in a confused world. Amen."</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16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Prayer for the Future</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1800" i="1" dirty="0">
                <a:solidFill>
                  <a:srgbClr val="FBF9F3"/>
                </a:solidFill>
                <a:latin typeface="Bookman Old Style" pitchFamily="34" charset="0"/>
                <a:ea typeface="Bookman Old Style" pitchFamily="34" charset="-122"/>
                <a:cs typeface="Bookman Old Style" pitchFamily="34" charset="-120"/>
              </a:rPr>
              <a:t>"Lord, I do not know what technologies will emerge tomorrow. I do not know how artificial intelligence will develop. I do not know what challenges future generations will face. But I know that You are already there. You remain sovereign over every invention, every discovery, every innovation, and every generation. Help me face the future with faith rather than fear, with wisdom rather than panic, with hope rather than anxiety. Teach me to trust You regardless of what changes around me. Amen. The following is offered as a meditation inspired by the Lord's Prayer, paraphrased for a digital-age context, not a replacement for the Lord's Prayer itself."</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sp>
        <p:nvSpPr>
          <p:cNvPr id="3" name="Text 1"/>
          <p:cNvSpPr/>
          <p:nvPr/>
        </p:nvSpPr>
        <p:spPr>
          <a:xfrm>
            <a:off x="10332720" y="411480"/>
            <a:ext cx="1371600" cy="320040"/>
          </a:xfrm>
          <a:prstGeom prst="rect">
            <a:avLst/>
          </a:prstGeom>
          <a:noFill/>
          <a:ln/>
        </p:spPr>
        <p:txBody>
          <a:bodyPr wrap="square" rtlCol="0" anchor="ctr"/>
          <a:lstStyle/>
          <a:p>
            <a:pPr algn="r" indent="0" marL="0">
              <a:buNone/>
            </a:pPr>
            <a:r>
              <a:rPr lang="en-US" sz="1200" dirty="0">
                <a:solidFill>
                  <a:srgbClr val="E7E8D1"/>
                </a:solidFill>
                <a:latin typeface="Calibri" pitchFamily="34" charset="0"/>
                <a:ea typeface="Calibri" pitchFamily="34" charset="-122"/>
                <a:cs typeface="Calibri" pitchFamily="34" charset="-120"/>
              </a:rPr>
              <a:t>17 / 17</a:t>
            </a:r>
            <a:endParaRPr lang="en-US" sz="1200" dirty="0"/>
          </a:p>
        </p:txBody>
      </p:sp>
      <p:sp>
        <p:nvSpPr>
          <p:cNvPr id="4" name="Shape 2"/>
          <p:cNvSpPr/>
          <p:nvPr/>
        </p:nvSpPr>
        <p:spPr>
          <a:xfrm>
            <a:off x="5554980" y="548640"/>
            <a:ext cx="1051560" cy="1051560"/>
          </a:xfrm>
          <a:prstGeom prst="ellipse">
            <a:avLst/>
          </a:prstGeom>
          <a:solidFill>
            <a:srgbClr val="B85042"/>
          </a:solidFill>
          <a:ln w="15875">
            <a:solidFill>
              <a:srgbClr val="C9A15A"/>
            </a:solidFill>
            <a:prstDash val="solid"/>
          </a:ln>
        </p:spPr>
      </p:sp>
      <p:pic>
        <p:nvPicPr>
          <p:cNvPr id="5" name="Image 0" descr="preencoded.png">    </p:cNvPr>
          <p:cNvPicPr>
            <a:picLocks noChangeAspect="1"/>
          </p:cNvPicPr>
          <p:nvPr/>
        </p:nvPicPr>
        <p:blipFill>
          <a:blip r:embed="rId1"/>
          <a:stretch>
            <a:fillRect/>
          </a:stretch>
        </p:blipFill>
        <p:spPr>
          <a:xfrm>
            <a:off x="5824728" y="813816"/>
            <a:ext cx="512064" cy="512064"/>
          </a:xfrm>
          <a:prstGeom prst="rect">
            <a:avLst/>
          </a:prstGeom>
        </p:spPr>
      </p:pic>
      <p:sp>
        <p:nvSpPr>
          <p:cNvPr id="6" name="Text 3"/>
          <p:cNvSpPr/>
          <p:nvPr/>
        </p:nvSpPr>
        <p:spPr>
          <a:xfrm>
            <a:off x="914400" y="1783080"/>
            <a:ext cx="10332720" cy="548640"/>
          </a:xfrm>
          <a:prstGeom prst="rect">
            <a:avLst/>
          </a:prstGeom>
          <a:noFill/>
          <a:ln/>
        </p:spPr>
        <p:txBody>
          <a:bodyPr wrap="square" rtlCol="0" anchor="ctr"/>
          <a:lstStyle/>
          <a:p>
            <a:pPr algn="ctr" indent="0" marL="0">
              <a:buNone/>
            </a:pPr>
            <a:r>
              <a:rPr lang="en-US" sz="2600" b="1" dirty="0">
                <a:solidFill>
                  <a:srgbClr val="C9A15A"/>
                </a:solidFill>
                <a:latin typeface="Bookman Old Style" pitchFamily="34" charset="0"/>
                <a:ea typeface="Bookman Old Style" pitchFamily="34" charset="-122"/>
                <a:cs typeface="Bookman Old Style" pitchFamily="34" charset="-120"/>
              </a:rPr>
              <a:t>A Meditation Inspired by the Lord's Prayer</a:t>
            </a:r>
            <a:endParaRPr lang="en-US" sz="2600" dirty="0"/>
          </a:p>
        </p:txBody>
      </p:sp>
      <p:sp>
        <p:nvSpPr>
          <p:cNvPr id="7" name="Shape 4"/>
          <p:cNvSpPr/>
          <p:nvPr/>
        </p:nvSpPr>
        <p:spPr>
          <a:xfrm>
            <a:off x="1737360" y="2514600"/>
            <a:ext cx="8686800" cy="3794760"/>
          </a:xfrm>
          <a:prstGeom prst="roundRect">
            <a:avLst>
              <a:gd name="adj" fmla="val 3373"/>
            </a:avLst>
          </a:prstGeom>
          <a:solidFill>
            <a:srgbClr val="5A6B4D"/>
          </a:solidFill>
          <a:ln/>
        </p:spPr>
      </p:sp>
      <p:sp>
        <p:nvSpPr>
          <p:cNvPr id="8" name="Text 5"/>
          <p:cNvSpPr/>
          <p:nvPr/>
        </p:nvSpPr>
        <p:spPr>
          <a:xfrm>
            <a:off x="2240280" y="2743200"/>
            <a:ext cx="7680960" cy="3337560"/>
          </a:xfrm>
          <a:prstGeom prst="rect">
            <a:avLst/>
          </a:prstGeom>
          <a:noFill/>
          <a:ln/>
        </p:spPr>
        <p:txBody>
          <a:bodyPr wrap="square" rtlCol="0" anchor="ctr"/>
          <a:lstStyle/>
          <a:p>
            <a:pPr algn="ctr" indent="0" marL="0">
              <a:lnSpc>
                <a:spcPct val="112000"/>
              </a:lnSpc>
              <a:buNone/>
            </a:pPr>
            <a:r>
              <a:rPr lang="en-US" sz="2000" i="1" dirty="0">
                <a:solidFill>
                  <a:srgbClr val="FBF9F3"/>
                </a:solidFill>
                <a:latin typeface="Bookman Old Style" pitchFamily="34" charset="0"/>
                <a:ea typeface="Bookman Old Style" pitchFamily="34" charset="-122"/>
                <a:cs typeface="Bookman Old Style" pitchFamily="34" charset="-120"/>
              </a:rPr>
              <a:t>"Our Father in heaven, hallowed be Your name. May Your kingdom come and Your will be done in our homes, workplaces, churches, networks, devices, and digital communities. Give us today the wisdom we need. Forgive us for the ways we have allowed technology to distract us from You. Help us forgive those who have harmed us online. Lead us away from temptation and protect us from deception. Deliver us from fear, pride, addiction, and idolatry. For Yours is the kingdom, the power, and the glory forever. Amen."</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E4A33"/>
        </a:solidFill>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3E4A33"/>
          </a:solidFill>
          <a:ln/>
        </p:spPr>
      </p:sp>
      <p:pic>
        <p:nvPicPr>
          <p:cNvPr id="3" name="Image 0" descr="preencoded.png">    </p:cNvPr>
          <p:cNvPicPr>
            <a:picLocks noChangeAspect="1"/>
          </p:cNvPicPr>
          <p:nvPr/>
        </p:nvPicPr>
        <p:blipFill>
          <a:blip r:embed="rId1"/>
          <a:stretch>
            <a:fillRect/>
          </a:stretch>
        </p:blipFill>
        <p:spPr>
          <a:xfrm>
            <a:off x="5486400" y="1828800"/>
            <a:ext cx="1188720" cy="1188720"/>
          </a:xfrm>
          <a:prstGeom prst="rect">
            <a:avLst/>
          </a:prstGeom>
        </p:spPr>
      </p:pic>
      <p:sp>
        <p:nvSpPr>
          <p:cNvPr id="4" name="Text 1"/>
          <p:cNvSpPr/>
          <p:nvPr/>
        </p:nvSpPr>
        <p:spPr>
          <a:xfrm>
            <a:off x="0" y="3200400"/>
            <a:ext cx="12161520" cy="457200"/>
          </a:xfrm>
          <a:prstGeom prst="rect">
            <a:avLst/>
          </a:prstGeom>
          <a:noFill/>
          <a:ln/>
        </p:spPr>
        <p:txBody>
          <a:bodyPr wrap="square" rtlCol="0" anchor="ctr"/>
          <a:lstStyle/>
          <a:p>
            <a:pPr algn="ctr" indent="0" marL="0">
              <a:buNone/>
            </a:pPr>
            <a:r>
              <a:rPr lang="en-US" sz="1600" b="1" spc="200" kern="0" dirty="0">
                <a:solidFill>
                  <a:srgbClr val="C9A15A"/>
                </a:solidFill>
                <a:latin typeface="Calibri" pitchFamily="34" charset="0"/>
                <a:ea typeface="Calibri" pitchFamily="34" charset="-122"/>
                <a:cs typeface="Calibri" pitchFamily="34" charset="-120"/>
              </a:rPr>
              <a:t>Appendix M</a:t>
            </a:r>
            <a:endParaRPr lang="en-US" sz="1600" dirty="0"/>
          </a:p>
        </p:txBody>
      </p:sp>
      <p:sp>
        <p:nvSpPr>
          <p:cNvPr id="5" name="Text 2"/>
          <p:cNvSpPr/>
          <p:nvPr/>
        </p:nvSpPr>
        <p:spPr>
          <a:xfrm>
            <a:off x="914400" y="3611880"/>
            <a:ext cx="10332720" cy="1097280"/>
          </a:xfrm>
          <a:prstGeom prst="rect">
            <a:avLst/>
          </a:prstGeom>
          <a:noFill/>
          <a:ln/>
        </p:spPr>
        <p:txBody>
          <a:bodyPr wrap="square" rtlCol="0" anchor="t"/>
          <a:lstStyle/>
          <a:p>
            <a:pPr algn="ctr" indent="0" marL="0">
              <a:lnSpc>
                <a:spcPct val="98000"/>
              </a:lnSpc>
              <a:buNone/>
            </a:pPr>
            <a:r>
              <a:rPr lang="en-US" sz="3800" b="1" dirty="0">
                <a:solidFill>
                  <a:srgbClr val="FBF9F3"/>
                </a:solidFill>
                <a:latin typeface="Bookman Old Style" pitchFamily="34" charset="0"/>
                <a:ea typeface="Bookman Old Style" pitchFamily="34" charset="-122"/>
                <a:cs typeface="Bookman Old Style" pitchFamily="34" charset="-120"/>
              </a:rPr>
              <a:t>Prayers for the Digital Age</a:t>
            </a:r>
            <a:endParaRPr lang="en-US" sz="3800" dirty="0"/>
          </a:p>
        </p:txBody>
      </p:sp>
      <p:sp>
        <p:nvSpPr>
          <p:cNvPr id="6" name="Text 3"/>
          <p:cNvSpPr/>
          <p:nvPr/>
        </p:nvSpPr>
        <p:spPr>
          <a:xfrm>
            <a:off x="1371600" y="5074920"/>
            <a:ext cx="9418320" cy="822960"/>
          </a:xfrm>
          <a:prstGeom prst="rect">
            <a:avLst/>
          </a:prstGeom>
          <a:noFill/>
          <a:ln/>
        </p:spPr>
        <p:txBody>
          <a:bodyPr wrap="square" rtlCol="0" anchor="ctr"/>
          <a:lstStyle/>
          <a:p>
            <a:pPr algn="ctr" indent="0" marL="0">
              <a:buNone/>
            </a:pPr>
            <a:r>
              <a:rPr lang="en-US" sz="1700" i="1" dirty="0">
                <a:solidFill>
                  <a:srgbClr val="E7E8D1"/>
                </a:solidFill>
                <a:latin typeface="Bookman Old Style" pitchFamily="34" charset="0"/>
                <a:ea typeface="Bookman Old Style" pitchFamily="34" charset="-122"/>
                <a:cs typeface="Bookman Old Style" pitchFamily="34" charset="-120"/>
              </a:rPr>
              <a:t>Technology will keep changing.  The wisdom to navigate it faithfully will not.</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Divine Design — Appendix M</dc:title>
  <dc:subject>PptxGenJS Presentation</dc:subject>
  <dc:creator>Rod Trent</dc:creator>
  <cp:lastModifiedBy>Rod Trent</cp:lastModifiedBy>
  <cp:revision>1</cp:revision>
  <dcterms:created xsi:type="dcterms:W3CDTF">2026-07-03T18:29:11Z</dcterms:created>
  <dcterms:modified xsi:type="dcterms:W3CDTF">2026-07-03T18:29:11Z</dcterms:modified>
</cp:coreProperties>
</file>