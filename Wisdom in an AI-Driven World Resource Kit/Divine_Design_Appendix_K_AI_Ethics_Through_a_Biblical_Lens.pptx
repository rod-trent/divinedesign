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A6B4D"/>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5A6B4D"/>
          </a:solidFill>
          <a:ln/>
        </p:spPr>
      </p:sp>
      <p:sp>
        <p:nvSpPr>
          <p:cNvPr id="3" name="Shape 1"/>
          <p:cNvSpPr/>
          <p:nvPr/>
        </p:nvSpPr>
        <p:spPr>
          <a:xfrm>
            <a:off x="0" y="5349240"/>
            <a:ext cx="12161520" cy="1508760"/>
          </a:xfrm>
          <a:prstGeom prst="rect">
            <a:avLst/>
          </a:prstGeom>
          <a:solidFill>
            <a:srgbClr val="3E4A33"/>
          </a:solidFill>
          <a:ln/>
        </p:spPr>
      </p:sp>
      <p:sp>
        <p:nvSpPr>
          <p:cNvPr id="4" name="Shape 2"/>
          <p:cNvSpPr/>
          <p:nvPr/>
        </p:nvSpPr>
        <p:spPr>
          <a:xfrm>
            <a:off x="9326880" y="685800"/>
            <a:ext cx="1965960" cy="1965960"/>
          </a:xfrm>
          <a:prstGeom prst="ellipse">
            <a:avLst/>
          </a:prstGeom>
          <a:solidFill>
            <a:srgbClr val="3E4A33"/>
          </a:solidFill>
          <a:ln w="19050">
            <a:solidFill>
              <a:srgbClr val="C9A15A"/>
            </a:solidFill>
            <a:prstDash val="solid"/>
          </a:ln>
        </p:spPr>
      </p:sp>
      <p:pic>
        <p:nvPicPr>
          <p:cNvPr id="5" name="Image 0" descr="preencoded.png">    </p:cNvPr>
          <p:cNvPicPr>
            <a:picLocks noChangeAspect="1"/>
          </p:cNvPicPr>
          <p:nvPr/>
        </p:nvPicPr>
        <p:blipFill>
          <a:blip r:embed="rId1"/>
          <a:stretch>
            <a:fillRect/>
          </a:stretch>
        </p:blipFill>
        <p:spPr>
          <a:xfrm>
            <a:off x="9784080" y="1133856"/>
            <a:ext cx="1051560" cy="1051560"/>
          </a:xfrm>
          <a:prstGeom prst="rect">
            <a:avLst/>
          </a:prstGeom>
        </p:spPr>
      </p:pic>
      <p:sp>
        <p:nvSpPr>
          <p:cNvPr id="6" name="Text 3"/>
          <p:cNvSpPr/>
          <p:nvPr/>
        </p:nvSpPr>
        <p:spPr>
          <a:xfrm>
            <a:off x="822960" y="1051560"/>
            <a:ext cx="8686800" cy="365760"/>
          </a:xfrm>
          <a:prstGeom prst="rect">
            <a:avLst/>
          </a:prstGeom>
          <a:noFill/>
          <a:ln/>
        </p:spPr>
        <p:txBody>
          <a:bodyPr wrap="square" rtlCol="0" anchor="ctr"/>
          <a:lstStyle/>
          <a:p>
            <a:pPr indent="0" marL="0">
              <a:buNone/>
            </a:pPr>
            <a:r>
              <a:rPr lang="en-US" sz="1400" b="1" spc="300" kern="0" dirty="0">
                <a:solidFill>
                  <a:srgbClr val="E7E8D1"/>
                </a:solidFill>
                <a:latin typeface="Calibri" pitchFamily="34" charset="0"/>
                <a:ea typeface="Calibri" pitchFamily="34" charset="-122"/>
                <a:cs typeface="Calibri" pitchFamily="34" charset="-120"/>
              </a:rPr>
              <a:t>DIVINE DESIGN FOR THE DIGITAL AGE</a:t>
            </a:r>
            <a:endParaRPr lang="en-US" sz="1400" dirty="0"/>
          </a:p>
        </p:txBody>
      </p:sp>
      <p:sp>
        <p:nvSpPr>
          <p:cNvPr id="7" name="Text 4"/>
          <p:cNvSpPr/>
          <p:nvPr/>
        </p:nvSpPr>
        <p:spPr>
          <a:xfrm>
            <a:off x="822960" y="1371600"/>
            <a:ext cx="8686800" cy="320040"/>
          </a:xfrm>
          <a:prstGeom prst="rect">
            <a:avLst/>
          </a:prstGeom>
          <a:noFill/>
          <a:ln/>
        </p:spPr>
        <p:txBody>
          <a:bodyPr wrap="square" rtlCol="0" anchor="ctr"/>
          <a:lstStyle/>
          <a:p>
            <a:pPr indent="0" marL="0">
              <a:buNone/>
            </a:pPr>
            <a:r>
              <a:rPr lang="en-US" sz="1300" i="1" dirty="0">
                <a:solidFill>
                  <a:srgbClr val="C9A15A"/>
                </a:solidFill>
                <a:latin typeface="Calibri" pitchFamily="34" charset="0"/>
                <a:ea typeface="Calibri" pitchFamily="34" charset="-122"/>
                <a:cs typeface="Calibri" pitchFamily="34" charset="-120"/>
              </a:rPr>
              <a:t>Companion Resource</a:t>
            </a:r>
            <a:endParaRPr lang="en-US" sz="1300" dirty="0"/>
          </a:p>
        </p:txBody>
      </p:sp>
      <p:sp>
        <p:nvSpPr>
          <p:cNvPr id="8" name="Text 5"/>
          <p:cNvSpPr/>
          <p:nvPr/>
        </p:nvSpPr>
        <p:spPr>
          <a:xfrm>
            <a:off x="822960" y="2331720"/>
            <a:ext cx="8229600" cy="640080"/>
          </a:xfrm>
          <a:prstGeom prst="rect">
            <a:avLst/>
          </a:prstGeom>
          <a:noFill/>
          <a:ln/>
        </p:spPr>
        <p:txBody>
          <a:bodyPr wrap="square" rtlCol="0" anchor="ctr"/>
          <a:lstStyle/>
          <a:p>
            <a:pPr indent="0" marL="0">
              <a:buNone/>
            </a:pPr>
            <a:r>
              <a:rPr lang="en-US" sz="3000" b="1" dirty="0">
                <a:solidFill>
                  <a:srgbClr val="C9A15A"/>
                </a:solidFill>
                <a:latin typeface="Bookman Old Style" pitchFamily="34" charset="0"/>
                <a:ea typeface="Bookman Old Style" pitchFamily="34" charset="-122"/>
                <a:cs typeface="Bookman Old Style" pitchFamily="34" charset="-120"/>
              </a:rPr>
              <a:t>Appendix K</a:t>
            </a:r>
            <a:endParaRPr lang="en-US" sz="3000" dirty="0"/>
          </a:p>
        </p:txBody>
      </p:sp>
      <p:sp>
        <p:nvSpPr>
          <p:cNvPr id="9" name="Text 6"/>
          <p:cNvSpPr/>
          <p:nvPr/>
        </p:nvSpPr>
        <p:spPr>
          <a:xfrm>
            <a:off x="777240" y="2926080"/>
            <a:ext cx="10607040" cy="2194560"/>
          </a:xfrm>
          <a:prstGeom prst="rect">
            <a:avLst/>
          </a:prstGeom>
          <a:noFill/>
          <a:ln/>
        </p:spPr>
        <p:txBody>
          <a:bodyPr wrap="square" rtlCol="0" anchor="t"/>
          <a:lstStyle/>
          <a:p>
            <a:pPr indent="0" marL="0">
              <a:lnSpc>
                <a:spcPct val="96000"/>
              </a:lnSpc>
              <a:buNone/>
            </a:pPr>
            <a:r>
              <a:rPr lang="en-US" sz="4600" b="1" dirty="0">
                <a:solidFill>
                  <a:srgbClr val="FBF9F3"/>
                </a:solidFill>
                <a:latin typeface="Bookman Old Style" pitchFamily="34" charset="0"/>
                <a:ea typeface="Bookman Old Style" pitchFamily="34" charset="-122"/>
                <a:cs typeface="Bookman Old Style" pitchFamily="34" charset="-120"/>
              </a:rPr>
              <a:t>AI Ethics Through a Biblical Lens</a:t>
            </a:r>
            <a:endParaRPr lang="en-US" sz="4600" dirty="0"/>
          </a:p>
        </p:txBody>
      </p:sp>
      <p:sp>
        <p:nvSpPr>
          <p:cNvPr id="10" name="Text 7"/>
          <p:cNvSpPr/>
          <p:nvPr/>
        </p:nvSpPr>
        <p:spPr>
          <a:xfrm>
            <a:off x="868680" y="5715000"/>
            <a:ext cx="10058400" cy="822960"/>
          </a:xfrm>
          <a:prstGeom prst="rect">
            <a:avLst/>
          </a:prstGeom>
          <a:noFill/>
          <a:ln/>
        </p:spPr>
        <p:txBody>
          <a:bodyPr wrap="square" rtlCol="0" anchor="ctr"/>
          <a:lstStyle/>
          <a:p>
            <a:pPr indent="0" marL="0">
              <a:buNone/>
            </a:pPr>
            <a:r>
              <a:rPr lang="en-US" sz="1600" i="1" dirty="0">
                <a:solidFill>
                  <a:srgbClr val="E7E8D1"/>
                </a:solidFill>
                <a:latin typeface="Calibri" pitchFamily="34" charset="0"/>
                <a:ea typeface="Calibri" pitchFamily="34" charset="-122"/>
                <a:cs typeface="Calibri" pitchFamily="34" charset="-120"/>
              </a:rPr>
              <a:t>Navigating Artificial Intelligence with Wisdom, Truth, and Human Dignity</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9F3"/>
        </a:solidFill>
      </p:bgPr>
    </p:bg>
    <p:spTree>
      <p:nvGrpSpPr>
        <p:cNvPr id="1" name=""/>
        <p:cNvGrpSpPr/>
        <p:nvPr/>
      </p:nvGrpSpPr>
      <p:grpSpPr>
        <a:xfrm>
          <a:off x="0" y="0"/>
          <a:ext cx="0" cy="0"/>
          <a:chOff x="0" y="0"/>
          <a:chExt cx="0" cy="0"/>
        </a:xfrm>
      </p:grpSpPr>
      <p:sp>
        <p:nvSpPr>
          <p:cNvPr id="2" name="Shape 0"/>
          <p:cNvSpPr/>
          <p:nvPr/>
        </p:nvSpPr>
        <p:spPr>
          <a:xfrm>
            <a:off x="822960" y="658368"/>
            <a:ext cx="1051560" cy="105156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32688"/>
            <a:ext cx="502920" cy="502920"/>
          </a:xfrm>
          <a:prstGeom prst="rect">
            <a:avLst/>
          </a:prstGeom>
        </p:spPr>
      </p:pic>
      <p:sp>
        <p:nvSpPr>
          <p:cNvPr id="4" name="Text 1"/>
          <p:cNvSpPr/>
          <p:nvPr/>
        </p:nvSpPr>
        <p:spPr>
          <a:xfrm>
            <a:off x="2103120" y="621792"/>
            <a:ext cx="9326880" cy="685800"/>
          </a:xfrm>
          <a:prstGeom prst="rect">
            <a:avLst/>
          </a:prstGeom>
          <a:noFill/>
          <a:ln/>
        </p:spPr>
        <p:txBody>
          <a:bodyPr wrap="square" rtlCol="0" anchor="ctr"/>
          <a:lstStyle/>
          <a:p>
            <a:pPr indent="0" marL="0">
              <a:buNone/>
            </a:pPr>
            <a:r>
              <a:rPr lang="en-US" sz="3300" b="1" dirty="0">
                <a:solidFill>
                  <a:srgbClr val="3E4A33"/>
                </a:solidFill>
                <a:latin typeface="Bookman Old Style" pitchFamily="34" charset="0"/>
                <a:ea typeface="Bookman Old Style" pitchFamily="34" charset="-122"/>
                <a:cs typeface="Bookman Old Style" pitchFamily="34" charset="-120"/>
              </a:rPr>
              <a:t>What's Inside</a:t>
            </a:r>
            <a:endParaRPr lang="en-US" sz="3300" dirty="0"/>
          </a:p>
        </p:txBody>
      </p:sp>
      <p:sp>
        <p:nvSpPr>
          <p:cNvPr id="5" name="Text 2"/>
          <p:cNvSpPr/>
          <p:nvPr/>
        </p:nvSpPr>
        <p:spPr>
          <a:xfrm>
            <a:off x="2130552" y="1298448"/>
            <a:ext cx="9326880" cy="365760"/>
          </a:xfrm>
          <a:prstGeom prst="rect">
            <a:avLst/>
          </a:prstGeom>
          <a:noFill/>
          <a:ln/>
        </p:spPr>
        <p:txBody>
          <a:bodyPr wrap="square" rtlCol="0" anchor="ctr"/>
          <a:lstStyle/>
          <a:p>
            <a:pPr indent="0" marL="0">
              <a:buNone/>
            </a:pPr>
            <a:r>
              <a:rPr lang="en-US" sz="1500" i="1" dirty="0">
                <a:solidFill>
                  <a:srgbClr val="6B655A"/>
                </a:solidFill>
                <a:latin typeface="Calibri" pitchFamily="34" charset="0"/>
                <a:ea typeface="Calibri" pitchFamily="34" charset="-122"/>
                <a:cs typeface="Calibri" pitchFamily="34" charset="-120"/>
              </a:rPr>
              <a:t>The sections of this resource</a:t>
            </a:r>
            <a:endParaRPr lang="en-US" sz="1500" dirty="0"/>
          </a:p>
        </p:txBody>
      </p:sp>
      <p:sp>
        <p:nvSpPr>
          <p:cNvPr id="6" name="Shape 3"/>
          <p:cNvSpPr/>
          <p:nvPr/>
        </p:nvSpPr>
        <p:spPr>
          <a:xfrm>
            <a:off x="868680" y="1783080"/>
            <a:ext cx="457200" cy="457200"/>
          </a:xfrm>
          <a:prstGeom prst="ellipse">
            <a:avLst/>
          </a:prstGeom>
          <a:solidFill>
            <a:srgbClr val="B85042"/>
          </a:solidFill>
          <a:ln/>
        </p:spPr>
      </p:sp>
      <p:sp>
        <p:nvSpPr>
          <p:cNvPr id="7" name="Text 4"/>
          <p:cNvSpPr/>
          <p:nvPr/>
        </p:nvSpPr>
        <p:spPr>
          <a:xfrm>
            <a:off x="868680" y="1783080"/>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a:t>
            </a:r>
            <a:endParaRPr lang="en-US" sz="1400" dirty="0"/>
          </a:p>
        </p:txBody>
      </p:sp>
      <p:sp>
        <p:nvSpPr>
          <p:cNvPr id="8" name="Text 5"/>
          <p:cNvSpPr/>
          <p:nvPr/>
        </p:nvSpPr>
        <p:spPr>
          <a:xfrm>
            <a:off x="1527048" y="1737360"/>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Introduction</a:t>
            </a:r>
            <a:endParaRPr lang="en-US" sz="1300" dirty="0"/>
          </a:p>
        </p:txBody>
      </p:sp>
      <p:sp>
        <p:nvSpPr>
          <p:cNvPr id="9" name="Shape 6"/>
          <p:cNvSpPr/>
          <p:nvPr/>
        </p:nvSpPr>
        <p:spPr>
          <a:xfrm>
            <a:off x="868680" y="2350008"/>
            <a:ext cx="457200" cy="457200"/>
          </a:xfrm>
          <a:prstGeom prst="ellipse">
            <a:avLst/>
          </a:prstGeom>
          <a:solidFill>
            <a:srgbClr val="B85042"/>
          </a:solidFill>
          <a:ln/>
        </p:spPr>
      </p:sp>
      <p:sp>
        <p:nvSpPr>
          <p:cNvPr id="10" name="Text 7"/>
          <p:cNvSpPr/>
          <p:nvPr/>
        </p:nvSpPr>
        <p:spPr>
          <a:xfrm>
            <a:off x="868680" y="2350008"/>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2</a:t>
            </a:r>
            <a:endParaRPr lang="en-US" sz="1400" dirty="0"/>
          </a:p>
        </p:txBody>
      </p:sp>
      <p:sp>
        <p:nvSpPr>
          <p:cNvPr id="11" name="Text 8"/>
          <p:cNvSpPr/>
          <p:nvPr/>
        </p:nvSpPr>
        <p:spPr>
          <a:xfrm>
            <a:off x="1527048" y="2304288"/>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Technology Is Not Morally Neutral</a:t>
            </a:r>
            <a:endParaRPr lang="en-US" sz="1300" dirty="0"/>
          </a:p>
        </p:txBody>
      </p:sp>
      <p:sp>
        <p:nvSpPr>
          <p:cNvPr id="12" name="Shape 9"/>
          <p:cNvSpPr/>
          <p:nvPr/>
        </p:nvSpPr>
        <p:spPr>
          <a:xfrm>
            <a:off x="868680" y="2916936"/>
            <a:ext cx="457200" cy="457200"/>
          </a:xfrm>
          <a:prstGeom prst="ellipse">
            <a:avLst/>
          </a:prstGeom>
          <a:solidFill>
            <a:srgbClr val="B85042"/>
          </a:solidFill>
          <a:ln/>
        </p:spPr>
      </p:sp>
      <p:sp>
        <p:nvSpPr>
          <p:cNvPr id="13" name="Text 10"/>
          <p:cNvSpPr/>
          <p:nvPr/>
        </p:nvSpPr>
        <p:spPr>
          <a:xfrm>
            <a:off x="868680" y="2916936"/>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3</a:t>
            </a:r>
            <a:endParaRPr lang="en-US" sz="1400" dirty="0"/>
          </a:p>
        </p:txBody>
      </p:sp>
      <p:sp>
        <p:nvSpPr>
          <p:cNvPr id="14" name="Text 11"/>
          <p:cNvSpPr/>
          <p:nvPr/>
        </p:nvSpPr>
        <p:spPr>
          <a:xfrm>
            <a:off x="1527048" y="2871216"/>
            <a:ext cx="4937760" cy="548640"/>
          </a:xfrm>
          <a:prstGeom prst="rect">
            <a:avLst/>
          </a:prstGeom>
          <a:noFill/>
          <a:ln/>
        </p:spPr>
        <p:txBody>
          <a:bodyPr wrap="square" rtlCol="0" anchor="ctr"/>
          <a:lstStyle/>
          <a:p>
            <a:pPr indent="0" marL="0">
              <a:buNone/>
            </a:pPr>
            <a:r>
              <a:rPr lang="en-US" sz="1200" b="1" dirty="0">
                <a:solidFill>
                  <a:srgbClr val="37352E"/>
                </a:solidFill>
                <a:latin typeface="Calibri" pitchFamily="34" charset="0"/>
                <a:ea typeface="Calibri" pitchFamily="34" charset="-122"/>
                <a:cs typeface="Calibri" pitchFamily="34" charset="-120"/>
              </a:rPr>
              <a:t>The Foundation: Human Beings Bear God's Image</a:t>
            </a:r>
            <a:endParaRPr lang="en-US" sz="1200" dirty="0"/>
          </a:p>
        </p:txBody>
      </p:sp>
      <p:sp>
        <p:nvSpPr>
          <p:cNvPr id="15" name="Shape 12"/>
          <p:cNvSpPr/>
          <p:nvPr/>
        </p:nvSpPr>
        <p:spPr>
          <a:xfrm>
            <a:off x="868680" y="3483864"/>
            <a:ext cx="457200" cy="457200"/>
          </a:xfrm>
          <a:prstGeom prst="ellipse">
            <a:avLst/>
          </a:prstGeom>
          <a:solidFill>
            <a:srgbClr val="B85042"/>
          </a:solidFill>
          <a:ln/>
        </p:spPr>
      </p:sp>
      <p:sp>
        <p:nvSpPr>
          <p:cNvPr id="16" name="Text 13"/>
          <p:cNvSpPr/>
          <p:nvPr/>
        </p:nvSpPr>
        <p:spPr>
          <a:xfrm>
            <a:off x="868680" y="3483864"/>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4</a:t>
            </a:r>
            <a:endParaRPr lang="en-US" sz="1400" dirty="0"/>
          </a:p>
        </p:txBody>
      </p:sp>
      <p:sp>
        <p:nvSpPr>
          <p:cNvPr id="17" name="Text 14"/>
          <p:cNvSpPr/>
          <p:nvPr/>
        </p:nvSpPr>
        <p:spPr>
          <a:xfrm>
            <a:off x="1527048" y="3438144"/>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Intelligence Is Not Personhood</a:t>
            </a:r>
            <a:endParaRPr lang="en-US" sz="1300" dirty="0"/>
          </a:p>
        </p:txBody>
      </p:sp>
      <p:sp>
        <p:nvSpPr>
          <p:cNvPr id="18" name="Shape 15"/>
          <p:cNvSpPr/>
          <p:nvPr/>
        </p:nvSpPr>
        <p:spPr>
          <a:xfrm>
            <a:off x="868680" y="4050792"/>
            <a:ext cx="457200" cy="457200"/>
          </a:xfrm>
          <a:prstGeom prst="ellipse">
            <a:avLst/>
          </a:prstGeom>
          <a:solidFill>
            <a:srgbClr val="B85042"/>
          </a:solidFill>
          <a:ln/>
        </p:spPr>
      </p:sp>
      <p:sp>
        <p:nvSpPr>
          <p:cNvPr id="19" name="Text 16"/>
          <p:cNvSpPr/>
          <p:nvPr/>
        </p:nvSpPr>
        <p:spPr>
          <a:xfrm>
            <a:off x="868680" y="4050792"/>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5</a:t>
            </a:r>
            <a:endParaRPr lang="en-US" sz="1400" dirty="0"/>
          </a:p>
        </p:txBody>
      </p:sp>
      <p:sp>
        <p:nvSpPr>
          <p:cNvPr id="20" name="Text 17"/>
          <p:cNvSpPr/>
          <p:nvPr/>
        </p:nvSpPr>
        <p:spPr>
          <a:xfrm>
            <a:off x="1527048" y="4005072"/>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The Danger of Technological Idolatry</a:t>
            </a:r>
            <a:endParaRPr lang="en-US" sz="1300" dirty="0"/>
          </a:p>
        </p:txBody>
      </p:sp>
      <p:sp>
        <p:nvSpPr>
          <p:cNvPr id="21" name="Shape 18"/>
          <p:cNvSpPr/>
          <p:nvPr/>
        </p:nvSpPr>
        <p:spPr>
          <a:xfrm>
            <a:off x="868680" y="4617720"/>
            <a:ext cx="457200" cy="457200"/>
          </a:xfrm>
          <a:prstGeom prst="ellipse">
            <a:avLst/>
          </a:prstGeom>
          <a:solidFill>
            <a:srgbClr val="B85042"/>
          </a:solidFill>
          <a:ln/>
        </p:spPr>
      </p:sp>
      <p:sp>
        <p:nvSpPr>
          <p:cNvPr id="22" name="Text 19"/>
          <p:cNvSpPr/>
          <p:nvPr/>
        </p:nvSpPr>
        <p:spPr>
          <a:xfrm>
            <a:off x="868680" y="4617720"/>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6</a:t>
            </a:r>
            <a:endParaRPr lang="en-US" sz="1400" dirty="0"/>
          </a:p>
        </p:txBody>
      </p:sp>
      <p:sp>
        <p:nvSpPr>
          <p:cNvPr id="23" name="Text 20"/>
          <p:cNvSpPr/>
          <p:nvPr/>
        </p:nvSpPr>
        <p:spPr>
          <a:xfrm>
            <a:off x="1527048" y="4572000"/>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Truth Matters More Than Ever</a:t>
            </a:r>
            <a:endParaRPr lang="en-US" sz="1300" dirty="0"/>
          </a:p>
        </p:txBody>
      </p:sp>
      <p:sp>
        <p:nvSpPr>
          <p:cNvPr id="24" name="Shape 21"/>
          <p:cNvSpPr/>
          <p:nvPr/>
        </p:nvSpPr>
        <p:spPr>
          <a:xfrm>
            <a:off x="868680" y="5184648"/>
            <a:ext cx="457200" cy="457200"/>
          </a:xfrm>
          <a:prstGeom prst="ellipse">
            <a:avLst/>
          </a:prstGeom>
          <a:solidFill>
            <a:srgbClr val="B85042"/>
          </a:solidFill>
          <a:ln/>
        </p:spPr>
      </p:sp>
      <p:sp>
        <p:nvSpPr>
          <p:cNvPr id="25" name="Text 22"/>
          <p:cNvSpPr/>
          <p:nvPr/>
        </p:nvSpPr>
        <p:spPr>
          <a:xfrm>
            <a:off x="868680" y="5184648"/>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7</a:t>
            </a:r>
            <a:endParaRPr lang="en-US" sz="1400" dirty="0"/>
          </a:p>
        </p:txBody>
      </p:sp>
      <p:sp>
        <p:nvSpPr>
          <p:cNvPr id="26" name="Text 23"/>
          <p:cNvSpPr/>
          <p:nvPr/>
        </p:nvSpPr>
        <p:spPr>
          <a:xfrm>
            <a:off x="1527048" y="5138928"/>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The Ethics of AI-Generated Content</a:t>
            </a:r>
            <a:endParaRPr lang="en-US" sz="1300" dirty="0"/>
          </a:p>
        </p:txBody>
      </p:sp>
      <p:sp>
        <p:nvSpPr>
          <p:cNvPr id="27" name="Shape 24"/>
          <p:cNvSpPr/>
          <p:nvPr/>
        </p:nvSpPr>
        <p:spPr>
          <a:xfrm>
            <a:off x="868680" y="5751576"/>
            <a:ext cx="457200" cy="457200"/>
          </a:xfrm>
          <a:prstGeom prst="ellipse">
            <a:avLst/>
          </a:prstGeom>
          <a:solidFill>
            <a:srgbClr val="B85042"/>
          </a:solidFill>
          <a:ln/>
        </p:spPr>
      </p:sp>
      <p:sp>
        <p:nvSpPr>
          <p:cNvPr id="28" name="Text 25"/>
          <p:cNvSpPr/>
          <p:nvPr/>
        </p:nvSpPr>
        <p:spPr>
          <a:xfrm>
            <a:off x="868680" y="5751576"/>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8</a:t>
            </a:r>
            <a:endParaRPr lang="en-US" sz="1400" dirty="0"/>
          </a:p>
        </p:txBody>
      </p:sp>
      <p:sp>
        <p:nvSpPr>
          <p:cNvPr id="29" name="Text 26"/>
          <p:cNvSpPr/>
          <p:nvPr/>
        </p:nvSpPr>
        <p:spPr>
          <a:xfrm>
            <a:off x="1527048" y="5705856"/>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Privacy and Human Dignity</a:t>
            </a:r>
            <a:endParaRPr lang="en-US" sz="1300" dirty="0"/>
          </a:p>
        </p:txBody>
      </p:sp>
      <p:sp>
        <p:nvSpPr>
          <p:cNvPr id="30" name="Shape 27"/>
          <p:cNvSpPr/>
          <p:nvPr/>
        </p:nvSpPr>
        <p:spPr>
          <a:xfrm>
            <a:off x="868680" y="6318504"/>
            <a:ext cx="457200" cy="457200"/>
          </a:xfrm>
          <a:prstGeom prst="ellipse">
            <a:avLst/>
          </a:prstGeom>
          <a:solidFill>
            <a:srgbClr val="B85042"/>
          </a:solidFill>
          <a:ln/>
        </p:spPr>
      </p:sp>
      <p:sp>
        <p:nvSpPr>
          <p:cNvPr id="31" name="Text 28"/>
          <p:cNvSpPr/>
          <p:nvPr/>
        </p:nvSpPr>
        <p:spPr>
          <a:xfrm>
            <a:off x="868680" y="6318504"/>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9</a:t>
            </a:r>
            <a:endParaRPr lang="en-US" sz="1400" dirty="0"/>
          </a:p>
        </p:txBody>
      </p:sp>
      <p:sp>
        <p:nvSpPr>
          <p:cNvPr id="32" name="Text 29"/>
          <p:cNvSpPr/>
          <p:nvPr/>
        </p:nvSpPr>
        <p:spPr>
          <a:xfrm>
            <a:off x="1527048" y="6272784"/>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Bias and Fairness</a:t>
            </a:r>
            <a:endParaRPr lang="en-US" sz="1300" dirty="0"/>
          </a:p>
        </p:txBody>
      </p:sp>
      <p:sp>
        <p:nvSpPr>
          <p:cNvPr id="33" name="Shape 30"/>
          <p:cNvSpPr/>
          <p:nvPr/>
        </p:nvSpPr>
        <p:spPr>
          <a:xfrm>
            <a:off x="6355080" y="1783080"/>
            <a:ext cx="457200" cy="457200"/>
          </a:xfrm>
          <a:prstGeom prst="ellipse">
            <a:avLst/>
          </a:prstGeom>
          <a:solidFill>
            <a:srgbClr val="B85042"/>
          </a:solidFill>
          <a:ln/>
        </p:spPr>
      </p:sp>
      <p:sp>
        <p:nvSpPr>
          <p:cNvPr id="34" name="Text 31"/>
          <p:cNvSpPr/>
          <p:nvPr/>
        </p:nvSpPr>
        <p:spPr>
          <a:xfrm>
            <a:off x="6355080" y="1783080"/>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10</a:t>
            </a:r>
            <a:endParaRPr lang="en-US" sz="1400" dirty="0"/>
          </a:p>
        </p:txBody>
      </p:sp>
      <p:sp>
        <p:nvSpPr>
          <p:cNvPr id="35" name="Text 32"/>
          <p:cNvSpPr/>
          <p:nvPr/>
        </p:nvSpPr>
        <p:spPr>
          <a:xfrm>
            <a:off x="7013448" y="1737360"/>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Accountability Cannot Be Automated</a:t>
            </a:r>
            <a:endParaRPr lang="en-US" sz="1300" dirty="0"/>
          </a:p>
        </p:txBody>
      </p:sp>
      <p:sp>
        <p:nvSpPr>
          <p:cNvPr id="36" name="Shape 33"/>
          <p:cNvSpPr/>
          <p:nvPr/>
        </p:nvSpPr>
        <p:spPr>
          <a:xfrm>
            <a:off x="6355080" y="2350008"/>
            <a:ext cx="457200" cy="457200"/>
          </a:xfrm>
          <a:prstGeom prst="ellipse">
            <a:avLst/>
          </a:prstGeom>
          <a:solidFill>
            <a:srgbClr val="B85042"/>
          </a:solidFill>
          <a:ln/>
        </p:spPr>
      </p:sp>
      <p:sp>
        <p:nvSpPr>
          <p:cNvPr id="37" name="Text 34"/>
          <p:cNvSpPr/>
          <p:nvPr/>
        </p:nvSpPr>
        <p:spPr>
          <a:xfrm>
            <a:off x="6355080" y="2350008"/>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11</a:t>
            </a:r>
            <a:endParaRPr lang="en-US" sz="1400" dirty="0"/>
          </a:p>
        </p:txBody>
      </p:sp>
      <p:sp>
        <p:nvSpPr>
          <p:cNvPr id="38" name="Text 35"/>
          <p:cNvSpPr/>
          <p:nvPr/>
        </p:nvSpPr>
        <p:spPr>
          <a:xfrm>
            <a:off x="7013448" y="2304288"/>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AI and Work</a:t>
            </a:r>
            <a:endParaRPr lang="en-US" sz="1300" dirty="0"/>
          </a:p>
        </p:txBody>
      </p:sp>
      <p:sp>
        <p:nvSpPr>
          <p:cNvPr id="39" name="Shape 36"/>
          <p:cNvSpPr/>
          <p:nvPr/>
        </p:nvSpPr>
        <p:spPr>
          <a:xfrm>
            <a:off x="6355080" y="2916936"/>
            <a:ext cx="457200" cy="457200"/>
          </a:xfrm>
          <a:prstGeom prst="ellipse">
            <a:avLst/>
          </a:prstGeom>
          <a:solidFill>
            <a:srgbClr val="B85042"/>
          </a:solidFill>
          <a:ln/>
        </p:spPr>
      </p:sp>
      <p:sp>
        <p:nvSpPr>
          <p:cNvPr id="40" name="Text 37"/>
          <p:cNvSpPr/>
          <p:nvPr/>
        </p:nvSpPr>
        <p:spPr>
          <a:xfrm>
            <a:off x="6355080" y="2916936"/>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12</a:t>
            </a:r>
            <a:endParaRPr lang="en-US" sz="1400" dirty="0"/>
          </a:p>
        </p:txBody>
      </p:sp>
      <p:sp>
        <p:nvSpPr>
          <p:cNvPr id="41" name="Text 38"/>
          <p:cNvSpPr/>
          <p:nvPr/>
        </p:nvSpPr>
        <p:spPr>
          <a:xfrm>
            <a:off x="7013448" y="2871216"/>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AI in Ministry</a:t>
            </a:r>
            <a:endParaRPr lang="en-US" sz="1300" dirty="0"/>
          </a:p>
        </p:txBody>
      </p:sp>
      <p:sp>
        <p:nvSpPr>
          <p:cNvPr id="42" name="Shape 39"/>
          <p:cNvSpPr/>
          <p:nvPr/>
        </p:nvSpPr>
        <p:spPr>
          <a:xfrm>
            <a:off x="6355080" y="3483864"/>
            <a:ext cx="457200" cy="457200"/>
          </a:xfrm>
          <a:prstGeom prst="ellipse">
            <a:avLst/>
          </a:prstGeom>
          <a:solidFill>
            <a:srgbClr val="B85042"/>
          </a:solidFill>
          <a:ln/>
        </p:spPr>
      </p:sp>
      <p:sp>
        <p:nvSpPr>
          <p:cNvPr id="43" name="Text 40"/>
          <p:cNvSpPr/>
          <p:nvPr/>
        </p:nvSpPr>
        <p:spPr>
          <a:xfrm>
            <a:off x="6355080" y="3483864"/>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13</a:t>
            </a:r>
            <a:endParaRPr lang="en-US" sz="1400" dirty="0"/>
          </a:p>
        </p:txBody>
      </p:sp>
      <p:sp>
        <p:nvSpPr>
          <p:cNvPr id="44" name="Text 41"/>
          <p:cNvSpPr/>
          <p:nvPr/>
        </p:nvSpPr>
        <p:spPr>
          <a:xfrm>
            <a:off x="7013448" y="3438144"/>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The Virtue of Humility</a:t>
            </a:r>
            <a:endParaRPr lang="en-US" sz="1300" dirty="0"/>
          </a:p>
        </p:txBody>
      </p:sp>
      <p:sp>
        <p:nvSpPr>
          <p:cNvPr id="45" name="Shape 42"/>
          <p:cNvSpPr/>
          <p:nvPr/>
        </p:nvSpPr>
        <p:spPr>
          <a:xfrm>
            <a:off x="6355080" y="4050792"/>
            <a:ext cx="457200" cy="457200"/>
          </a:xfrm>
          <a:prstGeom prst="ellipse">
            <a:avLst/>
          </a:prstGeom>
          <a:solidFill>
            <a:srgbClr val="B85042"/>
          </a:solidFill>
          <a:ln/>
        </p:spPr>
      </p:sp>
      <p:sp>
        <p:nvSpPr>
          <p:cNvPr id="46" name="Text 43"/>
          <p:cNvSpPr/>
          <p:nvPr/>
        </p:nvSpPr>
        <p:spPr>
          <a:xfrm>
            <a:off x="6355080" y="4050792"/>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14</a:t>
            </a:r>
            <a:endParaRPr lang="en-US" sz="1400" dirty="0"/>
          </a:p>
        </p:txBody>
      </p:sp>
      <p:sp>
        <p:nvSpPr>
          <p:cNvPr id="47" name="Text 44"/>
          <p:cNvSpPr/>
          <p:nvPr/>
        </p:nvSpPr>
        <p:spPr>
          <a:xfrm>
            <a:off x="7013448" y="4005072"/>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Questions Every Christian Should Ask</a:t>
            </a:r>
            <a:endParaRPr lang="en-US" sz="1300" dirty="0"/>
          </a:p>
        </p:txBody>
      </p:sp>
      <p:sp>
        <p:nvSpPr>
          <p:cNvPr id="48" name="Shape 45"/>
          <p:cNvSpPr/>
          <p:nvPr/>
        </p:nvSpPr>
        <p:spPr>
          <a:xfrm>
            <a:off x="6355080" y="4617720"/>
            <a:ext cx="457200" cy="457200"/>
          </a:xfrm>
          <a:prstGeom prst="ellipse">
            <a:avLst/>
          </a:prstGeom>
          <a:solidFill>
            <a:srgbClr val="B85042"/>
          </a:solidFill>
          <a:ln/>
        </p:spPr>
      </p:sp>
      <p:sp>
        <p:nvSpPr>
          <p:cNvPr id="49" name="Text 46"/>
          <p:cNvSpPr/>
          <p:nvPr/>
        </p:nvSpPr>
        <p:spPr>
          <a:xfrm>
            <a:off x="6355080" y="4617720"/>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15</a:t>
            </a:r>
            <a:endParaRPr lang="en-US" sz="1400" dirty="0"/>
          </a:p>
        </p:txBody>
      </p:sp>
      <p:sp>
        <p:nvSpPr>
          <p:cNvPr id="50" name="Text 47"/>
          <p:cNvSpPr/>
          <p:nvPr/>
        </p:nvSpPr>
        <p:spPr>
          <a:xfrm>
            <a:off x="7013448" y="4572000"/>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A Framework for Ethical AI</a:t>
            </a:r>
            <a:endParaRPr lang="en-US" sz="1300" dirty="0"/>
          </a:p>
        </p:txBody>
      </p:sp>
      <p:sp>
        <p:nvSpPr>
          <p:cNvPr id="51" name="Shape 48"/>
          <p:cNvSpPr/>
          <p:nvPr/>
        </p:nvSpPr>
        <p:spPr>
          <a:xfrm>
            <a:off x="6355080" y="5184648"/>
            <a:ext cx="457200" cy="457200"/>
          </a:xfrm>
          <a:prstGeom prst="ellipse">
            <a:avLst/>
          </a:prstGeom>
          <a:solidFill>
            <a:srgbClr val="B85042"/>
          </a:solidFill>
          <a:ln/>
        </p:spPr>
      </p:sp>
      <p:sp>
        <p:nvSpPr>
          <p:cNvPr id="52" name="Text 49"/>
          <p:cNvSpPr/>
          <p:nvPr/>
        </p:nvSpPr>
        <p:spPr>
          <a:xfrm>
            <a:off x="6355080" y="5184648"/>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16</a:t>
            </a:r>
            <a:endParaRPr lang="en-US" sz="1400" dirty="0"/>
          </a:p>
        </p:txBody>
      </p:sp>
      <p:sp>
        <p:nvSpPr>
          <p:cNvPr id="53" name="Text 50"/>
          <p:cNvSpPr/>
          <p:nvPr/>
        </p:nvSpPr>
        <p:spPr>
          <a:xfrm>
            <a:off x="7013448" y="5138928"/>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Prayer for Wisdom in the Age of AI</a:t>
            </a:r>
            <a:endParaRPr lang="en-US" sz="1300" dirty="0"/>
          </a:p>
        </p:txBody>
      </p:sp>
      <p:sp>
        <p:nvSpPr>
          <p:cNvPr id="54" name="Shape 51"/>
          <p:cNvSpPr/>
          <p:nvPr/>
        </p:nvSpPr>
        <p:spPr>
          <a:xfrm>
            <a:off x="6355080" y="5751576"/>
            <a:ext cx="457200" cy="457200"/>
          </a:xfrm>
          <a:prstGeom prst="ellipse">
            <a:avLst/>
          </a:prstGeom>
          <a:solidFill>
            <a:srgbClr val="B85042"/>
          </a:solidFill>
          <a:ln/>
        </p:spPr>
      </p:sp>
      <p:sp>
        <p:nvSpPr>
          <p:cNvPr id="55" name="Text 52"/>
          <p:cNvSpPr/>
          <p:nvPr/>
        </p:nvSpPr>
        <p:spPr>
          <a:xfrm>
            <a:off x="6355080" y="5751576"/>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17</a:t>
            </a:r>
            <a:endParaRPr lang="en-US" sz="1400" dirty="0"/>
          </a:p>
        </p:txBody>
      </p:sp>
      <p:sp>
        <p:nvSpPr>
          <p:cNvPr id="56" name="Text 53"/>
          <p:cNvSpPr/>
          <p:nvPr/>
        </p:nvSpPr>
        <p:spPr>
          <a:xfrm>
            <a:off x="7013448" y="5705856"/>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Final Reflection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01 / 17</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Introduction</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300" dirty="0">
                <a:solidFill>
                  <a:srgbClr val="37352E"/>
                </a:solidFill>
                <a:latin typeface="Bookman Old Style" pitchFamily="34" charset="0"/>
                <a:ea typeface="Bookman Old Style" pitchFamily="34" charset="-122"/>
                <a:cs typeface="Bookman Old Style" pitchFamily="34" charset="-120"/>
              </a:rPr>
              <a:t>AI is transforming business, healthcare, ministry, and daily life. That power makes clear ethical thinking urgent, not optional.</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K</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02 / 17</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000" b="1" dirty="0">
                <a:solidFill>
                  <a:srgbClr val="3E4A33"/>
                </a:solidFill>
                <a:latin typeface="Bookman Old Style" pitchFamily="34" charset="0"/>
                <a:ea typeface="Bookman Old Style" pitchFamily="34" charset="-122"/>
                <a:cs typeface="Bookman Old Style" pitchFamily="34" charset="-120"/>
              </a:rPr>
              <a:t>Technology Is Not Morally Neutral</a:t>
            </a:r>
            <a:endParaRPr lang="en-US" sz="30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300" dirty="0">
                <a:solidFill>
                  <a:srgbClr val="37352E"/>
                </a:solidFill>
                <a:latin typeface="Bookman Old Style" pitchFamily="34" charset="0"/>
                <a:ea typeface="Bookman Old Style" pitchFamily="34" charset="-122"/>
                <a:cs typeface="Bookman Old Style" pitchFamily="34" charset="-120"/>
              </a:rPr>
              <a:t>A tool can serve good or evil, but tools are never fully neutral — they carry incentives, defaults, and effects worth weighing.</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K</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03 / 17</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000" b="1" dirty="0">
                <a:solidFill>
                  <a:srgbClr val="3E4A33"/>
                </a:solidFill>
                <a:latin typeface="Bookman Old Style" pitchFamily="34" charset="0"/>
                <a:ea typeface="Bookman Old Style" pitchFamily="34" charset="-122"/>
                <a:cs typeface="Bookman Old Style" pitchFamily="34" charset="-120"/>
              </a:rPr>
              <a:t>The Foundation: Human Beings Bear God's Image</a:t>
            </a:r>
            <a:endParaRPr lang="en-US" sz="30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Every AI ethics discussion must begin here: human beings bear God's image, and that fact anchors all human dignity.</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K</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04 / 17</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Intelligence Is Not Personhood</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A common error is equating intelligence with humanity. Scripture is clear — capability is not the same as personhood.</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K</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05 / 17</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000" b="1" dirty="0">
                <a:solidFill>
                  <a:srgbClr val="3E4A33"/>
                </a:solidFill>
                <a:latin typeface="Bookman Old Style" pitchFamily="34" charset="0"/>
                <a:ea typeface="Bookman Old Style" pitchFamily="34" charset="-122"/>
                <a:cs typeface="Bookman Old Style" pitchFamily="34" charset="-120"/>
              </a:rPr>
              <a:t>The Danger of Technological Idolatry</a:t>
            </a:r>
            <a:endParaRPr lang="en-US" sz="30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300" dirty="0">
                <a:solidFill>
                  <a:srgbClr val="37352E"/>
                </a:solidFill>
                <a:latin typeface="Bookman Old Style" pitchFamily="34" charset="0"/>
                <a:ea typeface="Bookman Old Style" pitchFamily="34" charset="-122"/>
                <a:cs typeface="Bookman Old Style" pitchFamily="34" charset="-120"/>
              </a:rPr>
              <a:t>Humanity keeps placing ultimate hope in the wrong things. Treating AI as our savior is the newest form of an old idolatry.</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K</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06 / 17</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Truth Matters More Than Ever</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300" dirty="0">
                <a:solidFill>
                  <a:srgbClr val="37352E"/>
                </a:solidFill>
                <a:latin typeface="Bookman Old Style" pitchFamily="34" charset="0"/>
                <a:ea typeface="Bookman Old Style" pitchFamily="34" charset="-122"/>
                <a:cs typeface="Bookman Old Style" pitchFamily="34" charset="-120"/>
              </a:rPr>
              <a:t>AI can generate content at extraordinary speed — including deepfakes and misinformation. A love of truth has never mattered more.</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K</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07 / 17</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000" b="1" dirty="0">
                <a:solidFill>
                  <a:srgbClr val="3E4A33"/>
                </a:solidFill>
                <a:latin typeface="Bookman Old Style" pitchFamily="34" charset="0"/>
                <a:ea typeface="Bookman Old Style" pitchFamily="34" charset="-122"/>
                <a:cs typeface="Bookman Old Style" pitchFamily="34" charset="-120"/>
              </a:rPr>
              <a:t>The Ethics of AI-Generated Content</a:t>
            </a:r>
            <a:endParaRPr lang="en-US" sz="30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300" dirty="0">
                <a:solidFill>
                  <a:srgbClr val="37352E"/>
                </a:solidFill>
                <a:latin typeface="Bookman Old Style" pitchFamily="34" charset="0"/>
                <a:ea typeface="Bookman Old Style" pitchFamily="34" charset="-122"/>
                <a:cs typeface="Bookman Old Style" pitchFamily="34" charset="-120"/>
              </a:rPr>
              <a:t>AI can assist writing, coding, and design without wrongdoing. But integrity matters — honesty about what is machine-made.</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K</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08 / 17</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Privacy and Human Dignity</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AI depends on vast data, raising sharp questions: what is collected, how is it used, and does it honor human dignity?</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K</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09 / 17</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Bias and Fairness</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AI learns from human data and so inherits human flaws. Bias enters through data and design — and must be watched for.</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K</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10 / 17</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000" b="1" dirty="0">
                <a:solidFill>
                  <a:srgbClr val="3E4A33"/>
                </a:solidFill>
                <a:latin typeface="Bookman Old Style" pitchFamily="34" charset="0"/>
                <a:ea typeface="Bookman Old Style" pitchFamily="34" charset="-122"/>
                <a:cs typeface="Bookman Old Style" pitchFamily="34" charset="-120"/>
              </a:rPr>
              <a:t>Accountability Cannot Be Automated</a:t>
            </a:r>
            <a:endParaRPr lang="en-US" sz="30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Machines can decide, but responsibility cannot be handed off. Someone must remain accountable for the outcomes.</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K</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11 / 17</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AI and Work</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300" dirty="0">
                <a:solidFill>
                  <a:srgbClr val="37352E"/>
                </a:solidFill>
                <a:latin typeface="Bookman Old Style" pitchFamily="34" charset="0"/>
                <a:ea typeface="Bookman Old Style" pitchFamily="34" charset="-122"/>
                <a:cs typeface="Bookman Old Style" pitchFamily="34" charset="-120"/>
              </a:rPr>
              <a:t>AI will reshape labor, as technology always has. The Christian response cares for displaced workers, not just for efficiency.</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K</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12 / 17</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AI in Ministry</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AI can support ministry — research, outlines, translation, administration — as an assistant, never as the shepherd.</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K</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13 / 17</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The Virtue of Humility</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300" dirty="0">
                <a:solidFill>
                  <a:srgbClr val="37352E"/>
                </a:solidFill>
                <a:latin typeface="Bookman Old Style" pitchFamily="34" charset="0"/>
                <a:ea typeface="Bookman Old Style" pitchFamily="34" charset="-122"/>
                <a:cs typeface="Bookman Old Style" pitchFamily="34" charset="-120"/>
              </a:rPr>
              <a:t>We overestimate our understanding and control, and technology amplifies it. Humility is essential ethical equipment for the AI era.</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K</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14 / 17</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000" b="1" dirty="0">
                <a:solidFill>
                  <a:srgbClr val="3E4A33"/>
                </a:solidFill>
                <a:latin typeface="Bookman Old Style" pitchFamily="34" charset="0"/>
                <a:ea typeface="Bookman Old Style" pitchFamily="34" charset="-122"/>
                <a:cs typeface="Bookman Old Style" pitchFamily="34" charset="-120"/>
              </a:rPr>
              <a:t>Questions Every Christian Should Ask</a:t>
            </a:r>
            <a:endParaRPr lang="en-US" sz="30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Before building or deploying AI, ask: does it respect dignity, promote truth, encourage wisdom, and serve people?</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K</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15 / 17</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A Framework for Ethical AI</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300" dirty="0">
                <a:solidFill>
                  <a:srgbClr val="37352E"/>
                </a:solidFill>
                <a:latin typeface="Bookman Old Style" pitchFamily="34" charset="0"/>
                <a:ea typeface="Bookman Old Style" pitchFamily="34" charset="-122"/>
                <a:cs typeface="Bookman Old Style" pitchFamily="34" charset="-120"/>
              </a:rPr>
              <a:t>Human dignity over efficiency, truth over convenience, wisdom over innovation, accountability over automation, Christ over technology.</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K</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B85042"/>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B85042"/>
          </a:solidFill>
          <a:ln/>
        </p:spPr>
      </p:sp>
      <p:sp>
        <p:nvSpPr>
          <p:cNvPr id="3" name="Shape 1"/>
          <p:cNvSpPr/>
          <p:nvPr/>
        </p:nvSpPr>
        <p:spPr>
          <a:xfrm>
            <a:off x="5486400" y="640080"/>
            <a:ext cx="1188720" cy="1188720"/>
          </a:xfrm>
          <a:prstGeom prst="ellipse">
            <a:avLst/>
          </a:prstGeom>
          <a:solidFill>
            <a:srgbClr val="96392E"/>
          </a:solidFill>
          <a:ln w="15875">
            <a:solidFill>
              <a:srgbClr val="C9A15A"/>
            </a:solidFill>
            <a:prstDash val="solid"/>
          </a:ln>
        </p:spPr>
      </p:sp>
      <p:pic>
        <p:nvPicPr>
          <p:cNvPr id="4" name="Image 0" descr="preencoded.png">    </p:cNvPr>
          <p:cNvPicPr>
            <a:picLocks noChangeAspect="1"/>
          </p:cNvPicPr>
          <p:nvPr/>
        </p:nvPicPr>
        <p:blipFill>
          <a:blip r:embed="rId1"/>
          <a:stretch>
            <a:fillRect/>
          </a:stretch>
        </p:blipFill>
        <p:spPr>
          <a:xfrm>
            <a:off x="5788152" y="941832"/>
            <a:ext cx="585216" cy="585216"/>
          </a:xfrm>
          <a:prstGeom prst="rect">
            <a:avLst/>
          </a:prstGeom>
        </p:spPr>
      </p:pic>
      <p:sp>
        <p:nvSpPr>
          <p:cNvPr id="5" name="Text 2"/>
          <p:cNvSpPr/>
          <p:nvPr/>
        </p:nvSpPr>
        <p:spPr>
          <a:xfrm>
            <a:off x="0" y="1965960"/>
            <a:ext cx="12161520" cy="457200"/>
          </a:xfrm>
          <a:prstGeom prst="rect">
            <a:avLst/>
          </a:prstGeom>
          <a:noFill/>
          <a:ln/>
        </p:spPr>
        <p:txBody>
          <a:bodyPr wrap="square" rtlCol="0" anchor="ctr"/>
          <a:lstStyle/>
          <a:p>
            <a:pPr algn="ctr" indent="0" marL="0">
              <a:buNone/>
            </a:pPr>
            <a:r>
              <a:rPr lang="en-US" sz="2400" b="1" spc="200" kern="0" dirty="0">
                <a:solidFill>
                  <a:srgbClr val="C9A15A"/>
                </a:solidFill>
                <a:latin typeface="Bookman Old Style" pitchFamily="34" charset="0"/>
                <a:ea typeface="Bookman Old Style" pitchFamily="34" charset="-122"/>
                <a:cs typeface="Bookman Old Style" pitchFamily="34" charset="-120"/>
              </a:rPr>
              <a:t>PRAYER FOR WISDOM IN THE AGE OF AI</a:t>
            </a:r>
            <a:endParaRPr lang="en-US" sz="2400" dirty="0"/>
          </a:p>
        </p:txBody>
      </p:sp>
      <p:sp>
        <p:nvSpPr>
          <p:cNvPr id="6" name="Shape 3"/>
          <p:cNvSpPr/>
          <p:nvPr/>
        </p:nvSpPr>
        <p:spPr>
          <a:xfrm>
            <a:off x="1554480" y="2697480"/>
            <a:ext cx="9052560" cy="3611880"/>
          </a:xfrm>
          <a:prstGeom prst="roundRect">
            <a:avLst>
              <a:gd name="adj" fmla="val 3544"/>
            </a:avLst>
          </a:prstGeom>
          <a:solidFill>
            <a:srgbClr val="96392E"/>
          </a:solidFill>
          <a:ln/>
        </p:spPr>
      </p:sp>
      <p:sp>
        <p:nvSpPr>
          <p:cNvPr id="7" name="Text 4"/>
          <p:cNvSpPr/>
          <p:nvPr/>
        </p:nvSpPr>
        <p:spPr>
          <a:xfrm>
            <a:off x="2057400" y="2926080"/>
            <a:ext cx="8046720" cy="3154680"/>
          </a:xfrm>
          <a:prstGeom prst="rect">
            <a:avLst/>
          </a:prstGeom>
          <a:noFill/>
          <a:ln/>
        </p:spPr>
        <p:txBody>
          <a:bodyPr wrap="square" rtlCol="0" anchor="ctr"/>
          <a:lstStyle/>
          <a:p>
            <a:pPr algn="ctr" indent="0" marL="0">
              <a:lnSpc>
                <a:spcPct val="112000"/>
              </a:lnSpc>
              <a:buNone/>
            </a:pPr>
            <a:r>
              <a:rPr lang="en-US" sz="2100" i="1" dirty="0">
                <a:solidFill>
                  <a:srgbClr val="FBF9F3"/>
                </a:solidFill>
                <a:latin typeface="Bookman Old Style" pitchFamily="34" charset="0"/>
                <a:ea typeface="Bookman Old Style" pitchFamily="34" charset="-122"/>
                <a:cs typeface="Bookman Old Style" pitchFamily="34" charset="-120"/>
              </a:rPr>
              <a:t>"Father, You are the source of all wisdom and truth. As technology advances, help me use it faithfully. Protect me from fear, pride, deception, and misplaced trust. Give me discernment to recognize both opportunities and dangers. Help me honor the dignity of every person, pursue truth courageously, and steward technology responsibly. May every tool I use ultimately serve Your purposes and bring glory to Your name. Through Jesus Christ our Lord, Amen."</a:t>
            </a:r>
            <a:endParaRPr lang="en-US" sz="2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17 / 17</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Final Reflection</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300" dirty="0">
                <a:solidFill>
                  <a:srgbClr val="37352E"/>
                </a:solidFill>
                <a:latin typeface="Bookman Old Style" pitchFamily="34" charset="0"/>
                <a:ea typeface="Bookman Old Style" pitchFamily="34" charset="-122"/>
                <a:cs typeface="Bookman Old Style" pitchFamily="34" charset="-120"/>
              </a:rPr>
              <a:t>AI may be humanity's most powerful technology, yet the central questions never change: will we love God, and love people?</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K</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3E4A33"/>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3E4A33"/>
          </a:solidFill>
          <a:ln/>
        </p:spPr>
      </p:sp>
      <p:pic>
        <p:nvPicPr>
          <p:cNvPr id="3" name="Image 0" descr="preencoded.png">    </p:cNvPr>
          <p:cNvPicPr>
            <a:picLocks noChangeAspect="1"/>
          </p:cNvPicPr>
          <p:nvPr/>
        </p:nvPicPr>
        <p:blipFill>
          <a:blip r:embed="rId1"/>
          <a:stretch>
            <a:fillRect/>
          </a:stretch>
        </p:blipFill>
        <p:spPr>
          <a:xfrm>
            <a:off x="5486400" y="1828800"/>
            <a:ext cx="1188720" cy="1188720"/>
          </a:xfrm>
          <a:prstGeom prst="rect">
            <a:avLst/>
          </a:prstGeom>
        </p:spPr>
      </p:pic>
      <p:sp>
        <p:nvSpPr>
          <p:cNvPr id="4" name="Text 1"/>
          <p:cNvSpPr/>
          <p:nvPr/>
        </p:nvSpPr>
        <p:spPr>
          <a:xfrm>
            <a:off x="0" y="3200400"/>
            <a:ext cx="12161520" cy="457200"/>
          </a:xfrm>
          <a:prstGeom prst="rect">
            <a:avLst/>
          </a:prstGeom>
          <a:noFill/>
          <a:ln/>
        </p:spPr>
        <p:txBody>
          <a:bodyPr wrap="square" rtlCol="0" anchor="ctr"/>
          <a:lstStyle/>
          <a:p>
            <a:pPr algn="ctr" indent="0" marL="0">
              <a:buNone/>
            </a:pPr>
            <a:r>
              <a:rPr lang="en-US" sz="1600" b="1" spc="200" kern="0" dirty="0">
                <a:solidFill>
                  <a:srgbClr val="C9A15A"/>
                </a:solidFill>
                <a:latin typeface="Calibri" pitchFamily="34" charset="0"/>
                <a:ea typeface="Calibri" pitchFamily="34" charset="-122"/>
                <a:cs typeface="Calibri" pitchFamily="34" charset="-120"/>
              </a:rPr>
              <a:t>Appendix K</a:t>
            </a:r>
            <a:endParaRPr lang="en-US" sz="1600" dirty="0"/>
          </a:p>
        </p:txBody>
      </p:sp>
      <p:sp>
        <p:nvSpPr>
          <p:cNvPr id="5" name="Text 2"/>
          <p:cNvSpPr/>
          <p:nvPr/>
        </p:nvSpPr>
        <p:spPr>
          <a:xfrm>
            <a:off x="914400" y="3611880"/>
            <a:ext cx="10332720" cy="1097280"/>
          </a:xfrm>
          <a:prstGeom prst="rect">
            <a:avLst/>
          </a:prstGeom>
          <a:noFill/>
          <a:ln/>
        </p:spPr>
        <p:txBody>
          <a:bodyPr wrap="square" rtlCol="0" anchor="t"/>
          <a:lstStyle/>
          <a:p>
            <a:pPr algn="ctr" indent="0" marL="0">
              <a:lnSpc>
                <a:spcPct val="98000"/>
              </a:lnSpc>
              <a:buNone/>
            </a:pPr>
            <a:r>
              <a:rPr lang="en-US" sz="3800" b="1" dirty="0">
                <a:solidFill>
                  <a:srgbClr val="FBF9F3"/>
                </a:solidFill>
                <a:latin typeface="Bookman Old Style" pitchFamily="34" charset="0"/>
                <a:ea typeface="Bookman Old Style" pitchFamily="34" charset="-122"/>
                <a:cs typeface="Bookman Old Style" pitchFamily="34" charset="-120"/>
              </a:rPr>
              <a:t>AI Ethics Through a Biblical Lens</a:t>
            </a:r>
            <a:endParaRPr lang="en-US" sz="3800" dirty="0"/>
          </a:p>
        </p:txBody>
      </p:sp>
      <p:sp>
        <p:nvSpPr>
          <p:cNvPr id="6" name="Text 3"/>
          <p:cNvSpPr/>
          <p:nvPr/>
        </p:nvSpPr>
        <p:spPr>
          <a:xfrm>
            <a:off x="1371600" y="5074920"/>
            <a:ext cx="9418320" cy="822960"/>
          </a:xfrm>
          <a:prstGeom prst="rect">
            <a:avLst/>
          </a:prstGeom>
          <a:noFill/>
          <a:ln/>
        </p:spPr>
        <p:txBody>
          <a:bodyPr wrap="square" rtlCol="0" anchor="ctr"/>
          <a:lstStyle/>
          <a:p>
            <a:pPr algn="ctr" indent="0" marL="0">
              <a:buNone/>
            </a:pPr>
            <a:r>
              <a:rPr lang="en-US" sz="1700" i="1" dirty="0">
                <a:solidFill>
                  <a:srgbClr val="E7E8D1"/>
                </a:solidFill>
                <a:latin typeface="Bookman Old Style" pitchFamily="34" charset="0"/>
                <a:ea typeface="Bookman Old Style" pitchFamily="34" charset="-122"/>
                <a:cs typeface="Bookman Old Style" pitchFamily="34" charset="-120"/>
              </a:rPr>
              <a:t>Technology will keep changing.  The wisdom to navigate it faithfully will not.</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Divine Design — Appendix K</dc:title>
  <dc:subject>PptxGenJS Presentation</dc:subject>
  <dc:creator>Rod Trent</dc:creator>
  <cp:lastModifiedBy>Rod Trent</cp:lastModifiedBy>
  <cp:revision>1</cp:revision>
  <dcterms:created xsi:type="dcterms:W3CDTF">2026-07-03T18:29:11Z</dcterms:created>
  <dcterms:modified xsi:type="dcterms:W3CDTF">2026-07-03T18:29:11Z</dcterms:modified>
</cp:coreProperties>
</file>