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13: Hope Beyond the Machine. Open by welcoming the group and reading the key scripture, Psalm 20:7 (ESV), aloud together. Set the theme for this session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group a quick map of the session. You don't need to read every item — just show the arc from opening idea to reflection, prayer, and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passage slowly, perhaps twice. Ask: what stands out to you here? Let a few people respond before you begin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Promise of Every Generation. Every generation believes it stands at a threshold, a breakthrough about to arrive. That hope is real — but often misplaced.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Search for a Savior. We are drawn toward saviors — functional saviors, the things we secretly believe will finally fix what is broken.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New Tower Builders. Babel keeps repeating. The bricks change, but the impulse never does: to secure our own future and make our own name.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Limits of Intelligence. AI advances at remarkable speed, making the once-impossible routine. Yet intelligence, however vast, has limits it cannot cross.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Problem Technology Cannot Solve. Imagine every technological dream fulfilled — disease, poverty, and toil reduced. The deepest human problem would still remain.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Why Progress Is Not Enough. We assume progress is inevitable and always upward. But progress cannot repair the human heart or answer the question of death.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Groaning of Creation. Romans 8 describes creation groaning, longing for restoration — a world holding its breath for something it cannot yet see.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Christian View of the Future. Discussions swing between techno-optimism and techno-dread. The Christian view is neither naive nor fearful, but anchored in hope.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Unchanging Christ. 'Jesus Christ is the same yesterday and today and forever.' Everything else changes; He is the one fixed point.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Beyond Efficiency. Technology is obsessed with efficiency — faster, cheaper, more automated. But the things that matter most were never about speed.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New Creation. We expect God to patch and improve the broken world. Scripture promises something greater: a new creation, made whole.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Living Between Hope and Innovation. We live between two temptations — fearing advancement and idolizing it. Faith refuses both, holding innovation and hope together.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Hope That Cannot Be Upgraded. Every device becomes obsolete; every platform disappears. Our hope in Christ is the one thing that can never be upgraded.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two or three of these to discuss rather than rushing all of them. Leave silence after each — the best answers often come after a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teaching portion by praying this together, or invite someone to read it aloud. Feel free to add the group's own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everyone to commit to this challenge before the next session. You might ask people to share how it went when you gather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by restating the one idea you most want people to remember, then point ahead to the next chapter in the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B85042"/>
          </a:solidFill>
          <a:ln/>
        </p:spPr>
      </p:sp>
      <p:sp>
        <p:nvSpPr>
          <p:cNvPr id="3" name="Shape 1"/>
          <p:cNvSpPr/>
          <p:nvPr/>
        </p:nvSpPr>
        <p:spPr>
          <a:xfrm>
            <a:off x="0" y="5257800"/>
            <a:ext cx="12161520" cy="1600200"/>
          </a:xfrm>
          <a:prstGeom prst="rect">
            <a:avLst/>
          </a:prstGeom>
          <a:solidFill>
            <a:srgbClr val="8F3B30"/>
          </a:solidFill>
          <a:ln/>
        </p:spPr>
      </p:sp>
      <p:sp>
        <p:nvSpPr>
          <p:cNvPr id="4" name="Shape 2"/>
          <p:cNvSpPr/>
          <p:nvPr/>
        </p:nvSpPr>
        <p:spPr>
          <a:xfrm>
            <a:off x="9326880" y="640080"/>
            <a:ext cx="1965960" cy="1965960"/>
          </a:xfrm>
          <a:prstGeom prst="ellipse">
            <a:avLst/>
          </a:prstGeom>
          <a:solidFill>
            <a:srgbClr val="8F3B30"/>
          </a:solidFill>
          <a:ln w="19050">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9765792" y="1078992"/>
            <a:ext cx="1097280" cy="1097280"/>
          </a:xfrm>
          <a:prstGeom prst="rect">
            <a:avLst/>
          </a:prstGeom>
        </p:spPr>
      </p:pic>
      <p:sp>
        <p:nvSpPr>
          <p:cNvPr id="6" name="Text 3"/>
          <p:cNvSpPr/>
          <p:nvPr/>
        </p:nvSpPr>
        <p:spPr>
          <a:xfrm>
            <a:off x="822960" y="1051560"/>
            <a:ext cx="8686800" cy="365760"/>
          </a:xfrm>
          <a:prstGeom prst="rect">
            <a:avLst/>
          </a:prstGeom>
          <a:noFill/>
          <a:ln/>
        </p:spPr>
        <p:txBody>
          <a:bodyPr wrap="square" rtlCol="0" anchor="ctr"/>
          <a:lstStyle/>
          <a:p>
            <a:pPr indent="0" marL="0">
              <a:buNone/>
            </a:pPr>
            <a:r>
              <a:rPr lang="en-US" sz="1400" b="1" spc="300" kern="0" dirty="0">
                <a:solidFill>
                  <a:srgbClr val="E7E8D1"/>
                </a:solidFill>
                <a:latin typeface="Calibri" pitchFamily="34" charset="0"/>
                <a:ea typeface="Calibri" pitchFamily="34" charset="-122"/>
                <a:cs typeface="Calibri" pitchFamily="34" charset="-120"/>
              </a:rPr>
              <a:t>DIVINE DESIGN FOR THE DIGITAL AGE</a:t>
            </a:r>
            <a:endParaRPr lang="en-US" sz="1400" dirty="0"/>
          </a:p>
        </p:txBody>
      </p:sp>
      <p:sp>
        <p:nvSpPr>
          <p:cNvPr id="7" name="Text 4"/>
          <p:cNvSpPr/>
          <p:nvPr/>
        </p:nvSpPr>
        <p:spPr>
          <a:xfrm>
            <a:off x="822960" y="1371600"/>
            <a:ext cx="8686800" cy="320040"/>
          </a:xfrm>
          <a:prstGeom prst="rect">
            <a:avLst/>
          </a:prstGeom>
          <a:noFill/>
          <a:ln/>
        </p:spPr>
        <p:txBody>
          <a:bodyPr wrap="square" rtlCol="0" anchor="ctr"/>
          <a:lstStyle/>
          <a:p>
            <a:pPr indent="0" marL="0">
              <a:buNone/>
            </a:pPr>
            <a:r>
              <a:rPr lang="en-US" sz="1300" i="1" dirty="0">
                <a:solidFill>
                  <a:srgbClr val="C9A15A"/>
                </a:solidFill>
                <a:latin typeface="Calibri" pitchFamily="34" charset="0"/>
                <a:ea typeface="Calibri" pitchFamily="34" charset="-122"/>
                <a:cs typeface="Calibri" pitchFamily="34" charset="-120"/>
              </a:rPr>
              <a:t>A Talk &amp; Discussion Series</a:t>
            </a:r>
            <a:endParaRPr lang="en-US" sz="1300" dirty="0"/>
          </a:p>
        </p:txBody>
      </p:sp>
      <p:sp>
        <p:nvSpPr>
          <p:cNvPr id="8" name="Text 5"/>
          <p:cNvSpPr/>
          <p:nvPr/>
        </p:nvSpPr>
        <p:spPr>
          <a:xfrm>
            <a:off x="822960" y="2331720"/>
            <a:ext cx="8229600" cy="640080"/>
          </a:xfrm>
          <a:prstGeom prst="rect">
            <a:avLst/>
          </a:prstGeom>
          <a:noFill/>
          <a:ln/>
        </p:spPr>
        <p:txBody>
          <a:bodyPr wrap="square" rtlCol="0" anchor="ctr"/>
          <a:lstStyle/>
          <a:p>
            <a:pPr indent="0" marL="0">
              <a:buNone/>
            </a:pPr>
            <a:r>
              <a:rPr lang="en-US" sz="3000" b="1" dirty="0">
                <a:solidFill>
                  <a:srgbClr val="C9A15A"/>
                </a:solidFill>
                <a:latin typeface="Bookman Old Style" pitchFamily="34" charset="0"/>
                <a:ea typeface="Bookman Old Style" pitchFamily="34" charset="-122"/>
                <a:cs typeface="Bookman Old Style" pitchFamily="34" charset="-120"/>
              </a:rPr>
              <a:t>Chapter 13</a:t>
            </a:r>
            <a:endParaRPr lang="en-US" sz="3000" dirty="0"/>
          </a:p>
        </p:txBody>
      </p:sp>
      <p:sp>
        <p:nvSpPr>
          <p:cNvPr id="9" name="Text 6"/>
          <p:cNvSpPr/>
          <p:nvPr/>
        </p:nvSpPr>
        <p:spPr>
          <a:xfrm>
            <a:off x="777240" y="2880360"/>
            <a:ext cx="10424160" cy="1828800"/>
          </a:xfrm>
          <a:prstGeom prst="rect">
            <a:avLst/>
          </a:prstGeom>
          <a:noFill/>
          <a:ln/>
        </p:spPr>
        <p:txBody>
          <a:bodyPr wrap="square" rtlCol="0" anchor="t"/>
          <a:lstStyle/>
          <a:p>
            <a:pPr indent="0" marL="0">
              <a:lnSpc>
                <a:spcPct val="95000"/>
              </a:lnSpc>
              <a:buNone/>
            </a:pPr>
            <a:r>
              <a:rPr lang="en-US" sz="5200" b="1" dirty="0">
                <a:solidFill>
                  <a:srgbClr val="FBF7F0"/>
                </a:solidFill>
                <a:latin typeface="Bookman Old Style" pitchFamily="34" charset="0"/>
                <a:ea typeface="Bookman Old Style" pitchFamily="34" charset="-122"/>
                <a:cs typeface="Bookman Old Style" pitchFamily="34" charset="-120"/>
              </a:rPr>
              <a:t>Hope Beyond the Machine</a:t>
            </a:r>
            <a:endParaRPr lang="en-US" sz="5200" dirty="0"/>
          </a:p>
        </p:txBody>
      </p:sp>
      <p:pic>
        <p:nvPicPr>
          <p:cNvPr id="10" name="Image 1" descr="preencoded.png">    </p:cNvPr>
          <p:cNvPicPr>
            <a:picLocks noChangeAspect="1"/>
          </p:cNvPicPr>
          <p:nvPr/>
        </p:nvPicPr>
        <p:blipFill>
          <a:blip r:embed="rId2"/>
          <a:stretch>
            <a:fillRect/>
          </a:stretch>
        </p:blipFill>
        <p:spPr>
          <a:xfrm>
            <a:off x="868680" y="5623560"/>
            <a:ext cx="457200" cy="457200"/>
          </a:xfrm>
          <a:prstGeom prst="rect">
            <a:avLst/>
          </a:prstGeom>
        </p:spPr>
      </p:pic>
      <p:sp>
        <p:nvSpPr>
          <p:cNvPr id="11" name="Text 7"/>
          <p:cNvSpPr/>
          <p:nvPr/>
        </p:nvSpPr>
        <p:spPr>
          <a:xfrm>
            <a:off x="1463040" y="5623560"/>
            <a:ext cx="10058400" cy="457200"/>
          </a:xfrm>
          <a:prstGeom prst="rect">
            <a:avLst/>
          </a:prstGeom>
          <a:noFill/>
          <a:ln/>
        </p:spPr>
        <p:txBody>
          <a:bodyPr wrap="square" rtlCol="0" anchor="ctr"/>
          <a:lstStyle/>
          <a:p>
            <a:pPr indent="0" marL="0">
              <a:buNone/>
            </a:pPr>
            <a:r>
              <a:rPr lang="en-US" sz="1600" b="1" dirty="0">
                <a:solidFill>
                  <a:srgbClr val="E7E8D1"/>
                </a:solidFill>
                <a:latin typeface="Calibri" pitchFamily="34" charset="0"/>
                <a:ea typeface="Calibri" pitchFamily="34" charset="-122"/>
                <a:cs typeface="Calibri" pitchFamily="34" charset="-120"/>
              </a:rPr>
              <a:t>Key Scripture   </a:t>
            </a:r>
            <a:pPr indent="0" marL="0">
              <a:buNone/>
            </a:pPr>
            <a:r>
              <a:rPr lang="en-US" sz="1600" i="1" dirty="0">
                <a:solidFill>
                  <a:srgbClr val="FBF7F0"/>
                </a:solidFill>
                <a:latin typeface="Calibri" pitchFamily="34" charset="0"/>
                <a:ea typeface="Calibri" pitchFamily="34" charset="-122"/>
                <a:cs typeface="Calibri" pitchFamily="34" charset="-120"/>
              </a:rPr>
              <a:t>Psalm 20:7 (ESV)</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822960" y="685800"/>
            <a:ext cx="1051560" cy="105156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60120"/>
            <a:ext cx="502920" cy="502920"/>
          </a:xfrm>
          <a:prstGeom prst="rect">
            <a:avLst/>
          </a:prstGeom>
        </p:spPr>
      </p:pic>
      <p:sp>
        <p:nvSpPr>
          <p:cNvPr id="4" name="Text 1"/>
          <p:cNvSpPr/>
          <p:nvPr/>
        </p:nvSpPr>
        <p:spPr>
          <a:xfrm>
            <a:off x="2103120" y="658368"/>
            <a:ext cx="9144000" cy="658368"/>
          </a:xfrm>
          <a:prstGeom prst="rect">
            <a:avLst/>
          </a:prstGeom>
          <a:noFill/>
          <a:ln/>
        </p:spPr>
        <p:txBody>
          <a:bodyPr wrap="square" rtlCol="0" anchor="ctr"/>
          <a:lstStyle/>
          <a:p>
            <a:pPr indent="0" marL="0">
              <a:buNone/>
            </a:pPr>
            <a:r>
              <a:rPr lang="en-US" sz="3400" b="1" dirty="0">
                <a:solidFill>
                  <a:srgbClr val="8F3B30"/>
                </a:solidFill>
                <a:latin typeface="Bookman Old Style" pitchFamily="34" charset="0"/>
                <a:ea typeface="Bookman Old Style" pitchFamily="34" charset="-122"/>
                <a:cs typeface="Bookman Old Style" pitchFamily="34" charset="-120"/>
              </a:rPr>
              <a:t>In This Session</a:t>
            </a:r>
            <a:endParaRPr lang="en-US" sz="3400" dirty="0"/>
          </a:p>
        </p:txBody>
      </p:sp>
      <p:sp>
        <p:nvSpPr>
          <p:cNvPr id="5" name="Text 2"/>
          <p:cNvSpPr/>
          <p:nvPr/>
        </p:nvSpPr>
        <p:spPr>
          <a:xfrm>
            <a:off x="2130552" y="1316736"/>
            <a:ext cx="9144000" cy="365760"/>
          </a:xfrm>
          <a:prstGeom prst="rect">
            <a:avLst/>
          </a:prstGeom>
          <a:noFill/>
          <a:ln/>
        </p:spPr>
        <p:txBody>
          <a:bodyPr wrap="square" rtlCol="0" anchor="ctr"/>
          <a:lstStyle/>
          <a:p>
            <a:pPr indent="0" marL="0">
              <a:buNone/>
            </a:pPr>
            <a:r>
              <a:rPr lang="en-US" sz="1500" i="1" dirty="0">
                <a:solidFill>
                  <a:srgbClr val="6E655C"/>
                </a:solidFill>
                <a:latin typeface="Calibri" pitchFamily="34" charset="0"/>
                <a:ea typeface="Calibri" pitchFamily="34" charset="-122"/>
                <a:cs typeface="Calibri" pitchFamily="34" charset="-120"/>
              </a:rPr>
              <a:t>What we'll walk through together</a:t>
            </a:r>
            <a:endParaRPr lang="en-US" sz="1500" dirty="0"/>
          </a:p>
        </p:txBody>
      </p:sp>
      <p:sp>
        <p:nvSpPr>
          <p:cNvPr id="6" name="Shape 3"/>
          <p:cNvSpPr/>
          <p:nvPr/>
        </p:nvSpPr>
        <p:spPr>
          <a:xfrm>
            <a:off x="868680" y="1783080"/>
            <a:ext cx="457200" cy="457200"/>
          </a:xfrm>
          <a:prstGeom prst="ellipse">
            <a:avLst/>
          </a:prstGeom>
          <a:solidFill>
            <a:srgbClr val="6B7A5E"/>
          </a:solidFill>
          <a:ln/>
        </p:spPr>
      </p:sp>
      <p:sp>
        <p:nvSpPr>
          <p:cNvPr id="7" name="Text 4"/>
          <p:cNvSpPr/>
          <p:nvPr/>
        </p:nvSpPr>
        <p:spPr>
          <a:xfrm>
            <a:off x="868680" y="178308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a:t>
            </a:r>
            <a:endParaRPr lang="en-US" sz="1500" dirty="0"/>
          </a:p>
        </p:txBody>
      </p:sp>
      <p:sp>
        <p:nvSpPr>
          <p:cNvPr id="8" name="Text 5"/>
          <p:cNvSpPr/>
          <p:nvPr/>
        </p:nvSpPr>
        <p:spPr>
          <a:xfrm>
            <a:off x="1527048" y="175564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Promise of Every Generation</a:t>
            </a:r>
            <a:endParaRPr lang="en-US" sz="1500" dirty="0"/>
          </a:p>
        </p:txBody>
      </p:sp>
      <p:sp>
        <p:nvSpPr>
          <p:cNvPr id="9" name="Shape 6"/>
          <p:cNvSpPr/>
          <p:nvPr/>
        </p:nvSpPr>
        <p:spPr>
          <a:xfrm>
            <a:off x="868680" y="2441448"/>
            <a:ext cx="457200" cy="457200"/>
          </a:xfrm>
          <a:prstGeom prst="ellipse">
            <a:avLst/>
          </a:prstGeom>
          <a:solidFill>
            <a:srgbClr val="6B7A5E"/>
          </a:solidFill>
          <a:ln/>
        </p:spPr>
      </p:sp>
      <p:sp>
        <p:nvSpPr>
          <p:cNvPr id="10" name="Text 7"/>
          <p:cNvSpPr/>
          <p:nvPr/>
        </p:nvSpPr>
        <p:spPr>
          <a:xfrm>
            <a:off x="868680" y="2441448"/>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2</a:t>
            </a:r>
            <a:endParaRPr lang="en-US" sz="1500" dirty="0"/>
          </a:p>
        </p:txBody>
      </p:sp>
      <p:sp>
        <p:nvSpPr>
          <p:cNvPr id="11" name="Text 8"/>
          <p:cNvSpPr/>
          <p:nvPr/>
        </p:nvSpPr>
        <p:spPr>
          <a:xfrm>
            <a:off x="1527048" y="2414016"/>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Search for a Savior</a:t>
            </a:r>
            <a:endParaRPr lang="en-US" sz="1500" dirty="0"/>
          </a:p>
        </p:txBody>
      </p:sp>
      <p:sp>
        <p:nvSpPr>
          <p:cNvPr id="12" name="Shape 9"/>
          <p:cNvSpPr/>
          <p:nvPr/>
        </p:nvSpPr>
        <p:spPr>
          <a:xfrm>
            <a:off x="868680" y="3099816"/>
            <a:ext cx="457200" cy="457200"/>
          </a:xfrm>
          <a:prstGeom prst="ellipse">
            <a:avLst/>
          </a:prstGeom>
          <a:solidFill>
            <a:srgbClr val="6B7A5E"/>
          </a:solidFill>
          <a:ln/>
        </p:spPr>
      </p:sp>
      <p:sp>
        <p:nvSpPr>
          <p:cNvPr id="13" name="Text 10"/>
          <p:cNvSpPr/>
          <p:nvPr/>
        </p:nvSpPr>
        <p:spPr>
          <a:xfrm>
            <a:off x="868680" y="3099816"/>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3</a:t>
            </a:r>
            <a:endParaRPr lang="en-US" sz="1500" dirty="0"/>
          </a:p>
        </p:txBody>
      </p:sp>
      <p:sp>
        <p:nvSpPr>
          <p:cNvPr id="14" name="Text 11"/>
          <p:cNvSpPr/>
          <p:nvPr/>
        </p:nvSpPr>
        <p:spPr>
          <a:xfrm>
            <a:off x="1527048" y="3072384"/>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New Tower Builders</a:t>
            </a:r>
            <a:endParaRPr lang="en-US" sz="1500" dirty="0"/>
          </a:p>
        </p:txBody>
      </p:sp>
      <p:sp>
        <p:nvSpPr>
          <p:cNvPr id="15" name="Shape 12"/>
          <p:cNvSpPr/>
          <p:nvPr/>
        </p:nvSpPr>
        <p:spPr>
          <a:xfrm>
            <a:off x="868680" y="3758184"/>
            <a:ext cx="457200" cy="457200"/>
          </a:xfrm>
          <a:prstGeom prst="ellipse">
            <a:avLst/>
          </a:prstGeom>
          <a:solidFill>
            <a:srgbClr val="6B7A5E"/>
          </a:solidFill>
          <a:ln/>
        </p:spPr>
      </p:sp>
      <p:sp>
        <p:nvSpPr>
          <p:cNvPr id="16" name="Text 13"/>
          <p:cNvSpPr/>
          <p:nvPr/>
        </p:nvSpPr>
        <p:spPr>
          <a:xfrm>
            <a:off x="868680" y="3758184"/>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4</a:t>
            </a:r>
            <a:endParaRPr lang="en-US" sz="1500" dirty="0"/>
          </a:p>
        </p:txBody>
      </p:sp>
      <p:sp>
        <p:nvSpPr>
          <p:cNvPr id="17" name="Text 14"/>
          <p:cNvSpPr/>
          <p:nvPr/>
        </p:nvSpPr>
        <p:spPr>
          <a:xfrm>
            <a:off x="1527048" y="3730752"/>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Limits of Intelligence</a:t>
            </a:r>
            <a:endParaRPr lang="en-US" sz="1500" dirty="0"/>
          </a:p>
        </p:txBody>
      </p:sp>
      <p:sp>
        <p:nvSpPr>
          <p:cNvPr id="18" name="Shape 15"/>
          <p:cNvSpPr/>
          <p:nvPr/>
        </p:nvSpPr>
        <p:spPr>
          <a:xfrm>
            <a:off x="868680" y="4416552"/>
            <a:ext cx="457200" cy="457200"/>
          </a:xfrm>
          <a:prstGeom prst="ellipse">
            <a:avLst/>
          </a:prstGeom>
          <a:solidFill>
            <a:srgbClr val="6B7A5E"/>
          </a:solidFill>
          <a:ln/>
        </p:spPr>
      </p:sp>
      <p:sp>
        <p:nvSpPr>
          <p:cNvPr id="19" name="Text 16"/>
          <p:cNvSpPr/>
          <p:nvPr/>
        </p:nvSpPr>
        <p:spPr>
          <a:xfrm>
            <a:off x="868680" y="4416552"/>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5</a:t>
            </a:r>
            <a:endParaRPr lang="en-US" sz="1500" dirty="0"/>
          </a:p>
        </p:txBody>
      </p:sp>
      <p:sp>
        <p:nvSpPr>
          <p:cNvPr id="20" name="Text 17"/>
          <p:cNvSpPr/>
          <p:nvPr/>
        </p:nvSpPr>
        <p:spPr>
          <a:xfrm>
            <a:off x="1527048" y="4389120"/>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Problem Technology Cannot Solve</a:t>
            </a:r>
            <a:endParaRPr lang="en-US" sz="1500" dirty="0"/>
          </a:p>
        </p:txBody>
      </p:sp>
      <p:sp>
        <p:nvSpPr>
          <p:cNvPr id="21" name="Shape 18"/>
          <p:cNvSpPr/>
          <p:nvPr/>
        </p:nvSpPr>
        <p:spPr>
          <a:xfrm>
            <a:off x="868680" y="5074920"/>
            <a:ext cx="457200" cy="457200"/>
          </a:xfrm>
          <a:prstGeom prst="ellipse">
            <a:avLst/>
          </a:prstGeom>
          <a:solidFill>
            <a:srgbClr val="6B7A5E"/>
          </a:solidFill>
          <a:ln/>
        </p:spPr>
      </p:sp>
      <p:sp>
        <p:nvSpPr>
          <p:cNvPr id="22" name="Text 19"/>
          <p:cNvSpPr/>
          <p:nvPr/>
        </p:nvSpPr>
        <p:spPr>
          <a:xfrm>
            <a:off x="868680" y="507492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6</a:t>
            </a:r>
            <a:endParaRPr lang="en-US" sz="1500" dirty="0"/>
          </a:p>
        </p:txBody>
      </p:sp>
      <p:sp>
        <p:nvSpPr>
          <p:cNvPr id="23" name="Text 20"/>
          <p:cNvSpPr/>
          <p:nvPr/>
        </p:nvSpPr>
        <p:spPr>
          <a:xfrm>
            <a:off x="1527048" y="504748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Why Progress Is Not Enough</a:t>
            </a:r>
            <a:endParaRPr lang="en-US" sz="1500" dirty="0"/>
          </a:p>
        </p:txBody>
      </p:sp>
      <p:sp>
        <p:nvSpPr>
          <p:cNvPr id="24" name="Shape 21"/>
          <p:cNvSpPr/>
          <p:nvPr/>
        </p:nvSpPr>
        <p:spPr>
          <a:xfrm>
            <a:off x="868680" y="5733288"/>
            <a:ext cx="457200" cy="457200"/>
          </a:xfrm>
          <a:prstGeom prst="ellipse">
            <a:avLst/>
          </a:prstGeom>
          <a:solidFill>
            <a:srgbClr val="6B7A5E"/>
          </a:solidFill>
          <a:ln/>
        </p:spPr>
      </p:sp>
      <p:sp>
        <p:nvSpPr>
          <p:cNvPr id="25" name="Text 22"/>
          <p:cNvSpPr/>
          <p:nvPr/>
        </p:nvSpPr>
        <p:spPr>
          <a:xfrm>
            <a:off x="868680" y="5733288"/>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7</a:t>
            </a:r>
            <a:endParaRPr lang="en-US" sz="1500" dirty="0"/>
          </a:p>
        </p:txBody>
      </p:sp>
      <p:sp>
        <p:nvSpPr>
          <p:cNvPr id="26" name="Text 23"/>
          <p:cNvSpPr/>
          <p:nvPr/>
        </p:nvSpPr>
        <p:spPr>
          <a:xfrm>
            <a:off x="1527048" y="5705856"/>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Groaning of Creation</a:t>
            </a:r>
            <a:endParaRPr lang="en-US" sz="1500" dirty="0"/>
          </a:p>
        </p:txBody>
      </p:sp>
      <p:sp>
        <p:nvSpPr>
          <p:cNvPr id="27" name="Shape 24"/>
          <p:cNvSpPr/>
          <p:nvPr/>
        </p:nvSpPr>
        <p:spPr>
          <a:xfrm>
            <a:off x="6355080" y="1783080"/>
            <a:ext cx="457200" cy="457200"/>
          </a:xfrm>
          <a:prstGeom prst="ellipse">
            <a:avLst/>
          </a:prstGeom>
          <a:solidFill>
            <a:srgbClr val="6B7A5E"/>
          </a:solidFill>
          <a:ln/>
        </p:spPr>
      </p:sp>
      <p:sp>
        <p:nvSpPr>
          <p:cNvPr id="28" name="Text 25"/>
          <p:cNvSpPr/>
          <p:nvPr/>
        </p:nvSpPr>
        <p:spPr>
          <a:xfrm>
            <a:off x="6355080" y="178308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8</a:t>
            </a:r>
            <a:endParaRPr lang="en-US" sz="1500" dirty="0"/>
          </a:p>
        </p:txBody>
      </p:sp>
      <p:sp>
        <p:nvSpPr>
          <p:cNvPr id="29" name="Text 26"/>
          <p:cNvSpPr/>
          <p:nvPr/>
        </p:nvSpPr>
        <p:spPr>
          <a:xfrm>
            <a:off x="7013448" y="175564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Christian View of the Future</a:t>
            </a:r>
            <a:endParaRPr lang="en-US" sz="1500" dirty="0"/>
          </a:p>
        </p:txBody>
      </p:sp>
      <p:sp>
        <p:nvSpPr>
          <p:cNvPr id="30" name="Shape 27"/>
          <p:cNvSpPr/>
          <p:nvPr/>
        </p:nvSpPr>
        <p:spPr>
          <a:xfrm>
            <a:off x="6355080" y="2441448"/>
            <a:ext cx="457200" cy="457200"/>
          </a:xfrm>
          <a:prstGeom prst="ellipse">
            <a:avLst/>
          </a:prstGeom>
          <a:solidFill>
            <a:srgbClr val="6B7A5E"/>
          </a:solidFill>
          <a:ln/>
        </p:spPr>
      </p:sp>
      <p:sp>
        <p:nvSpPr>
          <p:cNvPr id="31" name="Text 28"/>
          <p:cNvSpPr/>
          <p:nvPr/>
        </p:nvSpPr>
        <p:spPr>
          <a:xfrm>
            <a:off x="6355080" y="2441448"/>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9</a:t>
            </a:r>
            <a:endParaRPr lang="en-US" sz="1500" dirty="0"/>
          </a:p>
        </p:txBody>
      </p:sp>
      <p:sp>
        <p:nvSpPr>
          <p:cNvPr id="32" name="Text 29"/>
          <p:cNvSpPr/>
          <p:nvPr/>
        </p:nvSpPr>
        <p:spPr>
          <a:xfrm>
            <a:off x="7013448" y="2414016"/>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Unchanging Christ</a:t>
            </a:r>
            <a:endParaRPr lang="en-US" sz="1500" dirty="0"/>
          </a:p>
        </p:txBody>
      </p:sp>
      <p:sp>
        <p:nvSpPr>
          <p:cNvPr id="33" name="Shape 30"/>
          <p:cNvSpPr/>
          <p:nvPr/>
        </p:nvSpPr>
        <p:spPr>
          <a:xfrm>
            <a:off x="6355080" y="3099816"/>
            <a:ext cx="457200" cy="457200"/>
          </a:xfrm>
          <a:prstGeom prst="ellipse">
            <a:avLst/>
          </a:prstGeom>
          <a:solidFill>
            <a:srgbClr val="6B7A5E"/>
          </a:solidFill>
          <a:ln/>
        </p:spPr>
      </p:sp>
      <p:sp>
        <p:nvSpPr>
          <p:cNvPr id="34" name="Text 31"/>
          <p:cNvSpPr/>
          <p:nvPr/>
        </p:nvSpPr>
        <p:spPr>
          <a:xfrm>
            <a:off x="6355080" y="3099816"/>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10</a:t>
            </a:r>
            <a:endParaRPr lang="en-US" sz="1500" dirty="0"/>
          </a:p>
        </p:txBody>
      </p:sp>
      <p:sp>
        <p:nvSpPr>
          <p:cNvPr id="35" name="Text 32"/>
          <p:cNvSpPr/>
          <p:nvPr/>
        </p:nvSpPr>
        <p:spPr>
          <a:xfrm>
            <a:off x="7013448" y="3072384"/>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Beyond Efficiency</a:t>
            </a:r>
            <a:endParaRPr lang="en-US" sz="1500" dirty="0"/>
          </a:p>
        </p:txBody>
      </p:sp>
      <p:sp>
        <p:nvSpPr>
          <p:cNvPr id="36" name="Shape 33"/>
          <p:cNvSpPr/>
          <p:nvPr/>
        </p:nvSpPr>
        <p:spPr>
          <a:xfrm>
            <a:off x="6355080" y="3758184"/>
            <a:ext cx="457200" cy="457200"/>
          </a:xfrm>
          <a:prstGeom prst="ellipse">
            <a:avLst/>
          </a:prstGeom>
          <a:solidFill>
            <a:srgbClr val="6B7A5E"/>
          </a:solidFill>
          <a:ln/>
        </p:spPr>
      </p:sp>
      <p:sp>
        <p:nvSpPr>
          <p:cNvPr id="37" name="Text 34"/>
          <p:cNvSpPr/>
          <p:nvPr/>
        </p:nvSpPr>
        <p:spPr>
          <a:xfrm>
            <a:off x="6355080" y="3758184"/>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11</a:t>
            </a:r>
            <a:endParaRPr lang="en-US" sz="1500" dirty="0"/>
          </a:p>
        </p:txBody>
      </p:sp>
      <p:sp>
        <p:nvSpPr>
          <p:cNvPr id="38" name="Text 35"/>
          <p:cNvSpPr/>
          <p:nvPr/>
        </p:nvSpPr>
        <p:spPr>
          <a:xfrm>
            <a:off x="7013448" y="3730752"/>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New Creation</a:t>
            </a:r>
            <a:endParaRPr lang="en-US" sz="1500" dirty="0"/>
          </a:p>
        </p:txBody>
      </p:sp>
      <p:sp>
        <p:nvSpPr>
          <p:cNvPr id="39" name="Shape 36"/>
          <p:cNvSpPr/>
          <p:nvPr/>
        </p:nvSpPr>
        <p:spPr>
          <a:xfrm>
            <a:off x="6355080" y="4416552"/>
            <a:ext cx="457200" cy="457200"/>
          </a:xfrm>
          <a:prstGeom prst="ellipse">
            <a:avLst/>
          </a:prstGeom>
          <a:solidFill>
            <a:srgbClr val="6B7A5E"/>
          </a:solidFill>
          <a:ln/>
        </p:spPr>
      </p:sp>
      <p:sp>
        <p:nvSpPr>
          <p:cNvPr id="40" name="Text 37"/>
          <p:cNvSpPr/>
          <p:nvPr/>
        </p:nvSpPr>
        <p:spPr>
          <a:xfrm>
            <a:off x="6355080" y="4416552"/>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12</a:t>
            </a:r>
            <a:endParaRPr lang="en-US" sz="1500" dirty="0"/>
          </a:p>
        </p:txBody>
      </p:sp>
      <p:sp>
        <p:nvSpPr>
          <p:cNvPr id="41" name="Text 38"/>
          <p:cNvSpPr/>
          <p:nvPr/>
        </p:nvSpPr>
        <p:spPr>
          <a:xfrm>
            <a:off x="7013448" y="4389120"/>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Living Between Hope and Innovation</a:t>
            </a:r>
            <a:endParaRPr lang="en-US" sz="1500" dirty="0"/>
          </a:p>
        </p:txBody>
      </p:sp>
      <p:sp>
        <p:nvSpPr>
          <p:cNvPr id="42" name="Shape 39"/>
          <p:cNvSpPr/>
          <p:nvPr/>
        </p:nvSpPr>
        <p:spPr>
          <a:xfrm>
            <a:off x="6355080" y="5074920"/>
            <a:ext cx="457200" cy="457200"/>
          </a:xfrm>
          <a:prstGeom prst="ellipse">
            <a:avLst/>
          </a:prstGeom>
          <a:solidFill>
            <a:srgbClr val="6B7A5E"/>
          </a:solidFill>
          <a:ln/>
        </p:spPr>
      </p:sp>
      <p:sp>
        <p:nvSpPr>
          <p:cNvPr id="43" name="Text 40"/>
          <p:cNvSpPr/>
          <p:nvPr/>
        </p:nvSpPr>
        <p:spPr>
          <a:xfrm>
            <a:off x="6355080" y="507492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13</a:t>
            </a:r>
            <a:endParaRPr lang="en-US" sz="1500" dirty="0"/>
          </a:p>
        </p:txBody>
      </p:sp>
      <p:sp>
        <p:nvSpPr>
          <p:cNvPr id="44" name="Text 41"/>
          <p:cNvSpPr/>
          <p:nvPr/>
        </p:nvSpPr>
        <p:spPr>
          <a:xfrm>
            <a:off x="7013448" y="504748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Hope That Cannot Be Upgraded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4E5B44"/>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4E5B44"/>
          </a:solidFill>
          <a:ln/>
        </p:spPr>
      </p:sp>
      <p:pic>
        <p:nvPicPr>
          <p:cNvPr id="3" name="Image 0" descr="preencoded.png">    </p:cNvPr>
          <p:cNvPicPr>
            <a:picLocks noChangeAspect="1"/>
          </p:cNvPicPr>
          <p:nvPr/>
        </p:nvPicPr>
        <p:blipFill>
          <a:blip r:embed="rId1"/>
          <a:stretch>
            <a:fillRect/>
          </a:stretch>
        </p:blipFill>
        <p:spPr>
          <a:xfrm>
            <a:off x="822960" y="731520"/>
            <a:ext cx="914400" cy="914400"/>
          </a:xfrm>
          <a:prstGeom prst="rect">
            <a:avLst/>
          </a:prstGeom>
        </p:spPr>
      </p:pic>
      <p:sp>
        <p:nvSpPr>
          <p:cNvPr id="4" name="Text 1"/>
          <p:cNvSpPr/>
          <p:nvPr/>
        </p:nvSpPr>
        <p:spPr>
          <a:xfrm>
            <a:off x="1874520" y="868680"/>
            <a:ext cx="7315200" cy="365760"/>
          </a:xfrm>
          <a:prstGeom prst="rect">
            <a:avLst/>
          </a:prstGeom>
          <a:noFill/>
          <a:ln/>
        </p:spPr>
        <p:txBody>
          <a:bodyPr wrap="square" rtlCol="0" anchor="ctr"/>
          <a:lstStyle/>
          <a:p>
            <a:pPr indent="0" marL="0">
              <a:buNone/>
            </a:pPr>
            <a:r>
              <a:rPr lang="en-US" sz="1500" b="1" spc="300" kern="0" dirty="0">
                <a:solidFill>
                  <a:srgbClr val="E7E8D1"/>
                </a:solidFill>
                <a:latin typeface="Calibri" pitchFamily="34" charset="0"/>
                <a:ea typeface="Calibri" pitchFamily="34" charset="-122"/>
                <a:cs typeface="Calibri" pitchFamily="34" charset="-120"/>
              </a:rPr>
              <a:t>KEY SCRIPTURE</a:t>
            </a:r>
            <a:endParaRPr lang="en-US" sz="1500" dirty="0"/>
          </a:p>
        </p:txBody>
      </p:sp>
      <p:sp>
        <p:nvSpPr>
          <p:cNvPr id="5" name="Text 2"/>
          <p:cNvSpPr/>
          <p:nvPr/>
        </p:nvSpPr>
        <p:spPr>
          <a:xfrm>
            <a:off x="1874520" y="1234440"/>
            <a:ext cx="9144000" cy="457200"/>
          </a:xfrm>
          <a:prstGeom prst="rect">
            <a:avLst/>
          </a:prstGeom>
          <a:noFill/>
          <a:ln/>
        </p:spPr>
        <p:txBody>
          <a:bodyPr wrap="square" rtlCol="0" anchor="ctr"/>
          <a:lstStyle/>
          <a:p>
            <a:pPr indent="0" marL="0">
              <a:buNone/>
            </a:pPr>
            <a:r>
              <a:rPr lang="en-US" sz="2200" b="1" dirty="0">
                <a:solidFill>
                  <a:srgbClr val="C9A15A"/>
                </a:solidFill>
                <a:latin typeface="Bookman Old Style" pitchFamily="34" charset="0"/>
                <a:ea typeface="Bookman Old Style" pitchFamily="34" charset="-122"/>
                <a:cs typeface="Bookman Old Style" pitchFamily="34" charset="-120"/>
              </a:rPr>
              <a:t>Psalm 20:7 (ESV)</a:t>
            </a:r>
            <a:endParaRPr lang="en-US" sz="2200" dirty="0"/>
          </a:p>
        </p:txBody>
      </p:sp>
      <p:sp>
        <p:nvSpPr>
          <p:cNvPr id="6" name="Text 3"/>
          <p:cNvSpPr/>
          <p:nvPr/>
        </p:nvSpPr>
        <p:spPr>
          <a:xfrm>
            <a:off x="1280160" y="2194560"/>
            <a:ext cx="9601200" cy="4023360"/>
          </a:xfrm>
          <a:prstGeom prst="rect">
            <a:avLst/>
          </a:prstGeom>
          <a:noFill/>
          <a:ln/>
        </p:spPr>
        <p:txBody>
          <a:bodyPr wrap="square" rtlCol="0" anchor="t"/>
          <a:lstStyle/>
          <a:p>
            <a:pPr indent="0" marL="0">
              <a:lnSpc>
                <a:spcPct val="112000"/>
              </a:lnSpc>
              <a:buNone/>
            </a:pPr>
            <a:r>
              <a:rPr lang="en-US" sz="2400" i="1" dirty="0">
                <a:solidFill>
                  <a:srgbClr val="FBF7F0"/>
                </a:solidFill>
                <a:latin typeface="Bookman Old Style" pitchFamily="34" charset="0"/>
                <a:ea typeface="Bookman Old Style" pitchFamily="34" charset="-122"/>
                <a:cs typeface="Bookman Old Style" pitchFamily="34" charset="-120"/>
              </a:rPr>
              <a:t>"Behold, I am making all things new."</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01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Promise of Every Generation</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Every generation believes it stands at a threshold, a breakthrough about to arrive. That hope is real — but often misplaced.</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02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Search for a Savior</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We are drawn toward saviors — functional saviors, the things we secretly believe will finally fix what is broken.</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03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New Tower Builders</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Babel keeps repeating. The bricks change, but the impulse never does: to secure our own future and make our own name.</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04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Limits of Intelligence</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AI advances at remarkable speed, making the once-impossible routine. Yet intelligence, however vast, has limits it cannot cross.</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05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Problem Technology Cannot Solve</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Imagine every technological dream fulfilled — disease, poverty, and toil reduced. The deepest human problem would still remain.</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06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Why Progress Is Not Enough</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We assume progress is inevitable and always upward. But progress cannot repair the human heart or answer the question of death.</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07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Groaning of Creation</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Romans 8 describes creation groaning, longing for restoration — a world holding its breath for something it cannot yet see.</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08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Christian View of the Future</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Discussions swing between techno-optimism and techno-dread. The Christian view is neither naive nor fearful, but anchored in hope.</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09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Unchanging Christ</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'Jesus Christ is the same yesterday and today and forever.' Everything else changes; He is the one fixed point.</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10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Beyond Efficiency</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Technology is obsessed with efficiency — faster, cheaper, more automated. But the things that matter most were never about speed.</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11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New Creation</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We expect God to patch and improve the broken world. Scripture promises something greater: a new creation, made whole.</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12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Living Between Hope and Innovation</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We live between two temptations — fearing advancement and idolizing it. Faith refuses both, holding innovation and hope together.</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13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Hope That Cannot Be Upgraded</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Every device becomes obsolete; every platform disappears. Our hope in Christ is the one thing that can never be upgraded.</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822960" y="685800"/>
            <a:ext cx="1051560" cy="105156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60120"/>
            <a:ext cx="502920" cy="502920"/>
          </a:xfrm>
          <a:prstGeom prst="rect">
            <a:avLst/>
          </a:prstGeom>
        </p:spPr>
      </p:pic>
      <p:sp>
        <p:nvSpPr>
          <p:cNvPr id="4" name="Text 1"/>
          <p:cNvSpPr/>
          <p:nvPr/>
        </p:nvSpPr>
        <p:spPr>
          <a:xfrm>
            <a:off x="2103120" y="658368"/>
            <a:ext cx="9144000" cy="658368"/>
          </a:xfrm>
          <a:prstGeom prst="rect">
            <a:avLst/>
          </a:prstGeom>
          <a:noFill/>
          <a:ln/>
        </p:spPr>
        <p:txBody>
          <a:bodyPr wrap="square" rtlCol="0" anchor="ctr"/>
          <a:lstStyle/>
          <a:p>
            <a:pPr indent="0" marL="0">
              <a:buNone/>
            </a:pPr>
            <a:r>
              <a:rPr lang="en-US" sz="3400" b="1" dirty="0">
                <a:solidFill>
                  <a:srgbClr val="8F3B30"/>
                </a:solidFill>
                <a:latin typeface="Bookman Old Style" pitchFamily="34" charset="0"/>
                <a:ea typeface="Bookman Old Style" pitchFamily="34" charset="-122"/>
                <a:cs typeface="Bookman Old Style" pitchFamily="34" charset="-120"/>
              </a:rPr>
              <a:t>Reflection Questions</a:t>
            </a:r>
            <a:endParaRPr lang="en-US" sz="3400" dirty="0"/>
          </a:p>
        </p:txBody>
      </p:sp>
      <p:sp>
        <p:nvSpPr>
          <p:cNvPr id="5" name="Text 2"/>
          <p:cNvSpPr/>
          <p:nvPr/>
        </p:nvSpPr>
        <p:spPr>
          <a:xfrm>
            <a:off x="2130552" y="1316736"/>
            <a:ext cx="9144000" cy="365760"/>
          </a:xfrm>
          <a:prstGeom prst="rect">
            <a:avLst/>
          </a:prstGeom>
          <a:noFill/>
          <a:ln/>
        </p:spPr>
        <p:txBody>
          <a:bodyPr wrap="square" rtlCol="0" anchor="ctr"/>
          <a:lstStyle/>
          <a:p>
            <a:pPr indent="0" marL="0">
              <a:buNone/>
            </a:pPr>
            <a:r>
              <a:rPr lang="en-US" sz="1500" i="1" dirty="0">
                <a:solidFill>
                  <a:srgbClr val="6E655C"/>
                </a:solidFill>
                <a:latin typeface="Calibri" pitchFamily="34" charset="0"/>
                <a:ea typeface="Calibri" pitchFamily="34" charset="-122"/>
                <a:cs typeface="Calibri" pitchFamily="34" charset="-120"/>
              </a:rPr>
              <a:t>For personal thought or group discussion</a:t>
            </a:r>
            <a:endParaRPr lang="en-US" sz="1500" dirty="0"/>
          </a:p>
        </p:txBody>
      </p:sp>
      <p:sp>
        <p:nvSpPr>
          <p:cNvPr id="6" name="Shape 3"/>
          <p:cNvSpPr/>
          <p:nvPr/>
        </p:nvSpPr>
        <p:spPr>
          <a:xfrm>
            <a:off x="868680" y="1737360"/>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Text 4"/>
          <p:cNvSpPr/>
          <p:nvPr/>
        </p:nvSpPr>
        <p:spPr>
          <a:xfrm>
            <a:off x="1051560" y="1901952"/>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1</a:t>
            </a:r>
            <a:endParaRPr lang="en-US" sz="2000" dirty="0"/>
          </a:p>
        </p:txBody>
      </p:sp>
      <p:sp>
        <p:nvSpPr>
          <p:cNvPr id="8" name="Text 5"/>
          <p:cNvSpPr/>
          <p:nvPr/>
        </p:nvSpPr>
        <p:spPr>
          <a:xfrm>
            <a:off x="1581912" y="1828800"/>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Where are you most tempted to place your hope outside of God?</a:t>
            </a:r>
            <a:endParaRPr lang="en-US" sz="1300" dirty="0"/>
          </a:p>
        </p:txBody>
      </p:sp>
      <p:sp>
        <p:nvSpPr>
          <p:cNvPr id="9" name="Shape 6"/>
          <p:cNvSpPr/>
          <p:nvPr/>
        </p:nvSpPr>
        <p:spPr>
          <a:xfrm>
            <a:off x="868680" y="2852928"/>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1051560" y="3017520"/>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2</a:t>
            </a:r>
            <a:endParaRPr lang="en-US" sz="2000" dirty="0"/>
          </a:p>
        </p:txBody>
      </p:sp>
      <p:sp>
        <p:nvSpPr>
          <p:cNvPr id="11" name="Text 8"/>
          <p:cNvSpPr/>
          <p:nvPr/>
        </p:nvSpPr>
        <p:spPr>
          <a:xfrm>
            <a:off x="1581912" y="2944368"/>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How does technology shape your expectations about the future?</a:t>
            </a:r>
            <a:endParaRPr lang="en-US" sz="1300" dirty="0"/>
          </a:p>
        </p:txBody>
      </p:sp>
      <p:sp>
        <p:nvSpPr>
          <p:cNvPr id="12" name="Shape 9"/>
          <p:cNvSpPr/>
          <p:nvPr/>
        </p:nvSpPr>
        <p:spPr>
          <a:xfrm>
            <a:off x="868680" y="3968496"/>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3" name="Text 10"/>
          <p:cNvSpPr/>
          <p:nvPr/>
        </p:nvSpPr>
        <p:spPr>
          <a:xfrm>
            <a:off x="1051560" y="4133088"/>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3</a:t>
            </a:r>
            <a:endParaRPr lang="en-US" sz="2000" dirty="0"/>
          </a:p>
        </p:txBody>
      </p:sp>
      <p:sp>
        <p:nvSpPr>
          <p:cNvPr id="14" name="Text 11"/>
          <p:cNvSpPr/>
          <p:nvPr/>
        </p:nvSpPr>
        <p:spPr>
          <a:xfrm>
            <a:off x="1581912" y="4059936"/>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What problems can technology solve, and what problems can it never solve?</a:t>
            </a:r>
            <a:endParaRPr lang="en-US" sz="1300" dirty="0"/>
          </a:p>
        </p:txBody>
      </p:sp>
      <p:sp>
        <p:nvSpPr>
          <p:cNvPr id="15" name="Shape 12"/>
          <p:cNvSpPr/>
          <p:nvPr/>
        </p:nvSpPr>
        <p:spPr>
          <a:xfrm>
            <a:off x="868680" y="5084064"/>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6" name="Text 13"/>
          <p:cNvSpPr/>
          <p:nvPr/>
        </p:nvSpPr>
        <p:spPr>
          <a:xfrm>
            <a:off x="1051560" y="5248656"/>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4</a:t>
            </a:r>
            <a:endParaRPr lang="en-US" sz="2000" dirty="0"/>
          </a:p>
        </p:txBody>
      </p:sp>
      <p:sp>
        <p:nvSpPr>
          <p:cNvPr id="17" name="Text 14"/>
          <p:cNvSpPr/>
          <p:nvPr/>
        </p:nvSpPr>
        <p:spPr>
          <a:xfrm>
            <a:off x="1581912" y="5175504"/>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How would you explain the difference between progress and redemption?</a:t>
            </a:r>
            <a:endParaRPr lang="en-US" sz="1300" dirty="0"/>
          </a:p>
        </p:txBody>
      </p:sp>
      <p:sp>
        <p:nvSpPr>
          <p:cNvPr id="18" name="Shape 15"/>
          <p:cNvSpPr/>
          <p:nvPr/>
        </p:nvSpPr>
        <p:spPr>
          <a:xfrm>
            <a:off x="6355080" y="1737360"/>
            <a:ext cx="4983480" cy="749808"/>
          </a:xfrm>
          <a:prstGeom prst="roundRect">
            <a:avLst>
              <a:gd name="adj" fmla="val 10976"/>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9" name="Text 16"/>
          <p:cNvSpPr/>
          <p:nvPr/>
        </p:nvSpPr>
        <p:spPr>
          <a:xfrm>
            <a:off x="6537960" y="1901952"/>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5</a:t>
            </a:r>
            <a:endParaRPr lang="en-US" sz="2000" dirty="0"/>
          </a:p>
        </p:txBody>
      </p:sp>
      <p:sp>
        <p:nvSpPr>
          <p:cNvPr id="20" name="Text 17"/>
          <p:cNvSpPr/>
          <p:nvPr/>
        </p:nvSpPr>
        <p:spPr>
          <a:xfrm>
            <a:off x="7068312" y="1828800"/>
            <a:ext cx="4114800" cy="566928"/>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What gives you confidence about the future?</a:t>
            </a:r>
            <a:endParaRPr lang="en-US" sz="1300" dirty="0"/>
          </a:p>
        </p:txBody>
      </p:sp>
      <p:sp>
        <p:nvSpPr>
          <p:cNvPr id="21" name="Shape 18"/>
          <p:cNvSpPr/>
          <p:nvPr/>
        </p:nvSpPr>
        <p:spPr>
          <a:xfrm>
            <a:off x="6355080" y="2688336"/>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2" name="Text 19"/>
          <p:cNvSpPr/>
          <p:nvPr/>
        </p:nvSpPr>
        <p:spPr>
          <a:xfrm>
            <a:off x="6537960" y="2852928"/>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6</a:t>
            </a:r>
            <a:endParaRPr lang="en-US" sz="2000" dirty="0"/>
          </a:p>
        </p:txBody>
      </p:sp>
      <p:sp>
        <p:nvSpPr>
          <p:cNvPr id="23" name="Text 20"/>
          <p:cNvSpPr/>
          <p:nvPr/>
        </p:nvSpPr>
        <p:spPr>
          <a:xfrm>
            <a:off x="7068312" y="2779776"/>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How does Revelation's vision of a new creation influence your perspective on innovation?</a:t>
            </a:r>
            <a:endParaRPr lang="en-US" sz="1300" dirty="0"/>
          </a:p>
        </p:txBody>
      </p:sp>
      <p:sp>
        <p:nvSpPr>
          <p:cNvPr id="24" name="Shape 21"/>
          <p:cNvSpPr/>
          <p:nvPr/>
        </p:nvSpPr>
        <p:spPr>
          <a:xfrm>
            <a:off x="6355080" y="3803904"/>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5" name="Text 22"/>
          <p:cNvSpPr/>
          <p:nvPr/>
        </p:nvSpPr>
        <p:spPr>
          <a:xfrm>
            <a:off x="6537960" y="3968496"/>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7</a:t>
            </a:r>
            <a:endParaRPr lang="en-US" sz="2000" dirty="0"/>
          </a:p>
        </p:txBody>
      </p:sp>
      <p:sp>
        <p:nvSpPr>
          <p:cNvPr id="26" name="Text 23"/>
          <p:cNvSpPr/>
          <p:nvPr/>
        </p:nvSpPr>
        <p:spPr>
          <a:xfrm>
            <a:off x="7068312" y="3895344"/>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What practical steps can help you keep Christ at the center of your hope?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B85042"/>
          </a:solidFill>
          <a:ln/>
        </p:spPr>
      </p:sp>
      <p:sp>
        <p:nvSpPr>
          <p:cNvPr id="3" name="Shape 1"/>
          <p:cNvSpPr/>
          <p:nvPr/>
        </p:nvSpPr>
        <p:spPr>
          <a:xfrm>
            <a:off x="5486400" y="640080"/>
            <a:ext cx="1188720" cy="1188720"/>
          </a:xfrm>
          <a:prstGeom prst="ellipse">
            <a:avLst/>
          </a:prstGeom>
          <a:solidFill>
            <a:srgbClr val="8F3B30"/>
          </a:solidFill>
          <a:ln w="15875">
            <a:solidFill>
              <a:srgbClr val="C9A15A"/>
            </a:solidFill>
            <a:prstDash val="solid"/>
          </a:ln>
        </p:spPr>
      </p:sp>
      <p:pic>
        <p:nvPicPr>
          <p:cNvPr id="4" name="Image 0" descr="preencoded.png">    </p:cNvPr>
          <p:cNvPicPr>
            <a:picLocks noChangeAspect="1"/>
          </p:cNvPicPr>
          <p:nvPr/>
        </p:nvPicPr>
        <p:blipFill>
          <a:blip r:embed="rId1"/>
          <a:stretch>
            <a:fillRect/>
          </a:stretch>
        </p:blipFill>
        <p:spPr>
          <a:xfrm>
            <a:off x="5788152" y="941832"/>
            <a:ext cx="585216" cy="585216"/>
          </a:xfrm>
          <a:prstGeom prst="rect">
            <a:avLst/>
          </a:prstGeom>
        </p:spPr>
      </p:pic>
      <p:sp>
        <p:nvSpPr>
          <p:cNvPr id="5" name="Text 2"/>
          <p:cNvSpPr/>
          <p:nvPr/>
        </p:nvSpPr>
        <p:spPr>
          <a:xfrm>
            <a:off x="0" y="1965960"/>
            <a:ext cx="12161520" cy="457200"/>
          </a:xfrm>
          <a:prstGeom prst="rect">
            <a:avLst/>
          </a:prstGeom>
          <a:noFill/>
          <a:ln/>
        </p:spPr>
        <p:txBody>
          <a:bodyPr wrap="square" rtlCol="0" anchor="ctr"/>
          <a:lstStyle/>
          <a:p>
            <a:pPr algn="ctr" indent="0" marL="0">
              <a:buNone/>
            </a:pPr>
            <a:r>
              <a:rPr lang="en-US" sz="2600" b="1" spc="200" kern="0" dirty="0">
                <a:solidFill>
                  <a:srgbClr val="C9A15A"/>
                </a:solidFill>
                <a:latin typeface="Bookman Old Style" pitchFamily="34" charset="0"/>
                <a:ea typeface="Bookman Old Style" pitchFamily="34" charset="-122"/>
                <a:cs typeface="Bookman Old Style" pitchFamily="34" charset="-120"/>
              </a:rPr>
              <a:t>PRAYER</a:t>
            </a:r>
            <a:endParaRPr lang="en-US" sz="2600" dirty="0"/>
          </a:p>
        </p:txBody>
      </p:sp>
      <p:sp>
        <p:nvSpPr>
          <p:cNvPr id="6" name="Shape 3"/>
          <p:cNvSpPr/>
          <p:nvPr/>
        </p:nvSpPr>
        <p:spPr>
          <a:xfrm>
            <a:off x="1554480" y="2697480"/>
            <a:ext cx="9052560" cy="3566160"/>
          </a:xfrm>
          <a:prstGeom prst="roundRect">
            <a:avLst>
              <a:gd name="adj" fmla="val 3590"/>
            </a:avLst>
          </a:prstGeom>
          <a:solidFill>
            <a:srgbClr val="8F3B30"/>
          </a:solidFill>
          <a:ln/>
        </p:spPr>
      </p:sp>
      <p:sp>
        <p:nvSpPr>
          <p:cNvPr id="7" name="Text 4"/>
          <p:cNvSpPr/>
          <p:nvPr/>
        </p:nvSpPr>
        <p:spPr>
          <a:xfrm>
            <a:off x="2057400" y="2926080"/>
            <a:ext cx="8046720" cy="3108960"/>
          </a:xfrm>
          <a:prstGeom prst="rect">
            <a:avLst/>
          </a:prstGeom>
          <a:noFill/>
          <a:ln/>
        </p:spPr>
        <p:txBody>
          <a:bodyPr wrap="square" rtlCol="0" anchor="ctr"/>
          <a:lstStyle/>
          <a:p>
            <a:pPr algn="ctr" indent="0" marL="0">
              <a:lnSpc>
                <a:spcPct val="112000"/>
              </a:lnSpc>
              <a:buNone/>
            </a:pPr>
            <a:r>
              <a:rPr lang="en-US" sz="2100" i="1" dirty="0">
                <a:solidFill>
                  <a:srgbClr val="FBF7F0"/>
                </a:solidFill>
                <a:latin typeface="Bookman Old Style" pitchFamily="34" charset="0"/>
                <a:ea typeface="Bookman Old Style" pitchFamily="34" charset="-122"/>
                <a:cs typeface="Bookman Old Style" pitchFamily="34" charset="-120"/>
              </a:rPr>
              <a:t>"Father, thank You for the hope found in Jesus Christ. In a world captivated by innovation and technological progress, help me keep my eyes fixed on You. Thank You for the gifts of creativity, discovery, and advancement, but remind me that my ultimate hope is not found in what humanity can build. It is found in what You have promised. Strengthen my faith, deepen my trust, and help me live with confidence in Your coming Kingdom. Through Jesus Christ, who makes all things new, I pray. Amen."</a:t>
            </a:r>
            <a:endParaRPr lang="en-US" sz="2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822960" y="685800"/>
            <a:ext cx="1051560" cy="105156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60120"/>
            <a:ext cx="502920" cy="502920"/>
          </a:xfrm>
          <a:prstGeom prst="rect">
            <a:avLst/>
          </a:prstGeom>
        </p:spPr>
      </p:pic>
      <p:sp>
        <p:nvSpPr>
          <p:cNvPr id="4" name="Text 1"/>
          <p:cNvSpPr/>
          <p:nvPr/>
        </p:nvSpPr>
        <p:spPr>
          <a:xfrm>
            <a:off x="2103120" y="658368"/>
            <a:ext cx="9144000" cy="658368"/>
          </a:xfrm>
          <a:prstGeom prst="rect">
            <a:avLst/>
          </a:prstGeom>
          <a:noFill/>
          <a:ln/>
        </p:spPr>
        <p:txBody>
          <a:bodyPr wrap="square" rtlCol="0" anchor="ctr"/>
          <a:lstStyle/>
          <a:p>
            <a:pPr indent="0" marL="0">
              <a:buNone/>
            </a:pPr>
            <a:r>
              <a:rPr lang="en-US" sz="3400" b="1" dirty="0">
                <a:solidFill>
                  <a:srgbClr val="8F3B30"/>
                </a:solidFill>
                <a:latin typeface="Bookman Old Style" pitchFamily="34" charset="0"/>
                <a:ea typeface="Bookman Old Style" pitchFamily="34" charset="-122"/>
                <a:cs typeface="Bookman Old Style" pitchFamily="34" charset="-120"/>
              </a:rPr>
              <a:t>Action Challenge</a:t>
            </a:r>
            <a:endParaRPr lang="en-US" sz="3400" dirty="0"/>
          </a:p>
        </p:txBody>
      </p:sp>
      <p:sp>
        <p:nvSpPr>
          <p:cNvPr id="5" name="Text 2"/>
          <p:cNvSpPr/>
          <p:nvPr/>
        </p:nvSpPr>
        <p:spPr>
          <a:xfrm>
            <a:off x="2130552" y="1316736"/>
            <a:ext cx="9144000" cy="365760"/>
          </a:xfrm>
          <a:prstGeom prst="rect">
            <a:avLst/>
          </a:prstGeom>
          <a:noFill/>
          <a:ln/>
        </p:spPr>
        <p:txBody>
          <a:bodyPr wrap="square" rtlCol="0" anchor="ctr"/>
          <a:lstStyle/>
          <a:p>
            <a:pPr indent="0" marL="0">
              <a:buNone/>
            </a:pPr>
            <a:r>
              <a:rPr lang="en-US" sz="1500" i="1" dirty="0">
                <a:solidFill>
                  <a:srgbClr val="6E655C"/>
                </a:solidFill>
                <a:latin typeface="Calibri" pitchFamily="34" charset="0"/>
                <a:ea typeface="Calibri" pitchFamily="34" charset="-122"/>
                <a:cs typeface="Calibri" pitchFamily="34" charset="-120"/>
              </a:rPr>
              <a:t>One step to carry into the week</a:t>
            </a:r>
            <a:endParaRPr lang="en-US" sz="1500" dirty="0"/>
          </a:p>
        </p:txBody>
      </p:sp>
      <p:sp>
        <p:nvSpPr>
          <p:cNvPr id="6" name="Shape 3"/>
          <p:cNvSpPr/>
          <p:nvPr/>
        </p:nvSpPr>
        <p:spPr>
          <a:xfrm>
            <a:off x="868680" y="1920240"/>
            <a:ext cx="10424160" cy="3566160"/>
          </a:xfrm>
          <a:prstGeom prst="roundRect">
            <a:avLst>
              <a:gd name="adj" fmla="val 359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Shape 4"/>
          <p:cNvSpPr/>
          <p:nvPr/>
        </p:nvSpPr>
        <p:spPr>
          <a:xfrm>
            <a:off x="1371600" y="2514600"/>
            <a:ext cx="1371600" cy="1371600"/>
          </a:xfrm>
          <a:prstGeom prst="ellipse">
            <a:avLst/>
          </a:prstGeom>
          <a:solidFill>
            <a:srgbClr val="6B7A5E"/>
          </a:solidFill>
          <a:ln/>
          <a:effectLst>
            <a:outerShdw sx="100000" sy="100000" kx="0" ky="0" algn="bl" rotWithShape="0" blurRad="114300" dist="38100" dir="5400000">
              <a:srgbClr val="000000">
                <a:alpha val="12000"/>
              </a:srgbClr>
            </a:outerShdw>
          </a:effectLst>
        </p:spPr>
      </p:sp>
      <p:pic>
        <p:nvPicPr>
          <p:cNvPr id="8" name="Image 1" descr="preencoded.png">    </p:cNvPr>
          <p:cNvPicPr>
            <a:picLocks noChangeAspect="1"/>
          </p:cNvPicPr>
          <p:nvPr/>
        </p:nvPicPr>
        <p:blipFill>
          <a:blip r:embed="rId2"/>
          <a:stretch>
            <a:fillRect/>
          </a:stretch>
        </p:blipFill>
        <p:spPr>
          <a:xfrm>
            <a:off x="1737360" y="2880360"/>
            <a:ext cx="640080" cy="640080"/>
          </a:xfrm>
          <a:prstGeom prst="rect">
            <a:avLst/>
          </a:prstGeom>
        </p:spPr>
      </p:pic>
      <p:sp>
        <p:nvSpPr>
          <p:cNvPr id="9" name="Text 5"/>
          <p:cNvSpPr/>
          <p:nvPr/>
        </p:nvSpPr>
        <p:spPr>
          <a:xfrm>
            <a:off x="3108960" y="2286000"/>
            <a:ext cx="7772400" cy="2834640"/>
          </a:xfrm>
          <a:prstGeom prst="rect">
            <a:avLst/>
          </a:prstGeom>
          <a:noFill/>
          <a:ln/>
        </p:spPr>
        <p:txBody>
          <a:bodyPr wrap="square" rtlCol="0" anchor="ctr"/>
          <a:lstStyle/>
          <a:p>
            <a:pPr indent="0" marL="0">
              <a:lnSpc>
                <a:spcPct val="112000"/>
              </a:lnSpc>
              <a:buNone/>
            </a:pPr>
            <a:r>
              <a:rPr lang="en-US" sz="2200" dirty="0">
                <a:solidFill>
                  <a:srgbClr val="3A342E"/>
                </a:solidFill>
                <a:latin typeface="Calibri" pitchFamily="34" charset="0"/>
                <a:ea typeface="Calibri" pitchFamily="34" charset="-122"/>
                <a:cs typeface="Calibri" pitchFamily="34" charset="-120"/>
              </a:rPr>
              <a:t>Create two lists this week.</a:t>
            </a:r>
            <a:endParaRPr lang="en-US" sz="2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4E5B44"/>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4E5B44"/>
          </a:solidFill>
          <a:ln/>
        </p:spPr>
      </p:sp>
      <p:pic>
        <p:nvPicPr>
          <p:cNvPr id="3" name="Image 0" descr="preencoded.png">    </p:cNvPr>
          <p:cNvPicPr>
            <a:picLocks noChangeAspect="1"/>
          </p:cNvPicPr>
          <p:nvPr/>
        </p:nvPicPr>
        <p:blipFill>
          <a:blip r:embed="rId1"/>
          <a:stretch>
            <a:fillRect/>
          </a:stretch>
        </p:blipFill>
        <p:spPr>
          <a:xfrm>
            <a:off x="5440680" y="1737360"/>
            <a:ext cx="1280160" cy="1280160"/>
          </a:xfrm>
          <a:prstGeom prst="rect">
            <a:avLst/>
          </a:prstGeom>
        </p:spPr>
      </p:pic>
      <p:sp>
        <p:nvSpPr>
          <p:cNvPr id="4" name="Text 1"/>
          <p:cNvSpPr/>
          <p:nvPr/>
        </p:nvSpPr>
        <p:spPr>
          <a:xfrm>
            <a:off x="0" y="3246120"/>
            <a:ext cx="12161520" cy="457200"/>
          </a:xfrm>
          <a:prstGeom prst="rect">
            <a:avLst/>
          </a:prstGeom>
          <a:noFill/>
          <a:ln/>
        </p:spPr>
        <p:txBody>
          <a:bodyPr wrap="square" rtlCol="0" anchor="ctr"/>
          <a:lstStyle/>
          <a:p>
            <a:pPr algn="ctr" indent="0" marL="0">
              <a:buNone/>
            </a:pPr>
            <a:r>
              <a:rPr lang="en-US" sz="1600" b="1" spc="200" kern="0" dirty="0">
                <a:solidFill>
                  <a:srgbClr val="C9A15A"/>
                </a:solidFill>
                <a:latin typeface="Calibri" pitchFamily="34" charset="0"/>
                <a:ea typeface="Calibri" pitchFamily="34" charset="-122"/>
                <a:cs typeface="Calibri" pitchFamily="34" charset="-120"/>
              </a:rPr>
              <a:t>Chapter 13</a:t>
            </a:r>
            <a:endParaRPr lang="en-US" sz="1600" dirty="0"/>
          </a:p>
        </p:txBody>
      </p:sp>
      <p:sp>
        <p:nvSpPr>
          <p:cNvPr id="5" name="Text 2"/>
          <p:cNvSpPr/>
          <p:nvPr/>
        </p:nvSpPr>
        <p:spPr>
          <a:xfrm>
            <a:off x="914400" y="3657600"/>
            <a:ext cx="10332720" cy="1005840"/>
          </a:xfrm>
          <a:prstGeom prst="rect">
            <a:avLst/>
          </a:prstGeom>
          <a:noFill/>
          <a:ln/>
        </p:spPr>
        <p:txBody>
          <a:bodyPr wrap="square" rtlCol="0" anchor="t"/>
          <a:lstStyle/>
          <a:p>
            <a:pPr algn="ctr" indent="0" marL="0">
              <a:lnSpc>
                <a:spcPct val="98000"/>
              </a:lnSpc>
              <a:buNone/>
            </a:pPr>
            <a:r>
              <a:rPr lang="en-US" sz="4000" b="1" dirty="0">
                <a:solidFill>
                  <a:srgbClr val="FBF7F0"/>
                </a:solidFill>
                <a:latin typeface="Bookman Old Style" pitchFamily="34" charset="0"/>
                <a:ea typeface="Bookman Old Style" pitchFamily="34" charset="-122"/>
                <a:cs typeface="Bookman Old Style" pitchFamily="34" charset="-120"/>
              </a:rPr>
              <a:t>Hope Beyond the Machine</a:t>
            </a:r>
            <a:endParaRPr lang="en-US" sz="4000" dirty="0"/>
          </a:p>
        </p:txBody>
      </p:sp>
      <p:sp>
        <p:nvSpPr>
          <p:cNvPr id="6" name="Text 3"/>
          <p:cNvSpPr/>
          <p:nvPr/>
        </p:nvSpPr>
        <p:spPr>
          <a:xfrm>
            <a:off x="1371600" y="4892040"/>
            <a:ext cx="9418320" cy="822960"/>
          </a:xfrm>
          <a:prstGeom prst="rect">
            <a:avLst/>
          </a:prstGeom>
          <a:noFill/>
          <a:ln/>
        </p:spPr>
        <p:txBody>
          <a:bodyPr wrap="square" rtlCol="0" anchor="ctr"/>
          <a:lstStyle/>
          <a:p>
            <a:pPr algn="ctr" indent="0" marL="0">
              <a:buNone/>
            </a:pPr>
            <a:r>
              <a:rPr lang="en-US" sz="1800" i="1" dirty="0">
                <a:solidFill>
                  <a:srgbClr val="E7E8D1"/>
                </a:solidFill>
                <a:latin typeface="Bookman Old Style" pitchFamily="34" charset="0"/>
                <a:ea typeface="Bookman Old Style" pitchFamily="34" charset="-122"/>
                <a:cs typeface="Bookman Old Style" pitchFamily="34" charset="-120"/>
              </a:rPr>
              <a:t>Technology will keep changing.  The wisdom to navigate it faithfully will not.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Divine Design for the Digital Age — Chapter 13</dc:title>
  <dc:subject>PptxGenJS Presentation</dc:subject>
  <dc:creator>Rod Trent</dc:creator>
  <cp:lastModifiedBy>Rod Trent</cp:lastModifiedBy>
  <cp:revision>1</cp:revision>
  <dcterms:created xsi:type="dcterms:W3CDTF">2026-07-03T18:17:19Z</dcterms:created>
  <dcterms:modified xsi:type="dcterms:W3CDTF">2026-07-03T18:17:19Z</dcterms:modified>
</cp:coreProperties>
</file>