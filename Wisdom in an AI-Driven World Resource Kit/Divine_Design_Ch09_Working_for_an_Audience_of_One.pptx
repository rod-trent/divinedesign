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9: Working for an Audience of One. Open by welcoming the group and reading the key scripture, Colossians 3:23–24 (ESV), aloud together. Set the theme for this session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group a quick map of the session. You don't need to read every item — just show the arc from opening idea to reflection, prayer, and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passage slowly, perhaps twice. Ask: what stands out to you here? Let a few people respond before you begin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Invisible Workplace. Work was once visible — a planted field, a finished wall. Now much of it is invisible, which changes the temptations we face.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Who Are You Really Working For?. Every workplace layers on expectations — managers, metrics, quotas. Beneath them lies a deeper question: who are you really serving?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Problem with Human Approval. Human approval is unstable ground. Praise comes and goes for reasons unrelated to our work, and building on it exhausts us.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Productivity as a False Gospel. The workplace preaches a quiet sermon: you are what you produce. It is a false gospel that cannot bear the weight of a soul.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Integrity When Nobody Is Watching. Remote work removed the built-in oversight of shared walls. Integrity now depends on who we are when no one is watching.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Digital Temptations in the Workplace. Technology gave old workplace temptations new, convenient forms — from padded time to quiet dishonesty a click away.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Excellence Is an Act of Worship. There is no hierarchy of holy work. The programmer and accountant can worship through excellence as truly as the pastor.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Artificial Intelligence and Workplace Stewardship. AI can now draft, summarize, and code in minutes. The question is not whether to use it, but how to steward it faithfully.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Working in a Culture of Burnout. Many live under a pressure that never lifts, the workday bleeding into all of life. Burnout is a stewardship problem, not a badge.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Faithfulness Versus Fame. Culture celebrates being seen. But God measures faithfulness, not visibility — the quiet, unwitnessed work still counts.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Daily Offering. Paul calls us to be living sacrifices — an offering made continually, climbing off the altar only to return to it again.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Audience That Matters Most. One day the scoreboard switches off. Reviews and metrics will not matter — only whether we worked for an audience of One.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two or three of these to discuss rather than rushing all of them. Leave silence after each — the best answers often come after a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teaching portion by praying this together, or invite someone to read it aloud. Feel free to add the group's own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everyone to commit to this challenge before the next session. You might ask people to share how it went when you gather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by restating the one idea you most want people to remember, then point ahead to the next chapter in the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0" y="5257800"/>
            <a:ext cx="12161520" cy="1600200"/>
          </a:xfrm>
          <a:prstGeom prst="rect">
            <a:avLst/>
          </a:prstGeom>
          <a:solidFill>
            <a:srgbClr val="8F3B30"/>
          </a:solidFill>
          <a:ln/>
        </p:spPr>
      </p:sp>
      <p:sp>
        <p:nvSpPr>
          <p:cNvPr id="4" name="Shape 2"/>
          <p:cNvSpPr/>
          <p:nvPr/>
        </p:nvSpPr>
        <p:spPr>
          <a:xfrm>
            <a:off x="9326880" y="640080"/>
            <a:ext cx="1965960" cy="1965960"/>
          </a:xfrm>
          <a:prstGeom prst="ellipse">
            <a:avLst/>
          </a:prstGeom>
          <a:solidFill>
            <a:srgbClr val="8F3B30"/>
          </a:solidFill>
          <a:ln w="19050">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9765792" y="1078992"/>
            <a:ext cx="1097280" cy="1097280"/>
          </a:xfrm>
          <a:prstGeom prst="rect">
            <a:avLst/>
          </a:prstGeom>
        </p:spPr>
      </p:pic>
      <p:sp>
        <p:nvSpPr>
          <p:cNvPr id="6" name="Text 3"/>
          <p:cNvSpPr/>
          <p:nvPr/>
        </p:nvSpPr>
        <p:spPr>
          <a:xfrm>
            <a:off x="822960" y="1051560"/>
            <a:ext cx="8686800" cy="365760"/>
          </a:xfrm>
          <a:prstGeom prst="rect">
            <a:avLst/>
          </a:prstGeom>
          <a:noFill/>
          <a:ln/>
        </p:spPr>
        <p:txBody>
          <a:bodyPr wrap="square" rtlCol="0" anchor="ctr"/>
          <a:lstStyle/>
          <a:p>
            <a:pPr indent="0" marL="0">
              <a:buNone/>
            </a:pPr>
            <a:r>
              <a:rPr lang="en-US" sz="1400" b="1" spc="300" kern="0" dirty="0">
                <a:solidFill>
                  <a:srgbClr val="E7E8D1"/>
                </a:solidFill>
                <a:latin typeface="Calibri" pitchFamily="34" charset="0"/>
                <a:ea typeface="Calibri" pitchFamily="34" charset="-122"/>
                <a:cs typeface="Calibri" pitchFamily="34" charset="-120"/>
              </a:rPr>
              <a:t>DIVINE DESIGN FOR THE DIGITAL AGE</a:t>
            </a:r>
            <a:endParaRPr lang="en-US" sz="1400" dirty="0"/>
          </a:p>
        </p:txBody>
      </p:sp>
      <p:sp>
        <p:nvSpPr>
          <p:cNvPr id="7" name="Text 4"/>
          <p:cNvSpPr/>
          <p:nvPr/>
        </p:nvSpPr>
        <p:spPr>
          <a:xfrm>
            <a:off x="822960" y="1371600"/>
            <a:ext cx="8686800" cy="320040"/>
          </a:xfrm>
          <a:prstGeom prst="rect">
            <a:avLst/>
          </a:prstGeom>
          <a:noFill/>
          <a:ln/>
        </p:spPr>
        <p:txBody>
          <a:bodyPr wrap="square" rtlCol="0" anchor="ctr"/>
          <a:lstStyle/>
          <a:p>
            <a:pPr indent="0" marL="0">
              <a:buNone/>
            </a:pPr>
            <a:r>
              <a:rPr lang="en-US" sz="1300" i="1" dirty="0">
                <a:solidFill>
                  <a:srgbClr val="C9A15A"/>
                </a:solidFill>
                <a:latin typeface="Calibri" pitchFamily="34" charset="0"/>
                <a:ea typeface="Calibri" pitchFamily="34" charset="-122"/>
                <a:cs typeface="Calibri" pitchFamily="34" charset="-120"/>
              </a:rPr>
              <a:t>A Talk &amp; Discussion Series</a:t>
            </a:r>
            <a:endParaRPr lang="en-US" sz="1300" dirty="0"/>
          </a:p>
        </p:txBody>
      </p:sp>
      <p:sp>
        <p:nvSpPr>
          <p:cNvPr id="8" name="Text 5"/>
          <p:cNvSpPr/>
          <p:nvPr/>
        </p:nvSpPr>
        <p:spPr>
          <a:xfrm>
            <a:off x="822960" y="2331720"/>
            <a:ext cx="8229600" cy="640080"/>
          </a:xfrm>
          <a:prstGeom prst="rect">
            <a:avLst/>
          </a:prstGeom>
          <a:noFill/>
          <a:ln/>
        </p:spPr>
        <p:txBody>
          <a:bodyPr wrap="square" rtlCol="0" anchor="ctr"/>
          <a:lstStyle/>
          <a:p>
            <a:pPr indent="0" marL="0">
              <a:buNone/>
            </a:pPr>
            <a:r>
              <a:rPr lang="en-US" sz="3000" b="1" dirty="0">
                <a:solidFill>
                  <a:srgbClr val="C9A15A"/>
                </a:solidFill>
                <a:latin typeface="Bookman Old Style" pitchFamily="34" charset="0"/>
                <a:ea typeface="Bookman Old Style" pitchFamily="34" charset="-122"/>
                <a:cs typeface="Bookman Old Style" pitchFamily="34" charset="-120"/>
              </a:rPr>
              <a:t>Chapter 9</a:t>
            </a:r>
            <a:endParaRPr lang="en-US" sz="3000" dirty="0"/>
          </a:p>
        </p:txBody>
      </p:sp>
      <p:sp>
        <p:nvSpPr>
          <p:cNvPr id="9" name="Text 6"/>
          <p:cNvSpPr/>
          <p:nvPr/>
        </p:nvSpPr>
        <p:spPr>
          <a:xfrm>
            <a:off x="777240" y="2880360"/>
            <a:ext cx="10424160" cy="1828800"/>
          </a:xfrm>
          <a:prstGeom prst="rect">
            <a:avLst/>
          </a:prstGeom>
          <a:noFill/>
          <a:ln/>
        </p:spPr>
        <p:txBody>
          <a:bodyPr wrap="square" rtlCol="0" anchor="t"/>
          <a:lstStyle/>
          <a:p>
            <a:pPr indent="0" marL="0">
              <a:lnSpc>
                <a:spcPct val="95000"/>
              </a:lnSpc>
              <a:buNone/>
            </a:pPr>
            <a:r>
              <a:rPr lang="en-US" sz="5200" b="1" dirty="0">
                <a:solidFill>
                  <a:srgbClr val="FBF7F0"/>
                </a:solidFill>
                <a:latin typeface="Bookman Old Style" pitchFamily="34" charset="0"/>
                <a:ea typeface="Bookman Old Style" pitchFamily="34" charset="-122"/>
                <a:cs typeface="Bookman Old Style" pitchFamily="34" charset="-120"/>
              </a:rPr>
              <a:t>Working for an Audience of One</a:t>
            </a:r>
            <a:endParaRPr lang="en-US" sz="5200" dirty="0"/>
          </a:p>
        </p:txBody>
      </p:sp>
      <p:pic>
        <p:nvPicPr>
          <p:cNvPr id="10" name="Image 1" descr="preencoded.png">    </p:cNvPr>
          <p:cNvPicPr>
            <a:picLocks noChangeAspect="1"/>
          </p:cNvPicPr>
          <p:nvPr/>
        </p:nvPicPr>
        <p:blipFill>
          <a:blip r:embed="rId2"/>
          <a:stretch>
            <a:fillRect/>
          </a:stretch>
        </p:blipFill>
        <p:spPr>
          <a:xfrm>
            <a:off x="868680" y="5623560"/>
            <a:ext cx="457200" cy="457200"/>
          </a:xfrm>
          <a:prstGeom prst="rect">
            <a:avLst/>
          </a:prstGeom>
        </p:spPr>
      </p:pic>
      <p:sp>
        <p:nvSpPr>
          <p:cNvPr id="11" name="Text 7"/>
          <p:cNvSpPr/>
          <p:nvPr/>
        </p:nvSpPr>
        <p:spPr>
          <a:xfrm>
            <a:off x="1463040" y="5623560"/>
            <a:ext cx="10058400" cy="457200"/>
          </a:xfrm>
          <a:prstGeom prst="rect">
            <a:avLst/>
          </a:prstGeom>
          <a:noFill/>
          <a:ln/>
        </p:spPr>
        <p:txBody>
          <a:bodyPr wrap="square" rtlCol="0" anchor="ctr"/>
          <a:lstStyle/>
          <a:p>
            <a:pPr indent="0" marL="0">
              <a:buNone/>
            </a:pPr>
            <a:r>
              <a:rPr lang="en-US" sz="1600" b="1" dirty="0">
                <a:solidFill>
                  <a:srgbClr val="E7E8D1"/>
                </a:solidFill>
                <a:latin typeface="Calibri" pitchFamily="34" charset="0"/>
                <a:ea typeface="Calibri" pitchFamily="34" charset="-122"/>
                <a:cs typeface="Calibri" pitchFamily="34" charset="-120"/>
              </a:rPr>
              <a:t>Key Scripture   </a:t>
            </a:r>
            <a:pPr indent="0" marL="0">
              <a:buNone/>
            </a:pPr>
            <a:r>
              <a:rPr lang="en-US" sz="1600" i="1" dirty="0">
                <a:solidFill>
                  <a:srgbClr val="FBF7F0"/>
                </a:solidFill>
                <a:latin typeface="Calibri" pitchFamily="34" charset="0"/>
                <a:ea typeface="Calibri" pitchFamily="34" charset="-122"/>
                <a:cs typeface="Calibri" pitchFamily="34" charset="-120"/>
              </a:rPr>
              <a:t>Colossians 3:23–24 (ESV)</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In This Session</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What we'll walk through together</a:t>
            </a:r>
            <a:endParaRPr lang="en-US" sz="1500" dirty="0"/>
          </a:p>
        </p:txBody>
      </p:sp>
      <p:sp>
        <p:nvSpPr>
          <p:cNvPr id="6" name="Shape 3"/>
          <p:cNvSpPr/>
          <p:nvPr/>
        </p:nvSpPr>
        <p:spPr>
          <a:xfrm>
            <a:off x="868680" y="1783080"/>
            <a:ext cx="457200" cy="457200"/>
          </a:xfrm>
          <a:prstGeom prst="ellipse">
            <a:avLst/>
          </a:prstGeom>
          <a:solidFill>
            <a:srgbClr val="6B7A5E"/>
          </a:solidFill>
          <a:ln/>
        </p:spPr>
      </p:sp>
      <p:sp>
        <p:nvSpPr>
          <p:cNvPr id="7" name="Text 4"/>
          <p:cNvSpPr/>
          <p:nvPr/>
        </p:nvSpPr>
        <p:spPr>
          <a:xfrm>
            <a:off x="868680" y="178308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a:t>
            </a:r>
            <a:endParaRPr lang="en-US" sz="1500" dirty="0"/>
          </a:p>
        </p:txBody>
      </p:sp>
      <p:sp>
        <p:nvSpPr>
          <p:cNvPr id="8" name="Text 5"/>
          <p:cNvSpPr/>
          <p:nvPr/>
        </p:nvSpPr>
        <p:spPr>
          <a:xfrm>
            <a:off x="1527048" y="175564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Invisible Workplace</a:t>
            </a:r>
            <a:endParaRPr lang="en-US" sz="1500" dirty="0"/>
          </a:p>
        </p:txBody>
      </p:sp>
      <p:sp>
        <p:nvSpPr>
          <p:cNvPr id="9" name="Shape 6"/>
          <p:cNvSpPr/>
          <p:nvPr/>
        </p:nvSpPr>
        <p:spPr>
          <a:xfrm>
            <a:off x="868680" y="2441448"/>
            <a:ext cx="457200" cy="457200"/>
          </a:xfrm>
          <a:prstGeom prst="ellipse">
            <a:avLst/>
          </a:prstGeom>
          <a:solidFill>
            <a:srgbClr val="6B7A5E"/>
          </a:solidFill>
          <a:ln/>
        </p:spPr>
      </p:sp>
      <p:sp>
        <p:nvSpPr>
          <p:cNvPr id="10" name="Text 7"/>
          <p:cNvSpPr/>
          <p:nvPr/>
        </p:nvSpPr>
        <p:spPr>
          <a:xfrm>
            <a:off x="868680" y="2441448"/>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2</a:t>
            </a:r>
            <a:endParaRPr lang="en-US" sz="1500" dirty="0"/>
          </a:p>
        </p:txBody>
      </p:sp>
      <p:sp>
        <p:nvSpPr>
          <p:cNvPr id="11" name="Text 8"/>
          <p:cNvSpPr/>
          <p:nvPr/>
        </p:nvSpPr>
        <p:spPr>
          <a:xfrm>
            <a:off x="1527048" y="2414016"/>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Who Are You Really Working For?</a:t>
            </a:r>
            <a:endParaRPr lang="en-US" sz="1500" dirty="0"/>
          </a:p>
        </p:txBody>
      </p:sp>
      <p:sp>
        <p:nvSpPr>
          <p:cNvPr id="12" name="Shape 9"/>
          <p:cNvSpPr/>
          <p:nvPr/>
        </p:nvSpPr>
        <p:spPr>
          <a:xfrm>
            <a:off x="868680" y="3099816"/>
            <a:ext cx="457200" cy="457200"/>
          </a:xfrm>
          <a:prstGeom prst="ellipse">
            <a:avLst/>
          </a:prstGeom>
          <a:solidFill>
            <a:srgbClr val="6B7A5E"/>
          </a:solidFill>
          <a:ln/>
        </p:spPr>
      </p:sp>
      <p:sp>
        <p:nvSpPr>
          <p:cNvPr id="13" name="Text 10"/>
          <p:cNvSpPr/>
          <p:nvPr/>
        </p:nvSpPr>
        <p:spPr>
          <a:xfrm>
            <a:off x="868680" y="3099816"/>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3</a:t>
            </a:r>
            <a:endParaRPr lang="en-US" sz="1500" dirty="0"/>
          </a:p>
        </p:txBody>
      </p:sp>
      <p:sp>
        <p:nvSpPr>
          <p:cNvPr id="14" name="Text 11"/>
          <p:cNvSpPr/>
          <p:nvPr/>
        </p:nvSpPr>
        <p:spPr>
          <a:xfrm>
            <a:off x="1527048" y="3072384"/>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Problem with Human Approval</a:t>
            </a:r>
            <a:endParaRPr lang="en-US" sz="1500" dirty="0"/>
          </a:p>
        </p:txBody>
      </p:sp>
      <p:sp>
        <p:nvSpPr>
          <p:cNvPr id="15" name="Shape 12"/>
          <p:cNvSpPr/>
          <p:nvPr/>
        </p:nvSpPr>
        <p:spPr>
          <a:xfrm>
            <a:off x="868680" y="3758184"/>
            <a:ext cx="457200" cy="457200"/>
          </a:xfrm>
          <a:prstGeom prst="ellipse">
            <a:avLst/>
          </a:prstGeom>
          <a:solidFill>
            <a:srgbClr val="6B7A5E"/>
          </a:solidFill>
          <a:ln/>
        </p:spPr>
      </p:sp>
      <p:sp>
        <p:nvSpPr>
          <p:cNvPr id="16" name="Text 13"/>
          <p:cNvSpPr/>
          <p:nvPr/>
        </p:nvSpPr>
        <p:spPr>
          <a:xfrm>
            <a:off x="868680" y="3758184"/>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4</a:t>
            </a:r>
            <a:endParaRPr lang="en-US" sz="1500" dirty="0"/>
          </a:p>
        </p:txBody>
      </p:sp>
      <p:sp>
        <p:nvSpPr>
          <p:cNvPr id="17" name="Text 14"/>
          <p:cNvSpPr/>
          <p:nvPr/>
        </p:nvSpPr>
        <p:spPr>
          <a:xfrm>
            <a:off x="1527048" y="3730752"/>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Productivity as a False Gospel</a:t>
            </a:r>
            <a:endParaRPr lang="en-US" sz="1500" dirty="0"/>
          </a:p>
        </p:txBody>
      </p:sp>
      <p:sp>
        <p:nvSpPr>
          <p:cNvPr id="18" name="Shape 15"/>
          <p:cNvSpPr/>
          <p:nvPr/>
        </p:nvSpPr>
        <p:spPr>
          <a:xfrm>
            <a:off x="868680" y="4416552"/>
            <a:ext cx="457200" cy="457200"/>
          </a:xfrm>
          <a:prstGeom prst="ellipse">
            <a:avLst/>
          </a:prstGeom>
          <a:solidFill>
            <a:srgbClr val="6B7A5E"/>
          </a:solidFill>
          <a:ln/>
        </p:spPr>
      </p:sp>
      <p:sp>
        <p:nvSpPr>
          <p:cNvPr id="19" name="Text 16"/>
          <p:cNvSpPr/>
          <p:nvPr/>
        </p:nvSpPr>
        <p:spPr>
          <a:xfrm>
            <a:off x="868680" y="4416552"/>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5</a:t>
            </a:r>
            <a:endParaRPr lang="en-US" sz="1500" dirty="0"/>
          </a:p>
        </p:txBody>
      </p:sp>
      <p:sp>
        <p:nvSpPr>
          <p:cNvPr id="20" name="Text 17"/>
          <p:cNvSpPr/>
          <p:nvPr/>
        </p:nvSpPr>
        <p:spPr>
          <a:xfrm>
            <a:off x="1527048" y="4389120"/>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Integrity When Nobody Is Watching</a:t>
            </a:r>
            <a:endParaRPr lang="en-US" sz="1500" dirty="0"/>
          </a:p>
        </p:txBody>
      </p:sp>
      <p:sp>
        <p:nvSpPr>
          <p:cNvPr id="21" name="Shape 18"/>
          <p:cNvSpPr/>
          <p:nvPr/>
        </p:nvSpPr>
        <p:spPr>
          <a:xfrm>
            <a:off x="868680" y="5074920"/>
            <a:ext cx="457200" cy="457200"/>
          </a:xfrm>
          <a:prstGeom prst="ellipse">
            <a:avLst/>
          </a:prstGeom>
          <a:solidFill>
            <a:srgbClr val="6B7A5E"/>
          </a:solidFill>
          <a:ln/>
        </p:spPr>
      </p:sp>
      <p:sp>
        <p:nvSpPr>
          <p:cNvPr id="22" name="Text 19"/>
          <p:cNvSpPr/>
          <p:nvPr/>
        </p:nvSpPr>
        <p:spPr>
          <a:xfrm>
            <a:off x="868680" y="507492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6</a:t>
            </a:r>
            <a:endParaRPr lang="en-US" sz="1500" dirty="0"/>
          </a:p>
        </p:txBody>
      </p:sp>
      <p:sp>
        <p:nvSpPr>
          <p:cNvPr id="23" name="Text 20"/>
          <p:cNvSpPr/>
          <p:nvPr/>
        </p:nvSpPr>
        <p:spPr>
          <a:xfrm>
            <a:off x="1527048" y="504748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Digital Temptations in the Workplace</a:t>
            </a:r>
            <a:endParaRPr lang="en-US" sz="1500" dirty="0"/>
          </a:p>
        </p:txBody>
      </p:sp>
      <p:sp>
        <p:nvSpPr>
          <p:cNvPr id="24" name="Shape 21"/>
          <p:cNvSpPr/>
          <p:nvPr/>
        </p:nvSpPr>
        <p:spPr>
          <a:xfrm>
            <a:off x="6355080" y="1783080"/>
            <a:ext cx="457200" cy="457200"/>
          </a:xfrm>
          <a:prstGeom prst="ellipse">
            <a:avLst/>
          </a:prstGeom>
          <a:solidFill>
            <a:srgbClr val="6B7A5E"/>
          </a:solidFill>
          <a:ln/>
        </p:spPr>
      </p:sp>
      <p:sp>
        <p:nvSpPr>
          <p:cNvPr id="25" name="Text 22"/>
          <p:cNvSpPr/>
          <p:nvPr/>
        </p:nvSpPr>
        <p:spPr>
          <a:xfrm>
            <a:off x="6355080" y="178308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7</a:t>
            </a:r>
            <a:endParaRPr lang="en-US" sz="1500" dirty="0"/>
          </a:p>
        </p:txBody>
      </p:sp>
      <p:sp>
        <p:nvSpPr>
          <p:cNvPr id="26" name="Text 23"/>
          <p:cNvSpPr/>
          <p:nvPr/>
        </p:nvSpPr>
        <p:spPr>
          <a:xfrm>
            <a:off x="7013448" y="175564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Excellence Is an Act of Worship</a:t>
            </a:r>
            <a:endParaRPr lang="en-US" sz="1500" dirty="0"/>
          </a:p>
        </p:txBody>
      </p:sp>
      <p:sp>
        <p:nvSpPr>
          <p:cNvPr id="27" name="Shape 24"/>
          <p:cNvSpPr/>
          <p:nvPr/>
        </p:nvSpPr>
        <p:spPr>
          <a:xfrm>
            <a:off x="6355080" y="2441448"/>
            <a:ext cx="457200" cy="457200"/>
          </a:xfrm>
          <a:prstGeom prst="ellipse">
            <a:avLst/>
          </a:prstGeom>
          <a:solidFill>
            <a:srgbClr val="6B7A5E"/>
          </a:solidFill>
          <a:ln/>
        </p:spPr>
      </p:sp>
      <p:sp>
        <p:nvSpPr>
          <p:cNvPr id="28" name="Text 25"/>
          <p:cNvSpPr/>
          <p:nvPr/>
        </p:nvSpPr>
        <p:spPr>
          <a:xfrm>
            <a:off x="6355080" y="2441448"/>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8</a:t>
            </a:r>
            <a:endParaRPr lang="en-US" sz="1500" dirty="0"/>
          </a:p>
        </p:txBody>
      </p:sp>
      <p:sp>
        <p:nvSpPr>
          <p:cNvPr id="29" name="Text 26"/>
          <p:cNvSpPr/>
          <p:nvPr/>
        </p:nvSpPr>
        <p:spPr>
          <a:xfrm>
            <a:off x="7013448" y="2414016"/>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Artificial Intelligence and Workplace Stewardship</a:t>
            </a:r>
            <a:endParaRPr lang="en-US" sz="1500" dirty="0"/>
          </a:p>
        </p:txBody>
      </p:sp>
      <p:sp>
        <p:nvSpPr>
          <p:cNvPr id="30" name="Shape 27"/>
          <p:cNvSpPr/>
          <p:nvPr/>
        </p:nvSpPr>
        <p:spPr>
          <a:xfrm>
            <a:off x="6355080" y="3099816"/>
            <a:ext cx="457200" cy="457200"/>
          </a:xfrm>
          <a:prstGeom prst="ellipse">
            <a:avLst/>
          </a:prstGeom>
          <a:solidFill>
            <a:srgbClr val="6B7A5E"/>
          </a:solidFill>
          <a:ln/>
        </p:spPr>
      </p:sp>
      <p:sp>
        <p:nvSpPr>
          <p:cNvPr id="31" name="Text 28"/>
          <p:cNvSpPr/>
          <p:nvPr/>
        </p:nvSpPr>
        <p:spPr>
          <a:xfrm>
            <a:off x="6355080" y="3099816"/>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9</a:t>
            </a:r>
            <a:endParaRPr lang="en-US" sz="1500" dirty="0"/>
          </a:p>
        </p:txBody>
      </p:sp>
      <p:sp>
        <p:nvSpPr>
          <p:cNvPr id="32" name="Text 29"/>
          <p:cNvSpPr/>
          <p:nvPr/>
        </p:nvSpPr>
        <p:spPr>
          <a:xfrm>
            <a:off x="7013448" y="3072384"/>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Working in a Culture of Burnout</a:t>
            </a:r>
            <a:endParaRPr lang="en-US" sz="1500" dirty="0"/>
          </a:p>
        </p:txBody>
      </p:sp>
      <p:sp>
        <p:nvSpPr>
          <p:cNvPr id="33" name="Shape 30"/>
          <p:cNvSpPr/>
          <p:nvPr/>
        </p:nvSpPr>
        <p:spPr>
          <a:xfrm>
            <a:off x="6355080" y="3758184"/>
            <a:ext cx="457200" cy="457200"/>
          </a:xfrm>
          <a:prstGeom prst="ellipse">
            <a:avLst/>
          </a:prstGeom>
          <a:solidFill>
            <a:srgbClr val="6B7A5E"/>
          </a:solidFill>
          <a:ln/>
        </p:spPr>
      </p:sp>
      <p:sp>
        <p:nvSpPr>
          <p:cNvPr id="34" name="Text 31"/>
          <p:cNvSpPr/>
          <p:nvPr/>
        </p:nvSpPr>
        <p:spPr>
          <a:xfrm>
            <a:off x="6355080" y="3758184"/>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10</a:t>
            </a:r>
            <a:endParaRPr lang="en-US" sz="1500" dirty="0"/>
          </a:p>
        </p:txBody>
      </p:sp>
      <p:sp>
        <p:nvSpPr>
          <p:cNvPr id="35" name="Text 32"/>
          <p:cNvSpPr/>
          <p:nvPr/>
        </p:nvSpPr>
        <p:spPr>
          <a:xfrm>
            <a:off x="7013448" y="3730752"/>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Faithfulness Versus Fame</a:t>
            </a:r>
            <a:endParaRPr lang="en-US" sz="1500" dirty="0"/>
          </a:p>
        </p:txBody>
      </p:sp>
      <p:sp>
        <p:nvSpPr>
          <p:cNvPr id="36" name="Shape 33"/>
          <p:cNvSpPr/>
          <p:nvPr/>
        </p:nvSpPr>
        <p:spPr>
          <a:xfrm>
            <a:off x="6355080" y="4416552"/>
            <a:ext cx="457200" cy="457200"/>
          </a:xfrm>
          <a:prstGeom prst="ellipse">
            <a:avLst/>
          </a:prstGeom>
          <a:solidFill>
            <a:srgbClr val="6B7A5E"/>
          </a:solidFill>
          <a:ln/>
        </p:spPr>
      </p:sp>
      <p:sp>
        <p:nvSpPr>
          <p:cNvPr id="37" name="Text 34"/>
          <p:cNvSpPr/>
          <p:nvPr/>
        </p:nvSpPr>
        <p:spPr>
          <a:xfrm>
            <a:off x="6355080" y="4416552"/>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11</a:t>
            </a:r>
            <a:endParaRPr lang="en-US" sz="1500" dirty="0"/>
          </a:p>
        </p:txBody>
      </p:sp>
      <p:sp>
        <p:nvSpPr>
          <p:cNvPr id="38" name="Text 35"/>
          <p:cNvSpPr/>
          <p:nvPr/>
        </p:nvSpPr>
        <p:spPr>
          <a:xfrm>
            <a:off x="7013448" y="4389120"/>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Daily Offering</a:t>
            </a:r>
            <a:endParaRPr lang="en-US" sz="1500" dirty="0"/>
          </a:p>
        </p:txBody>
      </p:sp>
      <p:sp>
        <p:nvSpPr>
          <p:cNvPr id="39" name="Shape 36"/>
          <p:cNvSpPr/>
          <p:nvPr/>
        </p:nvSpPr>
        <p:spPr>
          <a:xfrm>
            <a:off x="6355080" y="5074920"/>
            <a:ext cx="457200" cy="457200"/>
          </a:xfrm>
          <a:prstGeom prst="ellipse">
            <a:avLst/>
          </a:prstGeom>
          <a:solidFill>
            <a:srgbClr val="6B7A5E"/>
          </a:solidFill>
          <a:ln/>
        </p:spPr>
      </p:sp>
      <p:sp>
        <p:nvSpPr>
          <p:cNvPr id="40" name="Text 37"/>
          <p:cNvSpPr/>
          <p:nvPr/>
        </p:nvSpPr>
        <p:spPr>
          <a:xfrm>
            <a:off x="6355080" y="507492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12</a:t>
            </a:r>
            <a:endParaRPr lang="en-US" sz="1500" dirty="0"/>
          </a:p>
        </p:txBody>
      </p:sp>
      <p:sp>
        <p:nvSpPr>
          <p:cNvPr id="41" name="Text 38"/>
          <p:cNvSpPr/>
          <p:nvPr/>
        </p:nvSpPr>
        <p:spPr>
          <a:xfrm>
            <a:off x="7013448" y="504748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Audience That Matters Most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4E5B44"/>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4E5B44"/>
          </a:solidFill>
          <a:ln/>
        </p:spPr>
      </p:sp>
      <p:pic>
        <p:nvPicPr>
          <p:cNvPr id="3" name="Image 0" descr="preencoded.png">    </p:cNvPr>
          <p:cNvPicPr>
            <a:picLocks noChangeAspect="1"/>
          </p:cNvPicPr>
          <p:nvPr/>
        </p:nvPicPr>
        <p:blipFill>
          <a:blip r:embed="rId1"/>
          <a:stretch>
            <a:fillRect/>
          </a:stretch>
        </p:blipFill>
        <p:spPr>
          <a:xfrm>
            <a:off x="822960" y="731520"/>
            <a:ext cx="914400" cy="914400"/>
          </a:xfrm>
          <a:prstGeom prst="rect">
            <a:avLst/>
          </a:prstGeom>
        </p:spPr>
      </p:pic>
      <p:sp>
        <p:nvSpPr>
          <p:cNvPr id="4" name="Text 1"/>
          <p:cNvSpPr/>
          <p:nvPr/>
        </p:nvSpPr>
        <p:spPr>
          <a:xfrm>
            <a:off x="1874520" y="868680"/>
            <a:ext cx="7315200" cy="365760"/>
          </a:xfrm>
          <a:prstGeom prst="rect">
            <a:avLst/>
          </a:prstGeom>
          <a:noFill/>
          <a:ln/>
        </p:spPr>
        <p:txBody>
          <a:bodyPr wrap="square" rtlCol="0" anchor="ctr"/>
          <a:lstStyle/>
          <a:p>
            <a:pPr indent="0" marL="0">
              <a:buNone/>
            </a:pPr>
            <a:r>
              <a:rPr lang="en-US" sz="1500" b="1" spc="300" kern="0" dirty="0">
                <a:solidFill>
                  <a:srgbClr val="E7E8D1"/>
                </a:solidFill>
                <a:latin typeface="Calibri" pitchFamily="34" charset="0"/>
                <a:ea typeface="Calibri" pitchFamily="34" charset="-122"/>
                <a:cs typeface="Calibri" pitchFamily="34" charset="-120"/>
              </a:rPr>
              <a:t>KEY SCRIPTURE</a:t>
            </a:r>
            <a:endParaRPr lang="en-US" sz="1500" dirty="0"/>
          </a:p>
        </p:txBody>
      </p:sp>
      <p:sp>
        <p:nvSpPr>
          <p:cNvPr id="5" name="Text 2"/>
          <p:cNvSpPr/>
          <p:nvPr/>
        </p:nvSpPr>
        <p:spPr>
          <a:xfrm>
            <a:off x="1874520" y="1234440"/>
            <a:ext cx="9144000" cy="457200"/>
          </a:xfrm>
          <a:prstGeom prst="rect">
            <a:avLst/>
          </a:prstGeom>
          <a:noFill/>
          <a:ln/>
        </p:spPr>
        <p:txBody>
          <a:bodyPr wrap="square" rtlCol="0" anchor="ctr"/>
          <a:lstStyle/>
          <a:p>
            <a:pPr indent="0" marL="0">
              <a:buNone/>
            </a:pPr>
            <a:r>
              <a:rPr lang="en-US" sz="2200" b="1" dirty="0">
                <a:solidFill>
                  <a:srgbClr val="C9A15A"/>
                </a:solidFill>
                <a:latin typeface="Bookman Old Style" pitchFamily="34" charset="0"/>
                <a:ea typeface="Bookman Old Style" pitchFamily="34" charset="-122"/>
                <a:cs typeface="Bookman Old Style" pitchFamily="34" charset="-120"/>
              </a:rPr>
              <a:t>Colossians 3:23–24 (ESV)</a:t>
            </a:r>
            <a:endParaRPr lang="en-US" sz="2200" dirty="0"/>
          </a:p>
        </p:txBody>
      </p:sp>
      <p:sp>
        <p:nvSpPr>
          <p:cNvPr id="6" name="Text 3"/>
          <p:cNvSpPr/>
          <p:nvPr/>
        </p:nvSpPr>
        <p:spPr>
          <a:xfrm>
            <a:off x="1280160" y="2194560"/>
            <a:ext cx="9601200" cy="4023360"/>
          </a:xfrm>
          <a:prstGeom prst="rect">
            <a:avLst/>
          </a:prstGeom>
          <a:noFill/>
          <a:ln/>
        </p:spPr>
        <p:txBody>
          <a:bodyPr wrap="square" rtlCol="0" anchor="t"/>
          <a:lstStyle/>
          <a:p>
            <a:pPr indent="0" marL="0">
              <a:lnSpc>
                <a:spcPct val="112000"/>
              </a:lnSpc>
              <a:buNone/>
            </a:pPr>
            <a:r>
              <a:rPr lang="en-US" sz="2400" i="1" dirty="0">
                <a:solidFill>
                  <a:srgbClr val="FBF7F0"/>
                </a:solidFill>
                <a:latin typeface="Bookman Old Style" pitchFamily="34" charset="0"/>
                <a:ea typeface="Bookman Old Style" pitchFamily="34" charset="-122"/>
                <a:cs typeface="Bookman Old Style" pitchFamily="34" charset="-120"/>
              </a:rPr>
              <a:t>"Commit your work to the Lord, and your plans will be established."</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01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Invisible Workplace</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Work was once visible — a planted field, a finished wall. Now much of it is invisible, which changes the temptations we face.</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02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Who Are You Really Working For?</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Every workplace layers on expectations — managers, metrics, quotas. Beneath them lies a deeper question: who are you really serving?</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03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Problem with Human Approval</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Human approval is unstable ground. Praise comes and goes for reasons unrelated to our work, and building on it exhausts us.</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04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Productivity as a False Gospel</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The workplace preaches a quiet sermon: you are what you produce. It is a false gospel that cannot bear the weight of a soul.</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05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Integrity When Nobody Is Watching</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Remote work removed the built-in oversight of shared walls. Integrity now depends on who we are when no one is watching.</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06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Digital Temptations in the Workplace</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Technology gave old workplace temptations new, convenient forms — from padded time to quiet dishonesty a click away.</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07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Excellence Is an Act of Worship</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There is no hierarchy of holy work. The programmer and accountant can worship through excellence as truly as the pastor.</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08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Artificial Intelligence and Workplace Stewardship</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AI can now draft, summarize, and code in minutes. The question is not whether to use it, but how to steward it faithfully.</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09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Working in a Culture of Burnout</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Many live under a pressure that never lifts, the workday bleeding into all of life. Burnout is a stewardship problem, not a badge.</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10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Faithfulness Versus Fame</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Culture celebrates being seen. But God measures faithfulness, not visibility — the quiet, unwitnessed work still counts.</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11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Daily Offering</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Paul calls us to be living sacrifices — an offering made continually, climbing off the altar only to return to it again.</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12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Audience That Matters Most</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One day the scoreboard switches off. Reviews and metrics will not matter — only whether we worked for an audience of One.</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Reflection Questions</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For personal thought or group discussion</a:t>
            </a:r>
            <a:endParaRPr lang="en-US" sz="1500" dirty="0"/>
          </a:p>
        </p:txBody>
      </p:sp>
      <p:sp>
        <p:nvSpPr>
          <p:cNvPr id="6" name="Shape 3"/>
          <p:cNvSpPr/>
          <p:nvPr/>
        </p:nvSpPr>
        <p:spPr>
          <a:xfrm>
            <a:off x="868680" y="1737360"/>
            <a:ext cx="4983480" cy="1143000"/>
          </a:xfrm>
          <a:prstGeom prst="roundRect">
            <a:avLst>
              <a:gd name="adj" fmla="val 72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Text 4"/>
          <p:cNvSpPr/>
          <p:nvPr/>
        </p:nvSpPr>
        <p:spPr>
          <a:xfrm>
            <a:off x="1051560" y="1901952"/>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1</a:t>
            </a:r>
            <a:endParaRPr lang="en-US" sz="2000" dirty="0"/>
          </a:p>
        </p:txBody>
      </p:sp>
      <p:sp>
        <p:nvSpPr>
          <p:cNvPr id="8" name="Text 5"/>
          <p:cNvSpPr/>
          <p:nvPr/>
        </p:nvSpPr>
        <p:spPr>
          <a:xfrm>
            <a:off x="1581912" y="1828800"/>
            <a:ext cx="4114800" cy="9601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Who are you primarily working to please right now, and what does your honest answer reveal about where your security rests?</a:t>
            </a:r>
            <a:endParaRPr lang="en-US" sz="1300" dirty="0"/>
          </a:p>
        </p:txBody>
      </p:sp>
      <p:sp>
        <p:nvSpPr>
          <p:cNvPr id="9" name="Shape 6"/>
          <p:cNvSpPr/>
          <p:nvPr/>
        </p:nvSpPr>
        <p:spPr>
          <a:xfrm>
            <a:off x="868680" y="3081528"/>
            <a:ext cx="4983480" cy="1143000"/>
          </a:xfrm>
          <a:prstGeom prst="roundRect">
            <a:avLst>
              <a:gd name="adj" fmla="val 72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1051560" y="3246120"/>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2</a:t>
            </a:r>
            <a:endParaRPr lang="en-US" sz="2000" dirty="0"/>
          </a:p>
        </p:txBody>
      </p:sp>
      <p:sp>
        <p:nvSpPr>
          <p:cNvPr id="11" name="Text 8"/>
          <p:cNvSpPr/>
          <p:nvPr/>
        </p:nvSpPr>
        <p:spPr>
          <a:xfrm>
            <a:off x="1581912" y="3172968"/>
            <a:ext cx="4114800" cy="9601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How much of your identity is connected to your career performance, and what happens to you on the days when that performance falls short?</a:t>
            </a:r>
            <a:endParaRPr lang="en-US" sz="1300" dirty="0"/>
          </a:p>
        </p:txBody>
      </p:sp>
      <p:sp>
        <p:nvSpPr>
          <p:cNvPr id="12" name="Shape 9"/>
          <p:cNvSpPr/>
          <p:nvPr/>
        </p:nvSpPr>
        <p:spPr>
          <a:xfrm>
            <a:off x="868680" y="4425696"/>
            <a:ext cx="4983480" cy="1143000"/>
          </a:xfrm>
          <a:prstGeom prst="roundRect">
            <a:avLst>
              <a:gd name="adj" fmla="val 72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3" name="Text 10"/>
          <p:cNvSpPr/>
          <p:nvPr/>
        </p:nvSpPr>
        <p:spPr>
          <a:xfrm>
            <a:off x="1051560" y="4590288"/>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3</a:t>
            </a:r>
            <a:endParaRPr lang="en-US" sz="2000" dirty="0"/>
          </a:p>
        </p:txBody>
      </p:sp>
      <p:sp>
        <p:nvSpPr>
          <p:cNvPr id="14" name="Text 11"/>
          <p:cNvSpPr/>
          <p:nvPr/>
        </p:nvSpPr>
        <p:spPr>
          <a:xfrm>
            <a:off x="1581912" y="4517136"/>
            <a:ext cx="4114800" cy="9601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workplace temptations challenge your integrity most often, especially in the moments when no one would ever know?</a:t>
            </a:r>
            <a:endParaRPr lang="en-US" sz="1300" dirty="0"/>
          </a:p>
        </p:txBody>
      </p:sp>
      <p:sp>
        <p:nvSpPr>
          <p:cNvPr id="15" name="Shape 12"/>
          <p:cNvSpPr/>
          <p:nvPr/>
        </p:nvSpPr>
        <p:spPr>
          <a:xfrm>
            <a:off x="868680" y="5769864"/>
            <a:ext cx="4983480" cy="1143000"/>
          </a:xfrm>
          <a:prstGeom prst="roundRect">
            <a:avLst>
              <a:gd name="adj" fmla="val 72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6" name="Text 13"/>
          <p:cNvSpPr/>
          <p:nvPr/>
        </p:nvSpPr>
        <p:spPr>
          <a:xfrm>
            <a:off x="1051560" y="5934456"/>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4</a:t>
            </a:r>
            <a:endParaRPr lang="en-US" sz="2000" dirty="0"/>
          </a:p>
        </p:txBody>
      </p:sp>
      <p:sp>
        <p:nvSpPr>
          <p:cNvPr id="17" name="Text 14"/>
          <p:cNvSpPr/>
          <p:nvPr/>
        </p:nvSpPr>
        <p:spPr>
          <a:xfrm>
            <a:off x="1581912" y="5861304"/>
            <a:ext cx="4114800" cy="9601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How does your work serve others and glorify God, and where might that purpose have quietly faded from view?</a:t>
            </a:r>
            <a:endParaRPr lang="en-US" sz="1300" dirty="0"/>
          </a:p>
        </p:txBody>
      </p:sp>
      <p:sp>
        <p:nvSpPr>
          <p:cNvPr id="18" name="Shape 15"/>
          <p:cNvSpPr/>
          <p:nvPr/>
        </p:nvSpPr>
        <p:spPr>
          <a:xfrm>
            <a:off x="6355080" y="1737360"/>
            <a:ext cx="4983480" cy="1143000"/>
          </a:xfrm>
          <a:prstGeom prst="roundRect">
            <a:avLst>
              <a:gd name="adj" fmla="val 72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9" name="Text 16"/>
          <p:cNvSpPr/>
          <p:nvPr/>
        </p:nvSpPr>
        <p:spPr>
          <a:xfrm>
            <a:off x="6537960" y="1901952"/>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5</a:t>
            </a:r>
            <a:endParaRPr lang="en-US" sz="2000" dirty="0"/>
          </a:p>
        </p:txBody>
      </p:sp>
      <p:sp>
        <p:nvSpPr>
          <p:cNvPr id="20" name="Text 17"/>
          <p:cNvSpPr/>
          <p:nvPr/>
        </p:nvSpPr>
        <p:spPr>
          <a:xfrm>
            <a:off x="7068312" y="1828800"/>
            <a:ext cx="4114800" cy="9601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In what ways has technology increased the pressure in your professional life, and what has that pressure cost you?</a:t>
            </a:r>
            <a:endParaRPr lang="en-US" sz="1300" dirty="0"/>
          </a:p>
        </p:txBody>
      </p:sp>
      <p:sp>
        <p:nvSpPr>
          <p:cNvPr id="21" name="Shape 18"/>
          <p:cNvSpPr/>
          <p:nvPr/>
        </p:nvSpPr>
        <p:spPr>
          <a:xfrm>
            <a:off x="6355080" y="3081528"/>
            <a:ext cx="4983480" cy="1143000"/>
          </a:xfrm>
          <a:prstGeom prst="roundRect">
            <a:avLst>
              <a:gd name="adj" fmla="val 72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2" name="Text 19"/>
          <p:cNvSpPr/>
          <p:nvPr/>
        </p:nvSpPr>
        <p:spPr>
          <a:xfrm>
            <a:off x="6537960" y="3246120"/>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6</a:t>
            </a:r>
            <a:endParaRPr lang="en-US" sz="2000" dirty="0"/>
          </a:p>
        </p:txBody>
      </p:sp>
      <p:sp>
        <p:nvSpPr>
          <p:cNvPr id="23" name="Text 20"/>
          <p:cNvSpPr/>
          <p:nvPr/>
        </p:nvSpPr>
        <p:spPr>
          <a:xfrm>
            <a:off x="7068312" y="3172968"/>
            <a:ext cx="4114800" cy="9601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How can artificial intelligence be used responsibly in your work, in a way that enhances service rather than diminishing responsibility?</a:t>
            </a:r>
            <a:endParaRPr lang="en-US" sz="1300" dirty="0"/>
          </a:p>
        </p:txBody>
      </p:sp>
      <p:sp>
        <p:nvSpPr>
          <p:cNvPr id="24" name="Shape 21"/>
          <p:cNvSpPr/>
          <p:nvPr/>
        </p:nvSpPr>
        <p:spPr>
          <a:xfrm>
            <a:off x="6355080" y="4425696"/>
            <a:ext cx="4983480" cy="1143000"/>
          </a:xfrm>
          <a:prstGeom prst="roundRect">
            <a:avLst>
              <a:gd name="adj" fmla="val 72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5" name="Text 22"/>
          <p:cNvSpPr/>
          <p:nvPr/>
        </p:nvSpPr>
        <p:spPr>
          <a:xfrm>
            <a:off x="6537960" y="4590288"/>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7</a:t>
            </a:r>
            <a:endParaRPr lang="en-US" sz="2000" dirty="0"/>
          </a:p>
        </p:txBody>
      </p:sp>
      <p:sp>
        <p:nvSpPr>
          <p:cNvPr id="26" name="Text 23"/>
          <p:cNvSpPr/>
          <p:nvPr/>
        </p:nvSpPr>
        <p:spPr>
          <a:xfrm>
            <a:off x="7068312" y="4517136"/>
            <a:ext cx="4114800" cy="9601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would change, in your habits, your honesty, your peace, if you truly viewed Christ as your primary audience?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5486400" y="640080"/>
            <a:ext cx="1188720" cy="1188720"/>
          </a:xfrm>
          <a:prstGeom prst="ellipse">
            <a:avLst/>
          </a:prstGeom>
          <a:solidFill>
            <a:srgbClr val="8F3B30"/>
          </a:solidFill>
          <a:ln w="15875">
            <a:solidFill>
              <a:srgbClr val="C9A15A"/>
            </a:solidFill>
            <a:prstDash val="solid"/>
          </a:ln>
        </p:spPr>
      </p:sp>
      <p:pic>
        <p:nvPicPr>
          <p:cNvPr id="4" name="Image 0" descr="preencoded.png">    </p:cNvPr>
          <p:cNvPicPr>
            <a:picLocks noChangeAspect="1"/>
          </p:cNvPicPr>
          <p:nvPr/>
        </p:nvPicPr>
        <p:blipFill>
          <a:blip r:embed="rId1"/>
          <a:stretch>
            <a:fillRect/>
          </a:stretch>
        </p:blipFill>
        <p:spPr>
          <a:xfrm>
            <a:off x="5788152" y="941832"/>
            <a:ext cx="585216" cy="585216"/>
          </a:xfrm>
          <a:prstGeom prst="rect">
            <a:avLst/>
          </a:prstGeom>
        </p:spPr>
      </p:pic>
      <p:sp>
        <p:nvSpPr>
          <p:cNvPr id="5" name="Text 2"/>
          <p:cNvSpPr/>
          <p:nvPr/>
        </p:nvSpPr>
        <p:spPr>
          <a:xfrm>
            <a:off x="0" y="1965960"/>
            <a:ext cx="12161520" cy="457200"/>
          </a:xfrm>
          <a:prstGeom prst="rect">
            <a:avLst/>
          </a:prstGeom>
          <a:noFill/>
          <a:ln/>
        </p:spPr>
        <p:txBody>
          <a:bodyPr wrap="square" rtlCol="0" anchor="ctr"/>
          <a:lstStyle/>
          <a:p>
            <a:pPr algn="ctr" indent="0" marL="0">
              <a:buNone/>
            </a:pPr>
            <a:r>
              <a:rPr lang="en-US" sz="2600" b="1" spc="200" kern="0" dirty="0">
                <a:solidFill>
                  <a:srgbClr val="C9A15A"/>
                </a:solidFill>
                <a:latin typeface="Bookman Old Style" pitchFamily="34" charset="0"/>
                <a:ea typeface="Bookman Old Style" pitchFamily="34" charset="-122"/>
                <a:cs typeface="Bookman Old Style" pitchFamily="34" charset="-120"/>
              </a:rPr>
              <a:t>PRAYER</a:t>
            </a:r>
            <a:endParaRPr lang="en-US" sz="2600" dirty="0"/>
          </a:p>
        </p:txBody>
      </p:sp>
      <p:sp>
        <p:nvSpPr>
          <p:cNvPr id="6" name="Shape 3"/>
          <p:cNvSpPr/>
          <p:nvPr/>
        </p:nvSpPr>
        <p:spPr>
          <a:xfrm>
            <a:off x="1554480" y="2697480"/>
            <a:ext cx="9052560" cy="3566160"/>
          </a:xfrm>
          <a:prstGeom prst="roundRect">
            <a:avLst>
              <a:gd name="adj" fmla="val 3590"/>
            </a:avLst>
          </a:prstGeom>
          <a:solidFill>
            <a:srgbClr val="8F3B30"/>
          </a:solidFill>
          <a:ln/>
        </p:spPr>
      </p:sp>
      <p:sp>
        <p:nvSpPr>
          <p:cNvPr id="7" name="Text 4"/>
          <p:cNvSpPr/>
          <p:nvPr/>
        </p:nvSpPr>
        <p:spPr>
          <a:xfrm>
            <a:off x="2057400" y="2926080"/>
            <a:ext cx="8046720" cy="3108960"/>
          </a:xfrm>
          <a:prstGeom prst="rect">
            <a:avLst/>
          </a:prstGeom>
          <a:noFill/>
          <a:ln/>
        </p:spPr>
        <p:txBody>
          <a:bodyPr wrap="square" rtlCol="0" anchor="ctr"/>
          <a:lstStyle/>
          <a:p>
            <a:pPr algn="ctr" indent="0" marL="0">
              <a:lnSpc>
                <a:spcPct val="112000"/>
              </a:lnSpc>
              <a:buNone/>
            </a:pPr>
            <a:r>
              <a:rPr lang="en-US" sz="2100" i="1" dirty="0">
                <a:solidFill>
                  <a:srgbClr val="FBF7F0"/>
                </a:solidFill>
                <a:latin typeface="Bookman Old Style" pitchFamily="34" charset="0"/>
                <a:ea typeface="Bookman Old Style" pitchFamily="34" charset="-122"/>
                <a:cs typeface="Bookman Old Style" pitchFamily="34" charset="-120"/>
              </a:rPr>
              <a:t>""</a:t>
            </a:r>
            <a:endParaRPr lang="en-US" sz="2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Action Challenge</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One step to carry into the week</a:t>
            </a:r>
            <a:endParaRPr lang="en-US" sz="1500" dirty="0"/>
          </a:p>
        </p:txBody>
      </p:sp>
      <p:sp>
        <p:nvSpPr>
          <p:cNvPr id="6" name="Shape 3"/>
          <p:cNvSpPr/>
          <p:nvPr/>
        </p:nvSpPr>
        <p:spPr>
          <a:xfrm>
            <a:off x="868680" y="1920240"/>
            <a:ext cx="10424160" cy="3566160"/>
          </a:xfrm>
          <a:prstGeom prst="roundRect">
            <a:avLst>
              <a:gd name="adj" fmla="val 359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Shape 4"/>
          <p:cNvSpPr/>
          <p:nvPr/>
        </p:nvSpPr>
        <p:spPr>
          <a:xfrm>
            <a:off x="1371600" y="2514600"/>
            <a:ext cx="1371600" cy="1371600"/>
          </a:xfrm>
          <a:prstGeom prst="ellipse">
            <a:avLst/>
          </a:prstGeom>
          <a:solidFill>
            <a:srgbClr val="6B7A5E"/>
          </a:solidFill>
          <a:ln/>
          <a:effectLst>
            <a:outerShdw sx="100000" sy="100000" kx="0" ky="0" algn="bl" rotWithShape="0" blurRad="114300" dist="38100" dir="5400000">
              <a:srgbClr val="000000">
                <a:alpha val="12000"/>
              </a:srgbClr>
            </a:outerShdw>
          </a:effectLst>
        </p:spPr>
      </p:sp>
      <p:pic>
        <p:nvPicPr>
          <p:cNvPr id="8" name="Image 1" descr="preencoded.png">    </p:cNvPr>
          <p:cNvPicPr>
            <a:picLocks noChangeAspect="1"/>
          </p:cNvPicPr>
          <p:nvPr/>
        </p:nvPicPr>
        <p:blipFill>
          <a:blip r:embed="rId2"/>
          <a:stretch>
            <a:fillRect/>
          </a:stretch>
        </p:blipFill>
        <p:spPr>
          <a:xfrm>
            <a:off x="1737360" y="2880360"/>
            <a:ext cx="640080" cy="640080"/>
          </a:xfrm>
          <a:prstGeom prst="rect">
            <a:avLst/>
          </a:prstGeom>
        </p:spPr>
      </p:pic>
      <p:sp>
        <p:nvSpPr>
          <p:cNvPr id="9" name="Text 5"/>
          <p:cNvSpPr/>
          <p:nvPr/>
        </p:nvSpPr>
        <p:spPr>
          <a:xfrm>
            <a:off x="3108960" y="2286000"/>
            <a:ext cx="7772400" cy="2834640"/>
          </a:xfrm>
          <a:prstGeom prst="rect">
            <a:avLst/>
          </a:prstGeom>
          <a:noFill/>
          <a:ln/>
        </p:spPr>
        <p:txBody>
          <a:bodyPr wrap="square" rtlCol="0" anchor="ctr"/>
          <a:lstStyle/>
          <a:p>
            <a:pPr indent="0" marL="0">
              <a:lnSpc>
                <a:spcPct val="112000"/>
              </a:lnSpc>
              <a:buNone/>
            </a:pPr>
            <a:r>
              <a:rPr lang="en-US" sz="1800" dirty="0">
                <a:solidFill>
                  <a:srgbClr val="3A342E"/>
                </a:solidFill>
                <a:latin typeface="Calibri" pitchFamily="34" charset="0"/>
                <a:ea typeface="Calibri" pitchFamily="34" charset="-122"/>
                <a:cs typeface="Calibri" pitchFamily="34" charset="-120"/>
              </a:rPr>
              <a:t>This week, carry out a personal "Workplace Stewardship Assessment." Treat it not as a performance review but as an honest spiritual inventory of how you have been working and for whom. Begin by sitting quietly with a few searching questions: Am I working for recognition or for faithfulness, and how would I know the difference? Where am I most tempted to compromise my integrity, even in small and invisible ways? How am I using technology, including AI, to genuinely serve others rather than merely to serve myself? What boundaries would help protect me from burnout and restore a healthy rhythm of work and rest? How can I more clearly represent Christ to the people I work alongside? Then move from reflection to action. Prayerfully choose one specific, concrete step you will take this week: Have an honest conversation you have been avoiding. Correct an ethical shortcut before it becomes a habit. Establish a healthier work boundary and actually keep it. Use AI more transparently, giving honest credit for the help you receive. Encourage a coworker who needs it more than you realize. At the end of the week, take a moment to write the following sentence in your journal, completing it with a specific example of faithfulness from the days just past: "This week I worked for an audience of One by..."</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4E5B44"/>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4E5B44"/>
          </a:solidFill>
          <a:ln/>
        </p:spPr>
      </p:sp>
      <p:pic>
        <p:nvPicPr>
          <p:cNvPr id="3" name="Image 0" descr="preencoded.png">    </p:cNvPr>
          <p:cNvPicPr>
            <a:picLocks noChangeAspect="1"/>
          </p:cNvPicPr>
          <p:nvPr/>
        </p:nvPicPr>
        <p:blipFill>
          <a:blip r:embed="rId1"/>
          <a:stretch>
            <a:fillRect/>
          </a:stretch>
        </p:blipFill>
        <p:spPr>
          <a:xfrm>
            <a:off x="5440680" y="1737360"/>
            <a:ext cx="1280160" cy="1280160"/>
          </a:xfrm>
          <a:prstGeom prst="rect">
            <a:avLst/>
          </a:prstGeom>
        </p:spPr>
      </p:pic>
      <p:sp>
        <p:nvSpPr>
          <p:cNvPr id="4" name="Text 1"/>
          <p:cNvSpPr/>
          <p:nvPr/>
        </p:nvSpPr>
        <p:spPr>
          <a:xfrm>
            <a:off x="0" y="3246120"/>
            <a:ext cx="12161520" cy="457200"/>
          </a:xfrm>
          <a:prstGeom prst="rect">
            <a:avLst/>
          </a:prstGeom>
          <a:noFill/>
          <a:ln/>
        </p:spPr>
        <p:txBody>
          <a:bodyPr wrap="square" rtlCol="0" anchor="ctr"/>
          <a:lstStyle/>
          <a:p>
            <a:pPr algn="ctr" indent="0" marL="0">
              <a:buNone/>
            </a:pPr>
            <a:r>
              <a:rPr lang="en-US" sz="1600" b="1" spc="200" kern="0" dirty="0">
                <a:solidFill>
                  <a:srgbClr val="C9A15A"/>
                </a:solidFill>
                <a:latin typeface="Calibri" pitchFamily="34" charset="0"/>
                <a:ea typeface="Calibri" pitchFamily="34" charset="-122"/>
                <a:cs typeface="Calibri" pitchFamily="34" charset="-120"/>
              </a:rPr>
              <a:t>Chapter 9</a:t>
            </a:r>
            <a:endParaRPr lang="en-US" sz="1600" dirty="0"/>
          </a:p>
        </p:txBody>
      </p:sp>
      <p:sp>
        <p:nvSpPr>
          <p:cNvPr id="5" name="Text 2"/>
          <p:cNvSpPr/>
          <p:nvPr/>
        </p:nvSpPr>
        <p:spPr>
          <a:xfrm>
            <a:off x="914400" y="3657600"/>
            <a:ext cx="10332720" cy="1005840"/>
          </a:xfrm>
          <a:prstGeom prst="rect">
            <a:avLst/>
          </a:prstGeom>
          <a:noFill/>
          <a:ln/>
        </p:spPr>
        <p:txBody>
          <a:bodyPr wrap="square" rtlCol="0" anchor="t"/>
          <a:lstStyle/>
          <a:p>
            <a:pPr algn="ctr" indent="0" marL="0">
              <a:lnSpc>
                <a:spcPct val="98000"/>
              </a:lnSpc>
              <a:buNone/>
            </a:pPr>
            <a:r>
              <a:rPr lang="en-US" sz="4000" b="1" dirty="0">
                <a:solidFill>
                  <a:srgbClr val="FBF7F0"/>
                </a:solidFill>
                <a:latin typeface="Bookman Old Style" pitchFamily="34" charset="0"/>
                <a:ea typeface="Bookman Old Style" pitchFamily="34" charset="-122"/>
                <a:cs typeface="Bookman Old Style" pitchFamily="34" charset="-120"/>
              </a:rPr>
              <a:t>Working for an Audience of One</a:t>
            </a:r>
            <a:endParaRPr lang="en-US" sz="4000" dirty="0"/>
          </a:p>
        </p:txBody>
      </p:sp>
      <p:sp>
        <p:nvSpPr>
          <p:cNvPr id="6" name="Text 3"/>
          <p:cNvSpPr/>
          <p:nvPr/>
        </p:nvSpPr>
        <p:spPr>
          <a:xfrm>
            <a:off x="1371600" y="4892040"/>
            <a:ext cx="9418320" cy="822960"/>
          </a:xfrm>
          <a:prstGeom prst="rect">
            <a:avLst/>
          </a:prstGeom>
          <a:noFill/>
          <a:ln/>
        </p:spPr>
        <p:txBody>
          <a:bodyPr wrap="square" rtlCol="0" anchor="ctr"/>
          <a:lstStyle/>
          <a:p>
            <a:pPr algn="ctr" indent="0" marL="0">
              <a:buNone/>
            </a:pPr>
            <a:r>
              <a:rPr lang="en-US" sz="1800" i="1" dirty="0">
                <a:solidFill>
                  <a:srgbClr val="E7E8D1"/>
                </a:solidFill>
                <a:latin typeface="Bookman Old Style" pitchFamily="34" charset="0"/>
                <a:ea typeface="Bookman Old Style" pitchFamily="34" charset="-122"/>
                <a:cs typeface="Bookman Old Style" pitchFamily="34" charset="-120"/>
              </a:rPr>
              <a:t>Technology will keep changing.  The wisdom to navigate it faithfully will not.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Divine Design for the Digital Age — Chapter 9</dc:title>
  <dc:subject>PptxGenJS Presentation</dc:subject>
  <dc:creator>Rod Trent</dc:creator>
  <cp:lastModifiedBy>Rod Trent</cp:lastModifiedBy>
  <cp:revision>1</cp:revision>
  <dcterms:created xsi:type="dcterms:W3CDTF">2026-07-03T18:17:19Z</dcterms:created>
  <dcterms:modified xsi:type="dcterms:W3CDTF">2026-07-03T18:17:19Z</dcterms:modified>
</cp:coreProperties>
</file>